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5" r:id="rId3"/>
    <p:sldId id="259" r:id="rId4"/>
    <p:sldId id="276" r:id="rId5"/>
    <p:sldId id="262" r:id="rId6"/>
    <p:sldId id="263" r:id="rId7"/>
    <p:sldId id="282" r:id="rId8"/>
    <p:sldId id="278" r:id="rId9"/>
    <p:sldId id="279" r:id="rId10"/>
    <p:sldId id="265" r:id="rId11"/>
    <p:sldId id="285" r:id="rId12"/>
    <p:sldId id="267" r:id="rId13"/>
    <p:sldId id="280" r:id="rId14"/>
    <p:sldId id="283" r:id="rId15"/>
    <p:sldId id="268" r:id="rId16"/>
    <p:sldId id="270" r:id="rId17"/>
    <p:sldId id="284" r:id="rId18"/>
    <p:sldId id="271" r:id="rId19"/>
    <p:sldId id="27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81918"/>
  </p:normalViewPr>
  <p:slideViewPr>
    <p:cSldViewPr snapToGrid="0" snapToObjects="1">
      <p:cViewPr varScale="1">
        <p:scale>
          <a:sx n="103" d="100"/>
          <a:sy n="103" d="100"/>
        </p:scale>
        <p:origin x="23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105E38-4E26-D543-BF6B-08F2D43BF39D}" type="datetimeFigureOut">
              <a:rPr lang="en-US" smtClean="0"/>
              <a:t>8/13/26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5CADE4-FBC4-1B4B-9ED1-46B7A4825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749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CADE4-FBC4-1B4B-9ED1-46B7A482501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0795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CADE4-FBC4-1B4B-9ED1-46B7A482501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114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794760"/>
          </a:xfrm>
          <a:prstGeom prst="rect">
            <a:avLst/>
          </a:prstGeom>
          <a:solidFill>
            <a:srgbClr val="002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11057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8FB4E8"/>
                </a:solidFill>
                <a:latin typeface="Arial"/>
              </a:rPr>
              <a:t>ENGR90037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57839" cy="85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lang="en-AU" sz="5200" b="1" i="0" dirty="0">
                <a:solidFill>
                  <a:srgbClr val="FFFFFF"/>
                </a:solidFill>
                <a:latin typeface="Arial"/>
              </a:rPr>
              <a:t>Scheduling and Cost</a:t>
            </a:r>
            <a:endParaRPr sz="52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2487168"/>
            <a:ext cx="1105783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AU" sz="3000" b="1" dirty="0">
                <a:solidFill>
                  <a:srgbClr val="8FB4E8"/>
                </a:solidFill>
                <a:latin typeface="Arial"/>
              </a:rPr>
              <a:t>Week 3</a:t>
            </a:r>
          </a:p>
          <a:p>
            <a:pPr algn="l">
              <a:lnSpc>
                <a:spcPct val="100000"/>
              </a:lnSpc>
            </a:pPr>
            <a:r>
              <a:rPr lang="en-AU" sz="3000" b="1" i="0" dirty="0">
                <a:solidFill>
                  <a:srgbClr val="8FB4E8"/>
                </a:solidFill>
                <a:latin typeface="Arial"/>
              </a:rPr>
              <a:t>Lecture 3</a:t>
            </a:r>
            <a:r>
              <a:rPr sz="3000" b="1" i="0" dirty="0">
                <a:solidFill>
                  <a:srgbClr val="8FB4E8"/>
                </a:solidFill>
                <a:latin typeface="Arial"/>
              </a:rPr>
              <a:t> — Estimation, Dependencies and the Gantt Chart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B25F22-45D7-9B73-ED54-30D642FAD415}"/>
              </a:ext>
            </a:extLst>
          </p:cNvPr>
          <p:cNvSpPr txBox="1"/>
          <p:nvPr/>
        </p:nvSpPr>
        <p:spPr>
          <a:xfrm>
            <a:off x="566927" y="6075438"/>
            <a:ext cx="110578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AU" sz="1600" b="1" dirty="0">
                <a:solidFill>
                  <a:schemeClr val="tx2"/>
                </a:solidFill>
                <a:latin typeface="Arial"/>
              </a:rPr>
              <a:t>Yimin &amp; Bagus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lang="en-AU" sz="3000" b="1" i="0" dirty="0">
                <a:solidFill>
                  <a:srgbClr val="002464"/>
                </a:solidFill>
                <a:latin typeface="Arial"/>
              </a:rPr>
              <a:t>Learning Objectives</a:t>
            </a:r>
            <a:endParaRPr sz="3000" b="1" i="0" dirty="0">
              <a:solidFill>
                <a:srgbClr val="002464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 3: Scheduling and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6432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>
                <a:solidFill>
                  <a:srgbClr val="8A93A6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886200"/>
            <a:ext cx="11057839" cy="992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Last week: </a:t>
            </a:r>
            <a:r>
              <a:rPr lang="en-AU" sz="1900" b="1" dirty="0">
                <a:solidFill>
                  <a:srgbClr val="0066CC"/>
                </a:solidFill>
                <a:latin typeface="Arial"/>
              </a:rPr>
              <a:t>WBS</a:t>
            </a:r>
            <a:r>
              <a:rPr lang="en-AU" sz="1900" dirty="0">
                <a:solidFill>
                  <a:srgbClr val="292934"/>
                </a:solidFill>
                <a:latin typeface="Arial"/>
              </a:rPr>
              <a:t>, </a:t>
            </a:r>
            <a:r>
              <a:rPr lang="en-AU" sz="1900" b="1" dirty="0">
                <a:solidFill>
                  <a:srgbClr val="0066CC"/>
                </a:solidFill>
                <a:latin typeface="Arial"/>
              </a:rPr>
              <a:t>Stakeholders</a:t>
            </a:r>
            <a:r>
              <a:rPr lang="en-AU" sz="1900" dirty="0">
                <a:solidFill>
                  <a:srgbClr val="292934"/>
                </a:solidFill>
                <a:latin typeface="Arial"/>
              </a:rPr>
              <a:t> and </a:t>
            </a:r>
            <a:r>
              <a:rPr lang="en-AU" sz="1900" b="1" dirty="0">
                <a:solidFill>
                  <a:srgbClr val="0066CC"/>
                </a:solidFill>
                <a:latin typeface="Arial"/>
              </a:rPr>
              <a:t>Milestones</a:t>
            </a:r>
            <a:r>
              <a:rPr lang="en-AU" sz="1900" dirty="0">
                <a:solidFill>
                  <a:srgbClr val="292934"/>
                </a:solidFill>
                <a:latin typeface="Arial"/>
              </a:rPr>
              <a:t> in your Charter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This week: </a:t>
            </a:r>
            <a:r>
              <a:rPr lang="en-AU" sz="1900" dirty="0">
                <a:solidFill>
                  <a:srgbClr val="292934"/>
                </a:solidFill>
                <a:latin typeface="Arial"/>
              </a:rPr>
              <a:t>estimating, dependencies and critical path. Develop your </a:t>
            </a:r>
            <a:r>
              <a:rPr lang="en-AU" sz="1900" b="1" dirty="0">
                <a:solidFill>
                  <a:srgbClr val="0066CC"/>
                </a:solidFill>
                <a:latin typeface="Arial"/>
              </a:rPr>
              <a:t>Gantt chart</a:t>
            </a:r>
            <a:endParaRPr sz="1900" b="0" dirty="0">
              <a:solidFill>
                <a:srgbClr val="292934"/>
              </a:solidFill>
              <a:latin typeface="Arial"/>
            </a:endParaRPr>
          </a:p>
        </p:txBody>
      </p:sp>
      <p:pic>
        <p:nvPicPr>
          <p:cNvPr id="10" name="Picture 9" descr="fig-charter-map-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993" y="1426464"/>
            <a:ext cx="6769708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002464"/>
                </a:solidFill>
                <a:latin typeface="Arial"/>
              </a:rPr>
              <a:t>Effort, duration and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05840"/>
            <a:ext cx="11057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AU" sz="1500" b="1" i="1" dirty="0">
                <a:solidFill>
                  <a:srgbClr val="0066CC"/>
                </a:solidFill>
                <a:latin typeface="Arial"/>
              </a:rPr>
              <a:t>Vocabulary</a:t>
            </a:r>
            <a:endParaRPr sz="1500" b="1" i="1" dirty="0">
              <a:solidFill>
                <a:srgbClr val="0066CC"/>
              </a:solidFill>
              <a:latin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 3: Scheduling and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432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>
                <a:solidFill>
                  <a:srgbClr val="8A93A6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64208"/>
            <a:ext cx="11057839" cy="4835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800" b="1" dirty="0">
                <a:solidFill>
                  <a:srgbClr val="0066CC"/>
                </a:solidFill>
                <a:latin typeface="Arial"/>
              </a:rPr>
              <a:t>Effort</a:t>
            </a:r>
            <a:r>
              <a:rPr sz="2800" b="0" dirty="0">
                <a:solidFill>
                  <a:srgbClr val="292934"/>
                </a:solidFill>
                <a:latin typeface="Arial"/>
              </a:rPr>
              <a:t> </a:t>
            </a:r>
            <a:endParaRPr lang="en-AU" sz="2800" b="0" dirty="0">
              <a:solidFill>
                <a:srgbClr val="292934"/>
              </a:solidFill>
              <a:latin typeface="Arial"/>
            </a:endParaRPr>
          </a:p>
          <a:p>
            <a:r>
              <a:rPr lang="en-AU" sz="2400" dirty="0">
                <a:solidFill>
                  <a:srgbClr val="292934"/>
                </a:solidFill>
                <a:latin typeface="Arial"/>
              </a:rPr>
              <a:t>		</a:t>
            </a:r>
            <a:r>
              <a:rPr lang="en-AU" sz="2400" dirty="0"/>
              <a:t>• Also referred to as “Staff Days” or “Staff Weeks”</a:t>
            </a:r>
          </a:p>
          <a:p>
            <a:r>
              <a:rPr lang="en-AU" sz="2400" dirty="0"/>
              <a:t>		• The number of labour units required to complete a schedule activity.</a:t>
            </a:r>
          </a:p>
          <a:p>
            <a:r>
              <a:rPr lang="en-AU" sz="2400" dirty="0"/>
              <a:t>		• Often expressed in hours, days, or weeks</a:t>
            </a:r>
          </a:p>
          <a:p>
            <a:endParaRPr lang="en-AU" dirty="0"/>
          </a:p>
          <a:p>
            <a:pPr>
              <a:lnSpc>
                <a:spcPct val="115000"/>
              </a:lnSpc>
            </a:pPr>
            <a:r>
              <a:rPr sz="28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800" b="1" dirty="0">
                <a:solidFill>
                  <a:srgbClr val="0066CC"/>
                </a:solidFill>
                <a:latin typeface="Arial"/>
              </a:rPr>
              <a:t>Duration</a:t>
            </a:r>
            <a:r>
              <a:rPr sz="2800" b="0" dirty="0">
                <a:solidFill>
                  <a:srgbClr val="292934"/>
                </a:solidFill>
                <a:latin typeface="Arial"/>
              </a:rPr>
              <a:t> </a:t>
            </a:r>
            <a:endParaRPr lang="en-AU" sz="2800" b="0" dirty="0">
              <a:solidFill>
                <a:srgbClr val="292934"/>
              </a:solidFill>
              <a:latin typeface="Arial"/>
            </a:endParaRPr>
          </a:p>
          <a:p>
            <a:r>
              <a:rPr lang="en-AU" sz="2400" dirty="0">
                <a:solidFill>
                  <a:srgbClr val="292934"/>
                </a:solidFill>
                <a:latin typeface="Arial"/>
              </a:rPr>
              <a:t>		</a:t>
            </a:r>
            <a:r>
              <a:rPr lang="en-AU" sz="2400" dirty="0"/>
              <a:t>• The total number of work periods required to complete an activity</a:t>
            </a:r>
          </a:p>
          <a:p>
            <a:r>
              <a:rPr lang="en-AU" sz="2400" dirty="0"/>
              <a:t>		• Expressed in hours, days, or weeks </a:t>
            </a:r>
          </a:p>
          <a:p>
            <a:endParaRPr lang="en-AU" sz="1900" dirty="0">
              <a:solidFill>
                <a:srgbClr val="292934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sz="28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800" b="1" dirty="0">
                <a:solidFill>
                  <a:srgbClr val="0066CC"/>
                </a:solidFill>
                <a:latin typeface="Arial"/>
              </a:rPr>
              <a:t>Cost</a:t>
            </a:r>
            <a:r>
              <a:rPr sz="2800" b="0" dirty="0">
                <a:solidFill>
                  <a:srgbClr val="292934"/>
                </a:solidFill>
                <a:latin typeface="Arial"/>
              </a:rPr>
              <a:t> </a:t>
            </a:r>
            <a:endParaRPr lang="en-AU" sz="2800" dirty="0">
              <a:solidFill>
                <a:srgbClr val="292934"/>
              </a:solidFill>
              <a:latin typeface="Arial"/>
            </a:endParaRPr>
          </a:p>
          <a:p>
            <a:r>
              <a:rPr lang="en-AU" dirty="0"/>
              <a:t>		</a:t>
            </a:r>
            <a:r>
              <a:rPr lang="en-AU" sz="2400" dirty="0"/>
              <a:t>• Cost is calculated from the hourly charge-out rate of people multiplied by duration, plus direct expenses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F9B61-0486-6E73-DDFC-854E2291D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58551E-EB3C-FD8C-7898-890A11EAA772}"/>
              </a:ext>
            </a:extLst>
          </p:cNvPr>
          <p:cNvSpPr txBox="1"/>
          <p:nvPr/>
        </p:nvSpPr>
        <p:spPr>
          <a:xfrm>
            <a:off x="566928" y="310896"/>
            <a:ext cx="1105783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 dirty="0">
                <a:solidFill>
                  <a:srgbClr val="002464"/>
                </a:solidFill>
                <a:latin typeface="Arial"/>
              </a:rPr>
              <a:t>Estimating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0733E2-FE04-6C08-ABD5-A2518299E579}"/>
              </a:ext>
            </a:extLst>
          </p:cNvPr>
          <p:cNvSpPr/>
          <p:nvPr/>
        </p:nvSpPr>
        <p:spPr>
          <a:xfrm>
            <a:off x="566928" y="1152144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9CAFE3-B092-4F92-4F52-789BA506322C}"/>
              </a:ext>
            </a:extLst>
          </p:cNvPr>
          <p:cNvSpPr txBox="1"/>
          <p:nvPr/>
        </p:nvSpPr>
        <p:spPr>
          <a:xfrm>
            <a:off x="566928" y="6382512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 3: Scheduling and Cost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AEF5C5-C267-BCBC-6221-F1634F2C235F}"/>
              </a:ext>
            </a:extLst>
          </p:cNvPr>
          <p:cNvSpPr txBox="1"/>
          <p:nvPr/>
        </p:nvSpPr>
        <p:spPr>
          <a:xfrm>
            <a:off x="11076432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>
                <a:solidFill>
                  <a:srgbClr val="8A93A6"/>
                </a:solidFill>
                <a:latin typeface="Arial"/>
              </a:rPr>
              <a:t>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4B39B4-CD3B-0A10-505B-ED18EE7B5B1C}"/>
              </a:ext>
            </a:extLst>
          </p:cNvPr>
          <p:cNvSpPr txBox="1"/>
          <p:nvPr/>
        </p:nvSpPr>
        <p:spPr>
          <a:xfrm>
            <a:off x="566928" y="1426464"/>
            <a:ext cx="11057839" cy="4576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900" b="1" dirty="0">
                <a:solidFill>
                  <a:srgbClr val="0066CC"/>
                </a:solidFill>
                <a:latin typeface="Arial"/>
              </a:rPr>
              <a:t>Definition </a:t>
            </a:r>
            <a:r>
              <a:rPr lang="en-AU" sz="1900" b="0" dirty="0">
                <a:solidFill>
                  <a:srgbClr val="0066CC"/>
                </a:solidFill>
                <a:latin typeface="Arial"/>
              </a:rPr>
              <a:t>— </a:t>
            </a:r>
            <a:r>
              <a:rPr lang="en-AU" sz="1900" dirty="0">
                <a:latin typeface="Arial"/>
              </a:rPr>
              <a:t>A quantitative assessment of the likely amount or outcome of a variable, such as project costs, resources, effort, or durations. (PMBOK 2025.)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endParaRPr lang="en-AU" sz="1900" b="0" dirty="0">
              <a:solidFill>
                <a:srgbClr val="292934"/>
              </a:solidFill>
              <a:latin typeface="Arial"/>
            </a:endParaRP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lang="en-AU" sz="1900" b="0" dirty="0">
                <a:solidFill>
                  <a:srgbClr val="292934"/>
                </a:solidFill>
                <a:latin typeface="Arial"/>
              </a:rPr>
              <a:t>There are many different </a:t>
            </a:r>
            <a:r>
              <a:rPr lang="en-AU" sz="1900" b="1" dirty="0">
                <a:solidFill>
                  <a:srgbClr val="0066CC"/>
                </a:solidFill>
                <a:latin typeface="Arial"/>
              </a:rPr>
              <a:t>estimating methods</a:t>
            </a:r>
            <a:r>
              <a:rPr lang="en-AU" sz="1900" b="0" dirty="0">
                <a:solidFill>
                  <a:srgbClr val="292934"/>
                </a:solidFill>
                <a:latin typeface="Arial"/>
              </a:rPr>
              <a:t>:</a:t>
            </a:r>
          </a:p>
          <a:p>
            <a:r>
              <a:rPr lang="en-AU" sz="1900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sz="1900" b="1" dirty="0">
                <a:solidFill>
                  <a:srgbClr val="0066CC"/>
                </a:solidFill>
                <a:latin typeface="Arial"/>
              </a:rPr>
              <a:t>Top-down estimating: </a:t>
            </a:r>
            <a:r>
              <a:rPr lang="en-AU" sz="1900" dirty="0">
                <a:latin typeface="Arial"/>
              </a:rPr>
              <a:t>the starting point is when the project must finish, and that total is allocated down to tasks</a:t>
            </a:r>
          </a:p>
          <a:p>
            <a:endParaRPr lang="en-AU" sz="1900" b="1" dirty="0">
              <a:solidFill>
                <a:srgbClr val="0066CC"/>
              </a:solidFill>
              <a:latin typeface="Arial"/>
            </a:endParaRPr>
          </a:p>
          <a:p>
            <a:r>
              <a:rPr lang="en-AU" sz="1900" b="1" dirty="0">
                <a:solidFill>
                  <a:srgbClr val="0066CC"/>
                </a:solidFill>
                <a:latin typeface="Arial"/>
              </a:rPr>
              <a:t>	</a:t>
            </a:r>
            <a:r>
              <a:rPr lang="en-AU" sz="1900" dirty="0">
                <a:solidFill>
                  <a:srgbClr val="0066CC"/>
                </a:solidFill>
                <a:latin typeface="Arial"/>
              </a:rPr>
              <a:t>Expert judgment</a:t>
            </a:r>
            <a:r>
              <a:rPr lang="en-AU" sz="1900" dirty="0">
                <a:latin typeface="Arial"/>
              </a:rPr>
              <a:t>: Expert judgment is judgment provided based upon expertise in an application area, discipline, industry, etc., as appropriate for the activity being performed.</a:t>
            </a:r>
          </a:p>
          <a:p>
            <a:r>
              <a:rPr lang="en-AU" sz="1900" b="1" dirty="0">
                <a:solidFill>
                  <a:srgbClr val="0066CC"/>
                </a:solidFill>
                <a:latin typeface="Arial"/>
              </a:rPr>
              <a:t>	</a:t>
            </a:r>
            <a:r>
              <a:rPr lang="en-AU" sz="1900" dirty="0">
                <a:solidFill>
                  <a:srgbClr val="0066CC"/>
                </a:solidFill>
                <a:latin typeface="Arial"/>
              </a:rPr>
              <a:t>Analogous estimating</a:t>
            </a:r>
            <a:r>
              <a:rPr lang="en-AU" sz="1900" dirty="0">
                <a:latin typeface="Arial"/>
              </a:rPr>
              <a:t>: based on historical data. Actual cost and time of a similar previous project</a:t>
            </a:r>
          </a:p>
          <a:p>
            <a:endParaRPr lang="en-AU" dirty="0"/>
          </a:p>
          <a:p>
            <a:endParaRPr lang="en-AU" dirty="0"/>
          </a:p>
          <a:p>
            <a:r>
              <a:rPr lang="en-AU" sz="1900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sz="1900" b="1" dirty="0">
                <a:solidFill>
                  <a:srgbClr val="0066CC"/>
                </a:solidFill>
                <a:latin typeface="Arial"/>
              </a:rPr>
              <a:t>Bottom-up estimating: </a:t>
            </a:r>
            <a:r>
              <a:rPr lang="en-AU" sz="1900" dirty="0">
                <a:latin typeface="Arial"/>
              </a:rPr>
              <a:t>estimate by aggregating the estimates of the lower-level components</a:t>
            </a:r>
          </a:p>
          <a:p>
            <a:r>
              <a:rPr lang="en-AU" sz="1900" dirty="0">
                <a:latin typeface="Arial"/>
              </a:rPr>
              <a:t>of the work breakdown structure (WBS).</a:t>
            </a:r>
          </a:p>
        </p:txBody>
      </p:sp>
    </p:spTree>
    <p:extLst>
      <p:ext uri="{BB962C8B-B14F-4D97-AF65-F5344CB8AC3E}">
        <p14:creationId xmlns:p14="http://schemas.microsoft.com/office/powerpoint/2010/main" val="3654681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 dirty="0">
                <a:solidFill>
                  <a:srgbClr val="002464"/>
                </a:solidFill>
                <a:latin typeface="Arial"/>
              </a:rPr>
              <a:t>§3  Cost — the </a:t>
            </a:r>
            <a:r>
              <a:rPr lang="en-AU" sz="3000" b="1" i="0" dirty="0">
                <a:solidFill>
                  <a:srgbClr val="002464"/>
                </a:solidFill>
                <a:latin typeface="Arial"/>
              </a:rPr>
              <a:t>budget</a:t>
            </a:r>
            <a:r>
              <a:rPr sz="3000" b="1" i="0" dirty="0">
                <a:solidFill>
                  <a:srgbClr val="002464"/>
                </a:solidFill>
                <a:latin typeface="Arial"/>
              </a:rPr>
              <a:t> estimate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05840"/>
            <a:ext cx="11057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1" dirty="0">
                <a:solidFill>
                  <a:srgbClr val="0066CC"/>
                </a:solidFill>
                <a:latin typeface="Arial"/>
              </a:rPr>
              <a:t>Charter §3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 3: Scheduling and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432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>
                <a:solidFill>
                  <a:srgbClr val="8A93A6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64208"/>
            <a:ext cx="11057839" cy="293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lang="en-AU" sz="2400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sz="2400" dirty="0">
                <a:solidFill>
                  <a:srgbClr val="292934"/>
                </a:solidFill>
                <a:latin typeface="Arial"/>
              </a:rPr>
              <a:t>Forecast </a:t>
            </a:r>
            <a:r>
              <a:rPr lang="en-AU" sz="2400" b="1" dirty="0">
                <a:solidFill>
                  <a:srgbClr val="0066CC"/>
                </a:solidFill>
                <a:latin typeface="Arial"/>
              </a:rPr>
              <a:t>what resources </a:t>
            </a:r>
            <a:r>
              <a:rPr lang="en-AU" sz="2400" dirty="0">
                <a:solidFill>
                  <a:srgbClr val="292934"/>
                </a:solidFill>
                <a:latin typeface="Arial"/>
              </a:rPr>
              <a:t>the project will require, </a:t>
            </a:r>
            <a:r>
              <a:rPr lang="en-AU" sz="2400" b="1" dirty="0">
                <a:solidFill>
                  <a:srgbClr val="0066CC"/>
                </a:solidFill>
                <a:latin typeface="Arial"/>
              </a:rPr>
              <a:t>what quantities </a:t>
            </a:r>
            <a:r>
              <a:rPr lang="en-AU" sz="2400" dirty="0">
                <a:solidFill>
                  <a:srgbClr val="292934"/>
                </a:solidFill>
                <a:latin typeface="Arial"/>
              </a:rPr>
              <a:t>of each will be needed, </a:t>
            </a:r>
            <a:r>
              <a:rPr lang="en-AU" sz="2400" b="1" dirty="0">
                <a:solidFill>
                  <a:srgbClr val="0066CC"/>
                </a:solidFill>
                <a:latin typeface="Arial"/>
              </a:rPr>
              <a:t>when</a:t>
            </a:r>
            <a:r>
              <a:rPr lang="en-AU" sz="2400" dirty="0">
                <a:solidFill>
                  <a:srgbClr val="292934"/>
                </a:solidFill>
                <a:latin typeface="Arial"/>
              </a:rPr>
              <a:t> they will be needed, and </a:t>
            </a:r>
            <a:r>
              <a:rPr lang="en-AU" sz="2400" b="1" dirty="0">
                <a:solidFill>
                  <a:srgbClr val="0066CC"/>
                </a:solidFill>
                <a:latin typeface="Arial"/>
              </a:rPr>
              <a:t>how much </a:t>
            </a:r>
            <a:r>
              <a:rPr lang="en-AU" sz="2400" dirty="0">
                <a:solidFill>
                  <a:srgbClr val="292934"/>
                </a:solidFill>
                <a:latin typeface="Arial"/>
              </a:rPr>
              <a:t>they will cost.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lang="en-AU"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sz="2400" b="0" dirty="0">
                <a:solidFill>
                  <a:srgbClr val="292934"/>
                </a:solidFill>
                <a:latin typeface="Arial"/>
              </a:rPr>
              <a:t>It is the estimated </a:t>
            </a:r>
            <a:r>
              <a:rPr lang="en-AU" sz="2400" b="1" dirty="0">
                <a:solidFill>
                  <a:srgbClr val="0066CC"/>
                </a:solidFill>
                <a:latin typeface="Arial"/>
              </a:rPr>
              <a:t>maximum you may spend</a:t>
            </a:r>
            <a:r>
              <a:rPr lang="en-AU" sz="2400" b="0" dirty="0">
                <a:solidFill>
                  <a:srgbClr val="292934"/>
                </a:solidFill>
                <a:latin typeface="Arial"/>
              </a:rPr>
              <a:t> before you would have to ask permission to exceed it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Even if your project spends almost nothing, the 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people cost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 is real and must be counted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 dirty="0">
                <a:solidFill>
                  <a:srgbClr val="002464"/>
                </a:solidFill>
                <a:latin typeface="Arial"/>
              </a:rPr>
              <a:t>The costing rules for </a:t>
            </a:r>
            <a:r>
              <a:rPr lang="en-AU" sz="3000" b="1" dirty="0">
                <a:solidFill>
                  <a:srgbClr val="002464"/>
                </a:solidFill>
                <a:latin typeface="Arial"/>
              </a:rPr>
              <a:t>your capstone</a:t>
            </a:r>
            <a:endParaRPr sz="3000" b="1" i="0" dirty="0">
              <a:solidFill>
                <a:srgbClr val="002464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 3: Scheduling and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6432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>
                <a:solidFill>
                  <a:srgbClr val="8A93A6"/>
                </a:solidFill>
                <a:latin typeface="Arial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1057839" cy="2994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900" dirty="0">
                <a:solidFill>
                  <a:srgbClr val="292934"/>
                </a:solidFill>
                <a:latin typeface="Arial"/>
              </a:rPr>
              <a:t>•   </a:t>
            </a:r>
            <a:r>
              <a:rPr lang="en-AU" sz="1900" dirty="0">
                <a:solidFill>
                  <a:srgbClr val="292934"/>
                </a:solidFill>
                <a:latin typeface="Arial"/>
              </a:rPr>
              <a:t>What are the categories of your project?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lang="en-AU" sz="190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Student hours: $100 per hour. Supervisor and adviser hours: $200 per hour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Example: 720 student hours (360 × 2 students) at $100 =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$72,000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Example: 48 supervisor hours at $200 =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$9,600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Equipment or software under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$100 per item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goes into one line called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“Sundries”</a:t>
            </a:r>
            <a:r>
              <a:rPr lang="en-AU" sz="1900" b="1" dirty="0">
                <a:solidFill>
                  <a:srgbClr val="0066CC"/>
                </a:solidFill>
                <a:latin typeface="Arial"/>
              </a:rPr>
              <a:t>. </a:t>
            </a:r>
            <a:r>
              <a:rPr lang="en-AU" sz="1900" dirty="0">
                <a:solidFill>
                  <a:srgbClr val="292934"/>
                </a:solidFill>
                <a:latin typeface="Arial"/>
              </a:rPr>
              <a:t>Otherwise, list its name and cost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lang="en-AU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sz="1900" dirty="0">
                <a:solidFill>
                  <a:srgbClr val="292934"/>
                </a:solidFill>
                <a:latin typeface="Arial"/>
              </a:rPr>
              <a:t>You will get </a:t>
            </a:r>
            <a:r>
              <a:rPr lang="en-AU" sz="1900" b="1" dirty="0">
                <a:solidFill>
                  <a:srgbClr val="0066CC"/>
                </a:solidFill>
                <a:latin typeface="Arial"/>
              </a:rPr>
              <a:t>$800 </a:t>
            </a:r>
            <a:r>
              <a:rPr lang="en-AU" sz="1900" dirty="0">
                <a:solidFill>
                  <a:srgbClr val="292934"/>
                </a:solidFill>
                <a:latin typeface="Arial"/>
              </a:rPr>
              <a:t>for consumables by the faculty.</a:t>
            </a:r>
            <a:endParaRPr sz="1900" dirty="0">
              <a:solidFill>
                <a:srgbClr val="292934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1F6CF-55C3-1270-AD8C-7C7716A96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5DB944-D973-3188-9881-9D571C477D15}"/>
              </a:ext>
            </a:extLst>
          </p:cNvPr>
          <p:cNvSpPr txBox="1"/>
          <p:nvPr/>
        </p:nvSpPr>
        <p:spPr>
          <a:xfrm>
            <a:off x="566928" y="310896"/>
            <a:ext cx="1105783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lang="en-AU" sz="3000" b="1" i="0" dirty="0">
                <a:solidFill>
                  <a:srgbClr val="002464"/>
                </a:solidFill>
                <a:latin typeface="Arial"/>
              </a:rPr>
              <a:t>Project Network</a:t>
            </a:r>
            <a:endParaRPr sz="3000" b="1" i="0" dirty="0">
              <a:solidFill>
                <a:srgbClr val="002464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886A4C-7FE0-7251-4C1B-1E39FBD96BBE}"/>
              </a:ext>
            </a:extLst>
          </p:cNvPr>
          <p:cNvSpPr/>
          <p:nvPr/>
        </p:nvSpPr>
        <p:spPr>
          <a:xfrm>
            <a:off x="566928" y="1152144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B8ED7F-FA42-AC54-B708-475CCDA10FBE}"/>
              </a:ext>
            </a:extLst>
          </p:cNvPr>
          <p:cNvSpPr txBox="1"/>
          <p:nvPr/>
        </p:nvSpPr>
        <p:spPr>
          <a:xfrm>
            <a:off x="11076432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>
                <a:solidFill>
                  <a:srgbClr val="8A93A6"/>
                </a:solidFill>
                <a:latin typeface="Arial"/>
              </a:rPr>
              <a:t>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550CA9-0D5A-1247-A00B-7C21F35D18EB}"/>
              </a:ext>
            </a:extLst>
          </p:cNvPr>
          <p:cNvSpPr txBox="1"/>
          <p:nvPr/>
        </p:nvSpPr>
        <p:spPr>
          <a:xfrm>
            <a:off x="566928" y="1426464"/>
            <a:ext cx="11057839" cy="289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700" dirty="0">
                <a:solidFill>
                  <a:srgbClr val="292934"/>
                </a:solidFill>
                <a:latin typeface="Arial"/>
              </a:rPr>
              <a:t>•</a:t>
            </a:r>
            <a:r>
              <a:rPr lang="en-AU" sz="1700" dirty="0">
                <a:solidFill>
                  <a:srgbClr val="292934"/>
                </a:solidFill>
                <a:latin typeface="Arial"/>
              </a:rPr>
              <a:t>   The project network is developed from the information collected from the WBS (Week 2) and is a </a:t>
            </a:r>
            <a:r>
              <a:rPr lang="en-AU" sz="1700" b="1" dirty="0">
                <a:solidFill>
                  <a:srgbClr val="0066CC"/>
                </a:solidFill>
                <a:latin typeface="Arial"/>
              </a:rPr>
              <a:t>graphic flow chart</a:t>
            </a:r>
            <a:r>
              <a:rPr lang="en-AU" sz="1700" dirty="0">
                <a:solidFill>
                  <a:srgbClr val="292934"/>
                </a:solidFill>
                <a:latin typeface="Arial"/>
              </a:rPr>
              <a:t> of the project job plan </a:t>
            </a:r>
            <a:r>
              <a:rPr lang="en-AU" sz="1700" i="1" dirty="0">
                <a:solidFill>
                  <a:srgbClr val="292934"/>
                </a:solidFill>
                <a:latin typeface="Arial"/>
              </a:rPr>
              <a:t>(Project Management: A Socio-technical Approach, 2024)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lang="en-AU" sz="1700" dirty="0">
                <a:solidFill>
                  <a:srgbClr val="292934"/>
                </a:solidFill>
                <a:latin typeface="Arial"/>
              </a:rPr>
              <a:t>•   Activity-on-node (AON) and activity-on-arrow (AOA) are two historical methods commonly used in project management. 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lang="en-AU" sz="1700" dirty="0">
                <a:solidFill>
                  <a:srgbClr val="292934"/>
                </a:solidFill>
                <a:latin typeface="Arial"/>
              </a:rPr>
              <a:t>•   We will use the AON diagram just to illustrate and explain relevant concepts: dependency, critical path, float/slack. 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lang="en-AU" sz="1700" dirty="0">
                <a:solidFill>
                  <a:srgbClr val="292934"/>
                </a:solidFill>
                <a:latin typeface="Arial"/>
              </a:rPr>
              <a:t>•   </a:t>
            </a:r>
            <a:r>
              <a:rPr lang="en-US" sz="1700" dirty="0">
                <a:solidFill>
                  <a:srgbClr val="292934"/>
                </a:solidFill>
                <a:latin typeface="Arial"/>
              </a:rPr>
              <a:t>An AON diagram shows each task as a node and links the nodes with arrows that show their technological relationship. </a:t>
            </a:r>
            <a:endParaRPr sz="1700" dirty="0">
              <a:solidFill>
                <a:srgbClr val="292934"/>
              </a:solidFill>
              <a:latin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B28A03-8822-D31F-D560-2FE749C85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234145"/>
            <a:ext cx="6088526" cy="21483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0EA8FA9-B448-82D9-51D6-7E80280C3E76}"/>
              </a:ext>
            </a:extLst>
          </p:cNvPr>
          <p:cNvSpPr txBox="1"/>
          <p:nvPr/>
        </p:nvSpPr>
        <p:spPr>
          <a:xfrm>
            <a:off x="566928" y="6382512"/>
            <a:ext cx="60885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Arial"/>
              </a:rPr>
              <a:t>https://project-management-</a:t>
            </a:r>
            <a:r>
              <a:rPr lang="en-US" sz="1200" i="1" dirty="0" err="1">
                <a:solidFill>
                  <a:schemeClr val="bg1">
                    <a:lumMod val="50000"/>
                  </a:schemeClr>
                </a:solidFill>
                <a:latin typeface="Arial"/>
              </a:rPr>
              <a:t>knowledge.com</a:t>
            </a:r>
            <a:r>
              <a:rPr lang="en-US" sz="1200" i="1" dirty="0">
                <a:solidFill>
                  <a:schemeClr val="bg1">
                    <a:lumMod val="50000"/>
                  </a:schemeClr>
                </a:solidFill>
                <a:latin typeface="Arial"/>
              </a:rPr>
              <a:t>/definitions/a/activity-on-node/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D99E419-4C5D-D7DD-168A-1942ACAF3380}"/>
              </a:ext>
            </a:extLst>
          </p:cNvPr>
          <p:cNvSpPr/>
          <p:nvPr/>
        </p:nvSpPr>
        <p:spPr>
          <a:xfrm>
            <a:off x="7724665" y="5431536"/>
            <a:ext cx="395416" cy="39541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BE10CA4-C8B9-96CE-FC1E-43CEC5ACE5C6}"/>
              </a:ext>
            </a:extLst>
          </p:cNvPr>
          <p:cNvSpPr/>
          <p:nvPr/>
        </p:nvSpPr>
        <p:spPr>
          <a:xfrm>
            <a:off x="8546986" y="4377710"/>
            <a:ext cx="395416" cy="39541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65479BA-D2FE-7D10-8B66-D7A8B1BDA82F}"/>
              </a:ext>
            </a:extLst>
          </p:cNvPr>
          <p:cNvSpPr/>
          <p:nvPr/>
        </p:nvSpPr>
        <p:spPr>
          <a:xfrm>
            <a:off x="10878724" y="5431536"/>
            <a:ext cx="395416" cy="39541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8A5C28B-8BD7-9DB0-C38F-659ED35ADB1E}"/>
              </a:ext>
            </a:extLst>
          </p:cNvPr>
          <p:cNvSpPr/>
          <p:nvPr/>
        </p:nvSpPr>
        <p:spPr>
          <a:xfrm>
            <a:off x="9252666" y="5431536"/>
            <a:ext cx="395416" cy="39541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9705B7A-FB64-5299-9B29-52E00917F0BE}"/>
              </a:ext>
            </a:extLst>
          </p:cNvPr>
          <p:cNvSpPr/>
          <p:nvPr/>
        </p:nvSpPr>
        <p:spPr>
          <a:xfrm>
            <a:off x="9688417" y="4377710"/>
            <a:ext cx="395416" cy="39541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0C8BC5E-E103-F3A4-3D89-D5F38DA573E0}"/>
              </a:ext>
            </a:extLst>
          </p:cNvPr>
          <p:cNvCxnSpPr>
            <a:stCxn id="7" idx="7"/>
            <a:endCxn id="9" idx="3"/>
          </p:cNvCxnSpPr>
          <p:nvPr/>
        </p:nvCxnSpPr>
        <p:spPr>
          <a:xfrm flipV="1">
            <a:off x="8062174" y="4715219"/>
            <a:ext cx="542719" cy="7742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E3FB669-270E-6C76-BC84-7EE159080863}"/>
              </a:ext>
            </a:extLst>
          </p:cNvPr>
          <p:cNvCxnSpPr>
            <a:stCxn id="9" idx="6"/>
            <a:endCxn id="13" idx="2"/>
          </p:cNvCxnSpPr>
          <p:nvPr/>
        </p:nvCxnSpPr>
        <p:spPr>
          <a:xfrm>
            <a:off x="8942402" y="4575418"/>
            <a:ext cx="7460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ED8C7BA-C198-83AA-622C-56CC0275237A}"/>
              </a:ext>
            </a:extLst>
          </p:cNvPr>
          <p:cNvCxnSpPr>
            <a:stCxn id="13" idx="6"/>
            <a:endCxn id="11" idx="2"/>
          </p:cNvCxnSpPr>
          <p:nvPr/>
        </p:nvCxnSpPr>
        <p:spPr>
          <a:xfrm>
            <a:off x="10083833" y="4575418"/>
            <a:ext cx="794891" cy="10538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F6BDA18-546B-3D1B-93B4-3C4A726B827A}"/>
              </a:ext>
            </a:extLst>
          </p:cNvPr>
          <p:cNvCxnSpPr>
            <a:stCxn id="7" idx="6"/>
            <a:endCxn id="12" idx="2"/>
          </p:cNvCxnSpPr>
          <p:nvPr/>
        </p:nvCxnSpPr>
        <p:spPr>
          <a:xfrm>
            <a:off x="8120081" y="5629244"/>
            <a:ext cx="113258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9A638F3-647D-2813-5DE7-F3E1F7AD242F}"/>
              </a:ext>
            </a:extLst>
          </p:cNvPr>
          <p:cNvCxnSpPr>
            <a:stCxn id="12" idx="6"/>
            <a:endCxn id="11" idx="2"/>
          </p:cNvCxnSpPr>
          <p:nvPr/>
        </p:nvCxnSpPr>
        <p:spPr>
          <a:xfrm>
            <a:off x="9648082" y="5629244"/>
            <a:ext cx="12306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EAD299F-F258-ED43-C20B-FA919D56212D}"/>
              </a:ext>
            </a:extLst>
          </p:cNvPr>
          <p:cNvSpPr txBox="1"/>
          <p:nvPr/>
        </p:nvSpPr>
        <p:spPr>
          <a:xfrm>
            <a:off x="7361792" y="4853805"/>
            <a:ext cx="9717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Activity 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8D19529-8D34-FF8C-07E1-B32D62DC3BCC}"/>
              </a:ext>
            </a:extLst>
          </p:cNvPr>
          <p:cNvSpPr txBox="1"/>
          <p:nvPr/>
        </p:nvSpPr>
        <p:spPr>
          <a:xfrm>
            <a:off x="8186944" y="5687151"/>
            <a:ext cx="9653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Activity B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67C6B6-CAFF-598B-C5AE-81A772A82E46}"/>
              </a:ext>
            </a:extLst>
          </p:cNvPr>
          <p:cNvSpPr txBox="1"/>
          <p:nvPr/>
        </p:nvSpPr>
        <p:spPr>
          <a:xfrm>
            <a:off x="8834347" y="4105951"/>
            <a:ext cx="9621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Activity C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E6F6AA-3F28-8D6D-8169-B72326D086EE}"/>
              </a:ext>
            </a:extLst>
          </p:cNvPr>
          <p:cNvSpPr txBox="1"/>
          <p:nvPr/>
        </p:nvSpPr>
        <p:spPr>
          <a:xfrm>
            <a:off x="10481278" y="4824851"/>
            <a:ext cx="9797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Activity 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DDF5536-907C-15BD-2FAF-56E3D5D8A723}"/>
              </a:ext>
            </a:extLst>
          </p:cNvPr>
          <p:cNvSpPr txBox="1"/>
          <p:nvPr/>
        </p:nvSpPr>
        <p:spPr>
          <a:xfrm>
            <a:off x="9741936" y="5680969"/>
            <a:ext cx="954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Activity E</a:t>
            </a:r>
          </a:p>
        </p:txBody>
      </p:sp>
    </p:spTree>
    <p:extLst>
      <p:ext uri="{BB962C8B-B14F-4D97-AF65-F5344CB8AC3E}">
        <p14:creationId xmlns:p14="http://schemas.microsoft.com/office/powerpoint/2010/main" val="3814570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4AEB8-79AB-603C-83BF-D15E1001C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DC9F88-5C32-BE5F-464F-6C4711581F1F}"/>
              </a:ext>
            </a:extLst>
          </p:cNvPr>
          <p:cNvSpPr txBox="1"/>
          <p:nvPr/>
        </p:nvSpPr>
        <p:spPr>
          <a:xfrm>
            <a:off x="566928" y="310896"/>
            <a:ext cx="11057839" cy="992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lang="en-AU" sz="3000" b="1" dirty="0">
                <a:solidFill>
                  <a:srgbClr val="002464"/>
                </a:solidFill>
                <a:latin typeface="Arial"/>
              </a:rPr>
              <a:t>Four types of dependencies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570120-5302-45E9-B070-A43BD6128F52}"/>
              </a:ext>
            </a:extLst>
          </p:cNvPr>
          <p:cNvSpPr/>
          <p:nvPr/>
        </p:nvSpPr>
        <p:spPr>
          <a:xfrm>
            <a:off x="566928" y="1152144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2CEF73-55A4-4707-D059-382538E7FE6F}"/>
              </a:ext>
            </a:extLst>
          </p:cNvPr>
          <p:cNvSpPr txBox="1"/>
          <p:nvPr/>
        </p:nvSpPr>
        <p:spPr>
          <a:xfrm>
            <a:off x="566928" y="6382512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 3: Scheduling and Cost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A57F67-7FCB-8354-A040-7DAB85B05FA3}"/>
              </a:ext>
            </a:extLst>
          </p:cNvPr>
          <p:cNvSpPr txBox="1"/>
          <p:nvPr/>
        </p:nvSpPr>
        <p:spPr>
          <a:xfrm>
            <a:off x="11076432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>
                <a:solidFill>
                  <a:srgbClr val="8A93A6"/>
                </a:solidFill>
                <a:latin typeface="Arial"/>
              </a:rPr>
              <a:t>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D0BAD4-F216-01D4-80E0-ACCDB863A8DF}"/>
              </a:ext>
            </a:extLst>
          </p:cNvPr>
          <p:cNvSpPr txBox="1"/>
          <p:nvPr/>
        </p:nvSpPr>
        <p:spPr>
          <a:xfrm>
            <a:off x="566928" y="1426464"/>
            <a:ext cx="11057839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900" dirty="0">
                <a:solidFill>
                  <a:srgbClr val="292934"/>
                </a:solidFill>
                <a:latin typeface="Arial"/>
              </a:rPr>
              <a:t>Finish-to-start (FS)</a:t>
            </a:r>
          </a:p>
          <a:p>
            <a:endParaRPr lang="en-AU" dirty="0">
              <a:solidFill>
                <a:srgbClr val="292934"/>
              </a:solidFill>
              <a:latin typeface="Arial"/>
            </a:endParaRPr>
          </a:p>
          <a:p>
            <a:r>
              <a:rPr lang="en-AU" sz="1900" dirty="0">
                <a:solidFill>
                  <a:srgbClr val="292934"/>
                </a:solidFill>
                <a:latin typeface="Arial"/>
              </a:rPr>
              <a:t>•   Successor cannot begin until predecessor finishes.</a:t>
            </a:r>
          </a:p>
          <a:p>
            <a:r>
              <a:rPr lang="en-AU" sz="1900" dirty="0">
                <a:solidFill>
                  <a:srgbClr val="292934"/>
                </a:solidFill>
                <a:latin typeface="Arial"/>
              </a:rPr>
              <a:t>•   Example: Foundation must be built before the building structure.</a:t>
            </a:r>
            <a:endParaRPr lang="en-AU" dirty="0">
              <a:solidFill>
                <a:srgbClr val="292934"/>
              </a:solidFill>
              <a:latin typeface="Arial"/>
            </a:endParaRPr>
          </a:p>
          <a:p>
            <a:endParaRPr lang="en-AU" dirty="0">
              <a:solidFill>
                <a:srgbClr val="292934"/>
              </a:solidFill>
              <a:latin typeface="Arial"/>
            </a:endParaRPr>
          </a:p>
          <a:p>
            <a:endParaRPr lang="en-AU" dirty="0">
              <a:solidFill>
                <a:srgbClr val="292934"/>
              </a:solidFill>
              <a:latin typeface="Arial"/>
            </a:endParaRPr>
          </a:p>
          <a:p>
            <a:endParaRPr lang="en-AU" dirty="0">
              <a:solidFill>
                <a:srgbClr val="292934"/>
              </a:solidFill>
              <a:latin typeface="Arial"/>
            </a:endParaRPr>
          </a:p>
          <a:p>
            <a:endParaRPr lang="en-AU" dirty="0">
              <a:solidFill>
                <a:srgbClr val="292934"/>
              </a:solidFill>
              <a:latin typeface="Arial"/>
            </a:endParaRPr>
          </a:p>
          <a:p>
            <a:r>
              <a:rPr lang="en-AU" sz="1900" dirty="0">
                <a:solidFill>
                  <a:srgbClr val="292934"/>
                </a:solidFill>
                <a:latin typeface="Arial"/>
              </a:rPr>
              <a:t>Finish-to-finish (FF)</a:t>
            </a:r>
          </a:p>
          <a:p>
            <a:endParaRPr lang="en-AU" dirty="0">
              <a:solidFill>
                <a:srgbClr val="292934"/>
              </a:solidFill>
              <a:latin typeface="Arial"/>
            </a:endParaRPr>
          </a:p>
          <a:p>
            <a:r>
              <a:rPr lang="en-AU" sz="1900" dirty="0">
                <a:solidFill>
                  <a:srgbClr val="292934"/>
                </a:solidFill>
                <a:latin typeface="Arial"/>
              </a:rPr>
              <a:t>•   Successor cannot finish before predecessor finishes.</a:t>
            </a:r>
          </a:p>
          <a:p>
            <a:r>
              <a:rPr lang="en-AU" sz="1900" dirty="0">
                <a:solidFill>
                  <a:srgbClr val="292934"/>
                </a:solidFill>
                <a:latin typeface="Arial"/>
              </a:rPr>
              <a:t>•   Example: Documenting cannot finish before the project finishes.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8DEBE75-B2AB-0963-5DFD-E53DD9176917}"/>
              </a:ext>
            </a:extLst>
          </p:cNvPr>
          <p:cNvSpPr/>
          <p:nvPr/>
        </p:nvSpPr>
        <p:spPr>
          <a:xfrm>
            <a:off x="6095847" y="2785373"/>
            <a:ext cx="1791054" cy="79083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Activity A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49C8CA8-9D7D-0BCF-C708-410D655D07DF}"/>
              </a:ext>
            </a:extLst>
          </p:cNvPr>
          <p:cNvSpPr/>
          <p:nvPr/>
        </p:nvSpPr>
        <p:spPr>
          <a:xfrm>
            <a:off x="9833713" y="2790476"/>
            <a:ext cx="1791054" cy="79083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Activity B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BD45D8D-6F2E-88C7-F6EB-50067601A0CF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7886901" y="3180790"/>
            <a:ext cx="1946812" cy="5103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83561BA-629C-E2CD-C6FF-BE651CB8BAC3}"/>
              </a:ext>
            </a:extLst>
          </p:cNvPr>
          <p:cNvSpPr txBox="1"/>
          <p:nvPr/>
        </p:nvSpPr>
        <p:spPr>
          <a:xfrm>
            <a:off x="8383558" y="2534458"/>
            <a:ext cx="1372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Finish to Start (FS)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9347916-DC47-3926-C9C8-8F1F8B257406}"/>
              </a:ext>
            </a:extLst>
          </p:cNvPr>
          <p:cNvSpPr/>
          <p:nvPr/>
        </p:nvSpPr>
        <p:spPr>
          <a:xfrm>
            <a:off x="8448632" y="4734857"/>
            <a:ext cx="1791054" cy="79083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Activity A 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A3AFC6E-EE26-C2DA-47F1-FB4AB4F87146}"/>
              </a:ext>
            </a:extLst>
          </p:cNvPr>
          <p:cNvSpPr/>
          <p:nvPr/>
        </p:nvSpPr>
        <p:spPr>
          <a:xfrm>
            <a:off x="8480595" y="5987095"/>
            <a:ext cx="1791054" cy="79083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Activity B 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D74F72A9-7070-52B9-CF8B-F1901586C0F2}"/>
              </a:ext>
            </a:extLst>
          </p:cNvPr>
          <p:cNvCxnSpPr>
            <a:stCxn id="15" idx="3"/>
            <a:endCxn id="18" idx="3"/>
          </p:cNvCxnSpPr>
          <p:nvPr/>
        </p:nvCxnSpPr>
        <p:spPr>
          <a:xfrm>
            <a:off x="10239686" y="5130274"/>
            <a:ext cx="31963" cy="1252238"/>
          </a:xfrm>
          <a:prstGeom prst="bentConnector3">
            <a:avLst>
              <a:gd name="adj1" fmla="val 2709520"/>
            </a:avLst>
          </a:prstGeom>
          <a:ln w="508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3C18EC4-E9AC-4CC6-C439-E846692F40B9}"/>
              </a:ext>
            </a:extLst>
          </p:cNvPr>
          <p:cNvSpPr txBox="1"/>
          <p:nvPr/>
        </p:nvSpPr>
        <p:spPr>
          <a:xfrm>
            <a:off x="11076127" y="5382690"/>
            <a:ext cx="1372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Finish to Finish (FF)</a:t>
            </a:r>
          </a:p>
        </p:txBody>
      </p:sp>
    </p:spTree>
    <p:extLst>
      <p:ext uri="{BB962C8B-B14F-4D97-AF65-F5344CB8AC3E}">
        <p14:creationId xmlns:p14="http://schemas.microsoft.com/office/powerpoint/2010/main" val="1632971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A3DE3-25F5-DDD5-9DA3-C74656029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8D3CDF-E079-8533-5EBF-EC310B394477}"/>
              </a:ext>
            </a:extLst>
          </p:cNvPr>
          <p:cNvSpPr txBox="1"/>
          <p:nvPr/>
        </p:nvSpPr>
        <p:spPr>
          <a:xfrm>
            <a:off x="566928" y="310896"/>
            <a:ext cx="11057839" cy="992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lang="en-AU" sz="3000" b="1" dirty="0">
                <a:solidFill>
                  <a:srgbClr val="002464"/>
                </a:solidFill>
                <a:latin typeface="Arial"/>
              </a:rPr>
              <a:t>Four types of dependencies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EFDDDD-15E6-C617-06C7-0F2600D72000}"/>
              </a:ext>
            </a:extLst>
          </p:cNvPr>
          <p:cNvSpPr/>
          <p:nvPr/>
        </p:nvSpPr>
        <p:spPr>
          <a:xfrm>
            <a:off x="566928" y="1152144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6E42D2-1437-2B36-DA4A-69A3D568BECA}"/>
              </a:ext>
            </a:extLst>
          </p:cNvPr>
          <p:cNvSpPr txBox="1"/>
          <p:nvPr/>
        </p:nvSpPr>
        <p:spPr>
          <a:xfrm>
            <a:off x="566928" y="6382512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 3: Scheduling and Cost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ABD7C0-508C-4B74-8363-D04D714FE2AB}"/>
              </a:ext>
            </a:extLst>
          </p:cNvPr>
          <p:cNvSpPr txBox="1"/>
          <p:nvPr/>
        </p:nvSpPr>
        <p:spPr>
          <a:xfrm>
            <a:off x="11076432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>
                <a:solidFill>
                  <a:srgbClr val="8A93A6"/>
                </a:solidFill>
                <a:latin typeface="Arial"/>
              </a:rPr>
              <a:t>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2875AE-04F0-6928-73A7-FD6EA50629AD}"/>
              </a:ext>
            </a:extLst>
          </p:cNvPr>
          <p:cNvSpPr txBox="1"/>
          <p:nvPr/>
        </p:nvSpPr>
        <p:spPr>
          <a:xfrm>
            <a:off x="566929" y="1426464"/>
            <a:ext cx="5833872" cy="5353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900" dirty="0">
                <a:solidFill>
                  <a:srgbClr val="292934"/>
                </a:solidFill>
                <a:latin typeface="Arial"/>
              </a:rPr>
              <a:t>Start-to-start (SS)</a:t>
            </a:r>
          </a:p>
          <a:p>
            <a:endParaRPr lang="en-AU" dirty="0">
              <a:solidFill>
                <a:srgbClr val="292934"/>
              </a:solidFill>
              <a:latin typeface="Arial"/>
            </a:endParaRPr>
          </a:p>
          <a:p>
            <a:r>
              <a:rPr lang="en-AU" sz="1900" dirty="0">
                <a:solidFill>
                  <a:srgbClr val="292934"/>
                </a:solidFill>
                <a:latin typeface="Arial"/>
              </a:rPr>
              <a:t>•   Successor cannot start until predecessor starts.</a:t>
            </a:r>
          </a:p>
          <a:p>
            <a:r>
              <a:rPr lang="en-AU" sz="1900" dirty="0">
                <a:solidFill>
                  <a:srgbClr val="292934"/>
                </a:solidFill>
                <a:latin typeface="Arial"/>
              </a:rPr>
              <a:t>•   Example: Workers can start paving a road with asphalt as soon as the excavation crew starts clearing the dirt ahead of them.</a:t>
            </a:r>
          </a:p>
          <a:p>
            <a:endParaRPr lang="en-AU" dirty="0">
              <a:solidFill>
                <a:srgbClr val="292934"/>
              </a:solidFill>
              <a:latin typeface="Arial"/>
            </a:endParaRPr>
          </a:p>
          <a:p>
            <a:endParaRPr lang="en-AU" dirty="0">
              <a:solidFill>
                <a:srgbClr val="292934"/>
              </a:solidFill>
              <a:latin typeface="Arial"/>
            </a:endParaRPr>
          </a:p>
          <a:p>
            <a:endParaRPr lang="en-AU" dirty="0">
              <a:solidFill>
                <a:srgbClr val="292934"/>
              </a:solidFill>
              <a:latin typeface="Arial"/>
            </a:endParaRPr>
          </a:p>
          <a:p>
            <a:endParaRPr lang="en-AU" dirty="0">
              <a:solidFill>
                <a:srgbClr val="292934"/>
              </a:solidFill>
              <a:latin typeface="Arial"/>
            </a:endParaRPr>
          </a:p>
          <a:p>
            <a:endParaRPr lang="en-AU" dirty="0">
              <a:solidFill>
                <a:srgbClr val="292934"/>
              </a:solidFill>
              <a:latin typeface="Arial"/>
            </a:endParaRPr>
          </a:p>
          <a:p>
            <a:endParaRPr lang="en-AU" dirty="0">
              <a:solidFill>
                <a:srgbClr val="292934"/>
              </a:solidFill>
              <a:latin typeface="Arial"/>
            </a:endParaRPr>
          </a:p>
          <a:p>
            <a:r>
              <a:rPr lang="en-AU" sz="1900" dirty="0">
                <a:solidFill>
                  <a:srgbClr val="292934"/>
                </a:solidFill>
                <a:latin typeface="Arial"/>
              </a:rPr>
              <a:t>Start-to-finish (SF)</a:t>
            </a:r>
          </a:p>
          <a:p>
            <a:endParaRPr lang="en-AU" dirty="0">
              <a:solidFill>
                <a:srgbClr val="292934"/>
              </a:solidFill>
              <a:latin typeface="Arial"/>
            </a:endParaRPr>
          </a:p>
          <a:p>
            <a:r>
              <a:rPr lang="en-AU" sz="1900" dirty="0">
                <a:solidFill>
                  <a:srgbClr val="292934"/>
                </a:solidFill>
                <a:latin typeface="Arial"/>
              </a:rPr>
              <a:t>•   Successor cannot finish until predecessor starts.</a:t>
            </a:r>
          </a:p>
          <a:p>
            <a:r>
              <a:rPr lang="en-AU" sz="1900" dirty="0">
                <a:solidFill>
                  <a:srgbClr val="292934"/>
                </a:solidFill>
                <a:latin typeface="Arial"/>
              </a:rPr>
              <a:t>•   Example: The old system cannot shut down until the new system starts.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8BBA8BA-EBDD-D05D-C10C-D12FEEB32DD7}"/>
              </a:ext>
            </a:extLst>
          </p:cNvPr>
          <p:cNvSpPr/>
          <p:nvPr/>
        </p:nvSpPr>
        <p:spPr>
          <a:xfrm>
            <a:off x="8572201" y="1816019"/>
            <a:ext cx="1791054" cy="79083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Activity A 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6E7D41B-C7D9-F797-7075-A6AADBCDCC74}"/>
              </a:ext>
            </a:extLst>
          </p:cNvPr>
          <p:cNvSpPr/>
          <p:nvPr/>
        </p:nvSpPr>
        <p:spPr>
          <a:xfrm>
            <a:off x="8604164" y="3068257"/>
            <a:ext cx="1791054" cy="79083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Activity B </a:t>
            </a:r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CCC30354-1BFC-3715-1889-F8B9F0AAE966}"/>
              </a:ext>
            </a:extLst>
          </p:cNvPr>
          <p:cNvCxnSpPr>
            <a:cxnSpLocks/>
            <a:stCxn id="7" idx="1"/>
            <a:endCxn id="8" idx="1"/>
          </p:cNvCxnSpPr>
          <p:nvPr/>
        </p:nvCxnSpPr>
        <p:spPr>
          <a:xfrm rot="10800000" flipH="1" flipV="1">
            <a:off x="8572200" y="2211436"/>
            <a:ext cx="31963" cy="1252238"/>
          </a:xfrm>
          <a:prstGeom prst="bentConnector3">
            <a:avLst>
              <a:gd name="adj1" fmla="val -1643031"/>
            </a:avLst>
          </a:prstGeom>
          <a:ln w="508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337C0EB-8CBA-4B9F-D113-8474E805253D}"/>
              </a:ext>
            </a:extLst>
          </p:cNvPr>
          <p:cNvSpPr txBox="1"/>
          <p:nvPr/>
        </p:nvSpPr>
        <p:spPr>
          <a:xfrm>
            <a:off x="6939913" y="2514389"/>
            <a:ext cx="1372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Start-to-Start (SS)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0E7FE56-C5AE-C6F8-CF44-7DCB6BDB667B}"/>
              </a:ext>
            </a:extLst>
          </p:cNvPr>
          <p:cNvSpPr/>
          <p:nvPr/>
        </p:nvSpPr>
        <p:spPr>
          <a:xfrm>
            <a:off x="6949363" y="5481651"/>
            <a:ext cx="1791054" cy="79083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Activity A 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7CCAF00-8CA8-FF9B-ABBB-1DB02F89A9DE}"/>
              </a:ext>
            </a:extLst>
          </p:cNvPr>
          <p:cNvSpPr/>
          <p:nvPr/>
        </p:nvSpPr>
        <p:spPr>
          <a:xfrm>
            <a:off x="9797539" y="5486754"/>
            <a:ext cx="1791054" cy="79083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Activity B 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6112A814-AFBA-D596-DC8E-17A5C1BF37D6}"/>
              </a:ext>
            </a:extLst>
          </p:cNvPr>
          <p:cNvCxnSpPr>
            <a:stCxn id="16" idx="1"/>
            <a:endCxn id="17" idx="3"/>
          </p:cNvCxnSpPr>
          <p:nvPr/>
        </p:nvCxnSpPr>
        <p:spPr>
          <a:xfrm rot="10800000" flipH="1" flipV="1">
            <a:off x="6949363" y="5877067"/>
            <a:ext cx="4639230" cy="5103"/>
          </a:xfrm>
          <a:prstGeom prst="bentConnector5">
            <a:avLst>
              <a:gd name="adj1" fmla="val -4928"/>
              <a:gd name="adj2" fmla="val -12854870"/>
              <a:gd name="adj3" fmla="val 10492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716FA92-AB84-3EC0-7A23-433CE769F7C0}"/>
              </a:ext>
            </a:extLst>
          </p:cNvPr>
          <p:cNvSpPr txBox="1"/>
          <p:nvPr/>
        </p:nvSpPr>
        <p:spPr>
          <a:xfrm>
            <a:off x="8662038" y="4544913"/>
            <a:ext cx="1372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Start-to-Finish (SF)</a:t>
            </a:r>
          </a:p>
        </p:txBody>
      </p:sp>
    </p:spTree>
    <p:extLst>
      <p:ext uri="{BB962C8B-B14F-4D97-AF65-F5344CB8AC3E}">
        <p14:creationId xmlns:p14="http://schemas.microsoft.com/office/powerpoint/2010/main" val="2064519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 dirty="0">
                <a:solidFill>
                  <a:srgbClr val="002464"/>
                </a:solidFill>
                <a:latin typeface="Arial"/>
              </a:rPr>
              <a:t>The critical path</a:t>
            </a:r>
            <a:r>
              <a:rPr lang="en-AU" sz="3000" b="1" dirty="0">
                <a:solidFill>
                  <a:srgbClr val="002464"/>
                </a:solidFill>
                <a:latin typeface="Arial"/>
              </a:rPr>
              <a:t> and float</a:t>
            </a:r>
            <a:endParaRPr sz="3000" b="1" i="0" dirty="0">
              <a:solidFill>
                <a:srgbClr val="002464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 3: Scheduling and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6432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>
                <a:solidFill>
                  <a:srgbClr val="8A93A6"/>
                </a:solidFill>
                <a:latin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7" y="1426464"/>
            <a:ext cx="11057839" cy="1581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The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longest chain of dependent tasks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through the project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sz="1900" dirty="0">
                <a:solidFill>
                  <a:srgbClr val="292934"/>
                </a:solidFill>
                <a:latin typeface="Arial"/>
              </a:rPr>
              <a:t>If any task on the critical path is delayed,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you delay the whole project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It sets the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shortest possible duration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. You cannot finish sooner without changing </a:t>
            </a:r>
            <a:r>
              <a:rPr lang="en-AU" sz="1900" dirty="0">
                <a:solidFill>
                  <a:srgbClr val="292934"/>
                </a:solidFill>
                <a:latin typeface="Arial"/>
              </a:rPr>
              <a:t>the critical path</a:t>
            </a:r>
            <a:endParaRPr sz="1650" b="0" dirty="0">
              <a:solidFill>
                <a:srgbClr val="292934"/>
              </a:solidFill>
              <a:latin typeface="Arial"/>
            </a:endParaRP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Float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is how much a task can slip without moving the end date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2735F1-167B-73BE-AD80-979E15F7E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447" y="3429000"/>
            <a:ext cx="7583284" cy="2675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F5A8E9B-C60F-AD82-AC51-E41F555FD933}"/>
              </a:ext>
            </a:extLst>
          </p:cNvPr>
          <p:cNvSpPr txBox="1"/>
          <p:nvPr/>
        </p:nvSpPr>
        <p:spPr>
          <a:xfrm>
            <a:off x="3707026" y="3105478"/>
            <a:ext cx="1223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4 weeks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6D7EAC-1642-167D-05CF-5DF5FDFFABB8}"/>
              </a:ext>
            </a:extLst>
          </p:cNvPr>
          <p:cNvSpPr txBox="1"/>
          <p:nvPr/>
        </p:nvSpPr>
        <p:spPr>
          <a:xfrm>
            <a:off x="5016841" y="3098176"/>
            <a:ext cx="1223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 week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9AA859-C593-083E-5557-1B45FD6961CF}"/>
              </a:ext>
            </a:extLst>
          </p:cNvPr>
          <p:cNvSpPr txBox="1"/>
          <p:nvPr/>
        </p:nvSpPr>
        <p:spPr>
          <a:xfrm>
            <a:off x="3377513" y="4189627"/>
            <a:ext cx="1223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3 weeks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375D31-55CA-5DA4-85C1-D0C3C7E8C7D8}"/>
              </a:ext>
            </a:extLst>
          </p:cNvPr>
          <p:cNvSpPr txBox="1"/>
          <p:nvPr/>
        </p:nvSpPr>
        <p:spPr>
          <a:xfrm>
            <a:off x="6326656" y="3098176"/>
            <a:ext cx="1223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2 weeks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753194-5A4B-0DC4-5596-74D5924E6473}"/>
              </a:ext>
            </a:extLst>
          </p:cNvPr>
          <p:cNvSpPr txBox="1"/>
          <p:nvPr/>
        </p:nvSpPr>
        <p:spPr>
          <a:xfrm>
            <a:off x="5103337" y="5071348"/>
            <a:ext cx="1223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4 weeks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3937EB-F597-032D-5967-13866C5CE92C}"/>
              </a:ext>
            </a:extLst>
          </p:cNvPr>
          <p:cNvSpPr txBox="1"/>
          <p:nvPr/>
        </p:nvSpPr>
        <p:spPr>
          <a:xfrm>
            <a:off x="4205415" y="5991713"/>
            <a:ext cx="1223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3 weeks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4C58C9-A3FD-D281-4663-9FB7524D0EB8}"/>
              </a:ext>
            </a:extLst>
          </p:cNvPr>
          <p:cNvSpPr txBox="1"/>
          <p:nvPr/>
        </p:nvSpPr>
        <p:spPr>
          <a:xfrm>
            <a:off x="6240160" y="6025166"/>
            <a:ext cx="1223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2 weeks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FB2A7-39AD-35B5-B654-06BCC8B54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4E1D90-EC03-720B-2B87-D80CB5DBBC45}"/>
              </a:ext>
            </a:extLst>
          </p:cNvPr>
          <p:cNvSpPr txBox="1"/>
          <p:nvPr/>
        </p:nvSpPr>
        <p:spPr>
          <a:xfrm>
            <a:off x="566928" y="310896"/>
            <a:ext cx="1105783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 dirty="0">
                <a:solidFill>
                  <a:srgbClr val="002464"/>
                </a:solidFill>
                <a:latin typeface="Arial"/>
              </a:rPr>
              <a:t>The critical path</a:t>
            </a:r>
            <a:r>
              <a:rPr lang="en-AU" sz="3000" b="1" i="0" dirty="0">
                <a:solidFill>
                  <a:srgbClr val="002464"/>
                </a:solidFill>
                <a:latin typeface="Arial"/>
              </a:rPr>
              <a:t> and float</a:t>
            </a:r>
            <a:endParaRPr sz="3000" b="1" i="0" dirty="0">
              <a:solidFill>
                <a:srgbClr val="002464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0445F3-5229-9AFA-F85F-7FA81361E5E9}"/>
              </a:ext>
            </a:extLst>
          </p:cNvPr>
          <p:cNvSpPr/>
          <p:nvPr/>
        </p:nvSpPr>
        <p:spPr>
          <a:xfrm>
            <a:off x="566928" y="1152144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72C9E3-8D66-008F-1243-80BC82E4E0EC}"/>
              </a:ext>
            </a:extLst>
          </p:cNvPr>
          <p:cNvSpPr txBox="1"/>
          <p:nvPr/>
        </p:nvSpPr>
        <p:spPr>
          <a:xfrm>
            <a:off x="566928" y="6382512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 3: Scheduling and Cost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87CFE4-91BE-23B7-E910-83ACCE0A2D72}"/>
              </a:ext>
            </a:extLst>
          </p:cNvPr>
          <p:cNvSpPr txBox="1"/>
          <p:nvPr/>
        </p:nvSpPr>
        <p:spPr>
          <a:xfrm>
            <a:off x="11076432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>
                <a:solidFill>
                  <a:srgbClr val="8A93A6"/>
                </a:solidFill>
                <a:latin typeface="Arial"/>
              </a:rPr>
              <a:t>10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260446D-FDCC-BE63-AA0A-7C7C39E72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297" y="2763128"/>
            <a:ext cx="7608820" cy="37839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F65BDB-535E-D91A-3812-38912DB76E98}"/>
              </a:ext>
            </a:extLst>
          </p:cNvPr>
          <p:cNvSpPr txBox="1"/>
          <p:nvPr/>
        </p:nvSpPr>
        <p:spPr>
          <a:xfrm>
            <a:off x="566927" y="1426464"/>
            <a:ext cx="11057839" cy="1303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900" b="0" dirty="0">
                <a:latin typeface="Arial"/>
              </a:rPr>
              <a:t>•</a:t>
            </a:r>
            <a:r>
              <a:rPr lang="en-AU" sz="1900" b="0" dirty="0">
                <a:latin typeface="Arial"/>
              </a:rPr>
              <a:t>   Now, with software such as MS Project, they calculate critical path and slack/float automatically.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lang="en-AU" sz="1900" dirty="0">
                <a:latin typeface="Arial"/>
              </a:rPr>
              <a:t>•   How do we calculate them by hand, especially when critical path is not obvious.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lang="en-AU" sz="1900" dirty="0">
                <a:latin typeface="Arial"/>
              </a:rPr>
              <a:t>•   Please check out the recorded session on Canvas. </a:t>
            </a:r>
            <a:endParaRPr sz="1900" b="0" dirty="0">
              <a:latin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CA9B9F-091D-C8C7-B304-0FE137C25E30}"/>
              </a:ext>
            </a:extLst>
          </p:cNvPr>
          <p:cNvSpPr txBox="1"/>
          <p:nvPr/>
        </p:nvSpPr>
        <p:spPr>
          <a:xfrm>
            <a:off x="6570708" y="6415870"/>
            <a:ext cx="6098058" cy="286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lang="en-AU" sz="1200" i="1" dirty="0">
                <a:solidFill>
                  <a:schemeClr val="bg1">
                    <a:lumMod val="50000"/>
                  </a:schemeClr>
                </a:solidFill>
                <a:latin typeface="Arial"/>
              </a:rPr>
              <a:t>(Project Management: A Socio-technical Approach, 2024)</a:t>
            </a:r>
          </a:p>
        </p:txBody>
      </p:sp>
    </p:spTree>
    <p:extLst>
      <p:ext uri="{BB962C8B-B14F-4D97-AF65-F5344CB8AC3E}">
        <p14:creationId xmlns:p14="http://schemas.microsoft.com/office/powerpoint/2010/main" val="2186229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002464"/>
                </a:solidFill>
                <a:latin typeface="Arial"/>
              </a:rPr>
              <a:t>The Gantt chart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 3: Scheduling and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6432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>
                <a:solidFill>
                  <a:srgbClr val="8A93A6"/>
                </a:solidFill>
                <a:latin typeface="Arial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7" y="1369129"/>
            <a:ext cx="11057839" cy="85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lang="en-AU" sz="1900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sz="1900" dirty="0">
                <a:solidFill>
                  <a:srgbClr val="292934"/>
                </a:solidFill>
                <a:latin typeface="Arial"/>
              </a:rPr>
              <a:t>Named after Henry Gantt, around 1910 — still the standard way to show a plan</a:t>
            </a:r>
            <a:endParaRPr lang="en-AU" sz="1700" b="0" dirty="0">
              <a:solidFill>
                <a:srgbClr val="0066CC"/>
              </a:solidFill>
              <a:latin typeface="Arial"/>
            </a:endParaRP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Time across the top, tasks down the side, bars for duration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CCC679-B91D-6069-8712-09529540F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100" y="2342043"/>
            <a:ext cx="8048932" cy="39667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18D00-5768-635C-4964-44D323405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A5E8D5-A3D0-04A5-08E3-22BF5BE3FB5E}"/>
              </a:ext>
            </a:extLst>
          </p:cNvPr>
          <p:cNvSpPr txBox="1"/>
          <p:nvPr/>
        </p:nvSpPr>
        <p:spPr>
          <a:xfrm>
            <a:off x="566928" y="310896"/>
            <a:ext cx="1105783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3000" b="1" i="0" dirty="0">
                <a:solidFill>
                  <a:srgbClr val="002464"/>
                </a:solidFill>
                <a:latin typeface="Arial"/>
              </a:rPr>
              <a:t>The Gantt chart</a:t>
            </a:r>
            <a:r>
              <a:rPr lang="en-AU" sz="3000" b="1" dirty="0">
                <a:solidFill>
                  <a:srgbClr val="002464"/>
                </a:solidFill>
                <a:latin typeface="Arial"/>
              </a:rPr>
              <a:t> — LIVE Demonstration</a:t>
            </a:r>
            <a:endParaRPr sz="3000" b="1" i="0" dirty="0">
              <a:solidFill>
                <a:srgbClr val="002464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030F52-A506-B2E4-619F-8036AB9F64DA}"/>
              </a:ext>
            </a:extLst>
          </p:cNvPr>
          <p:cNvSpPr/>
          <p:nvPr/>
        </p:nvSpPr>
        <p:spPr>
          <a:xfrm>
            <a:off x="566928" y="1152144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DB6061-E575-3858-8D0A-748829CF96ED}"/>
              </a:ext>
            </a:extLst>
          </p:cNvPr>
          <p:cNvSpPr txBox="1"/>
          <p:nvPr/>
        </p:nvSpPr>
        <p:spPr>
          <a:xfrm>
            <a:off x="566928" y="6382512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 3: Scheduling and Cost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343920-E3F8-876E-7E20-5CE7B9802792}"/>
              </a:ext>
            </a:extLst>
          </p:cNvPr>
          <p:cNvSpPr txBox="1"/>
          <p:nvPr/>
        </p:nvSpPr>
        <p:spPr>
          <a:xfrm>
            <a:off x="11076432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>
                <a:solidFill>
                  <a:srgbClr val="8A93A6"/>
                </a:solidFill>
                <a:latin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65884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350DE-0AD6-AD1B-C93C-57EC113E6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D4F62F-D93F-7691-578C-2FC476CF17C9}"/>
              </a:ext>
            </a:extLst>
          </p:cNvPr>
          <p:cNvSpPr txBox="1"/>
          <p:nvPr/>
        </p:nvSpPr>
        <p:spPr>
          <a:xfrm>
            <a:off x="566928" y="310896"/>
            <a:ext cx="1105783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lang="en-AU" sz="3000" b="1" i="0" dirty="0">
                <a:solidFill>
                  <a:srgbClr val="002464"/>
                </a:solidFill>
                <a:latin typeface="Arial"/>
              </a:rPr>
              <a:t>Principles of scheduling</a:t>
            </a:r>
            <a:endParaRPr sz="3000" b="1" i="0" dirty="0">
              <a:solidFill>
                <a:srgbClr val="002464"/>
              </a:solidFill>
              <a:latin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829A11-5744-8D15-624B-00941664E7D8}"/>
              </a:ext>
            </a:extLst>
          </p:cNvPr>
          <p:cNvSpPr/>
          <p:nvPr/>
        </p:nvSpPr>
        <p:spPr>
          <a:xfrm>
            <a:off x="566928" y="1152144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E6F169-6D74-D609-6C92-8E762D000145}"/>
              </a:ext>
            </a:extLst>
          </p:cNvPr>
          <p:cNvSpPr txBox="1"/>
          <p:nvPr/>
        </p:nvSpPr>
        <p:spPr>
          <a:xfrm>
            <a:off x="566928" y="6382512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 3: Scheduling and Cost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026A8E-5756-62C5-3512-B63A0361ADF5}"/>
              </a:ext>
            </a:extLst>
          </p:cNvPr>
          <p:cNvSpPr txBox="1"/>
          <p:nvPr/>
        </p:nvSpPr>
        <p:spPr>
          <a:xfrm>
            <a:off x="11076432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>
                <a:solidFill>
                  <a:srgbClr val="8A93A6"/>
                </a:solidFill>
                <a:latin typeface="Arial"/>
              </a:rPr>
              <a:t>13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70FF30-75D6-1E32-1E01-79157A137B07}"/>
              </a:ext>
            </a:extLst>
          </p:cNvPr>
          <p:cNvSpPr txBox="1"/>
          <p:nvPr/>
        </p:nvSpPr>
        <p:spPr>
          <a:xfrm>
            <a:off x="566928" y="1426464"/>
            <a:ext cx="11057839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8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sz="2800" dirty="0">
                <a:latin typeface="Arial"/>
              </a:rPr>
              <a:t>Start every task immediately or sooner unless that is impossible</a:t>
            </a:r>
            <a:endParaRPr sz="4400" b="0" dirty="0">
              <a:solidFill>
                <a:srgbClr val="292934"/>
              </a:solidFill>
              <a:latin typeface="Arial"/>
            </a:endParaRPr>
          </a:p>
          <a:p>
            <a:pPr>
              <a:spcAft>
                <a:spcPts val="1200"/>
              </a:spcAft>
            </a:pPr>
            <a:r>
              <a:rPr sz="28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sz="2800" dirty="0">
                <a:latin typeface="Arial"/>
              </a:rPr>
              <a:t>Finish the project as soon as possible, without compromising quality or blowing the budget</a:t>
            </a:r>
          </a:p>
          <a:p>
            <a:pPr>
              <a:spcAft>
                <a:spcPts val="1200"/>
              </a:spcAft>
            </a:pPr>
            <a:r>
              <a:rPr sz="28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sz="2800" dirty="0">
                <a:latin typeface="Arial"/>
              </a:rPr>
              <a:t>Do as many tasks concurrently as you can, but . . .</a:t>
            </a:r>
          </a:p>
          <a:p>
            <a:pPr>
              <a:spcAft>
                <a:spcPts val="1200"/>
              </a:spcAft>
            </a:pPr>
            <a:r>
              <a:rPr sz="28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sz="2800" dirty="0">
                <a:latin typeface="Arial"/>
              </a:rPr>
              <a:t>Respect dependencies between tasks</a:t>
            </a:r>
          </a:p>
        </p:txBody>
      </p:sp>
    </p:spTree>
    <p:extLst>
      <p:ext uri="{BB962C8B-B14F-4D97-AF65-F5344CB8AC3E}">
        <p14:creationId xmlns:p14="http://schemas.microsoft.com/office/powerpoint/2010/main" val="3279915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002464"/>
                </a:solidFill>
                <a:latin typeface="Arial"/>
              </a:rPr>
              <a:t>What your Gantt chart must show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52144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 3: Scheduling and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432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>
                <a:solidFill>
                  <a:srgbClr val="8A93A6"/>
                </a:solidFill>
                <a:latin typeface="Arial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26464"/>
            <a:ext cx="11057839" cy="3670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All tasks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 from your WBS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Dependencies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 between tasks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Start and finish dates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 for every task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The 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critical path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, clearly indicated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Milestones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 as zero-duration tasks — diamonds by convention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Every task planned to start 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as early as it can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; if it does not start on day one, it needs a predecessor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 dirty="0">
                <a:solidFill>
                  <a:srgbClr val="002464"/>
                </a:solidFill>
                <a:latin typeface="Arial"/>
              </a:rPr>
              <a:t>Different projects need different scheduling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82512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 3: Scheduling and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432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>
                <a:solidFill>
                  <a:srgbClr val="8A93A6"/>
                </a:solidFill>
                <a:latin typeface="Arial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64208"/>
            <a:ext cx="6377569" cy="2236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sz="2400" b="1" dirty="0">
                <a:solidFill>
                  <a:srgbClr val="0066CC"/>
                </a:solidFill>
                <a:latin typeface="Arial"/>
              </a:rPr>
              <a:t>Predictive </a:t>
            </a:r>
            <a:r>
              <a:rPr lang="en-AU" sz="2400" dirty="0">
                <a:latin typeface="Arial"/>
              </a:rPr>
              <a:t>approaches</a:t>
            </a:r>
            <a:r>
              <a:rPr lang="en-AU" sz="2400" b="1" dirty="0">
                <a:solidFill>
                  <a:srgbClr val="0066CC"/>
                </a:solidFill>
                <a:latin typeface="Arial"/>
              </a:rPr>
              <a:t>:</a:t>
            </a:r>
          </a:p>
          <a:p>
            <a:pPr lvl="1">
              <a:lnSpc>
                <a:spcPct val="115000"/>
              </a:lnSpc>
              <a:spcAft>
                <a:spcPts val="1300"/>
              </a:spcAft>
            </a:pPr>
            <a:r>
              <a:rPr lang="en-AU" sz="200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000" b="1" dirty="0">
                <a:solidFill>
                  <a:srgbClr val="0066CC"/>
                </a:solidFill>
                <a:latin typeface="Arial"/>
              </a:rPr>
              <a:t>Waterfall</a:t>
            </a:r>
            <a:r>
              <a:rPr sz="2000" b="0" dirty="0">
                <a:solidFill>
                  <a:srgbClr val="292934"/>
                </a:solidFill>
                <a:latin typeface="Arial"/>
              </a:rPr>
              <a:t> — specify, then build. Suits work you can define up front</a:t>
            </a:r>
          </a:p>
          <a:p>
            <a:pPr lvl="1">
              <a:lnSpc>
                <a:spcPct val="115000"/>
              </a:lnSpc>
              <a:spcAft>
                <a:spcPts val="1300"/>
              </a:spcAft>
            </a:pPr>
            <a:r>
              <a:rPr sz="20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000" b="1" dirty="0">
                <a:solidFill>
                  <a:srgbClr val="0066CC"/>
                </a:solidFill>
                <a:latin typeface="Arial"/>
              </a:rPr>
              <a:t>Incremental</a:t>
            </a:r>
            <a:r>
              <a:rPr sz="2000" b="0" dirty="0">
                <a:solidFill>
                  <a:srgbClr val="292934"/>
                </a:solidFill>
                <a:latin typeface="Arial"/>
              </a:rPr>
              <a:t> — build in usable chunks, each adding capability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EA4820-8EBA-AD0D-65AC-0A9128F2FDDA}"/>
              </a:ext>
            </a:extLst>
          </p:cNvPr>
          <p:cNvSpPr/>
          <p:nvPr/>
        </p:nvSpPr>
        <p:spPr>
          <a:xfrm>
            <a:off x="566928" y="1152144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C479E9-ADD9-3C64-2D91-7D2B3056E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5707" y="2083742"/>
            <a:ext cx="5025939" cy="420682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4D0AD6D-2E72-F258-5C0E-39A28D691A7C}"/>
              </a:ext>
            </a:extLst>
          </p:cNvPr>
          <p:cNvSpPr txBox="1"/>
          <p:nvPr/>
        </p:nvSpPr>
        <p:spPr>
          <a:xfrm>
            <a:off x="7492161" y="6193197"/>
            <a:ext cx="6098058" cy="286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lang="en-AU" sz="1200" i="1" dirty="0">
                <a:solidFill>
                  <a:schemeClr val="bg1">
                    <a:lumMod val="50000"/>
                  </a:schemeClr>
                </a:solidFill>
                <a:latin typeface="Arial"/>
              </a:rPr>
              <a:t>Project Management: A Socio-technical Approach, 2024)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333C7-18B9-415B-EA0A-850143D65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717C8A6-39B2-25F9-D9B9-16E87433EA77}"/>
              </a:ext>
            </a:extLst>
          </p:cNvPr>
          <p:cNvSpPr txBox="1"/>
          <p:nvPr/>
        </p:nvSpPr>
        <p:spPr>
          <a:xfrm>
            <a:off x="566928" y="6382512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 3: Scheduling and Cost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23C466-CA30-A181-6A22-872BCD51E314}"/>
              </a:ext>
            </a:extLst>
          </p:cNvPr>
          <p:cNvSpPr txBox="1"/>
          <p:nvPr/>
        </p:nvSpPr>
        <p:spPr>
          <a:xfrm>
            <a:off x="11076432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>
                <a:solidFill>
                  <a:srgbClr val="8A93A6"/>
                </a:solidFill>
                <a:latin typeface="Arial"/>
              </a:rPr>
              <a:t>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454FA9-FF9A-BBDE-15E8-4FD96A5EC9FB}"/>
              </a:ext>
            </a:extLst>
          </p:cNvPr>
          <p:cNvSpPr txBox="1"/>
          <p:nvPr/>
        </p:nvSpPr>
        <p:spPr>
          <a:xfrm>
            <a:off x="566927" y="1577711"/>
            <a:ext cx="11057839" cy="1921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2400" b="1" dirty="0">
                <a:solidFill>
                  <a:srgbClr val="0066CC"/>
                </a:solidFill>
                <a:latin typeface="Arial"/>
              </a:rPr>
              <a:t>Iterative</a:t>
            </a:r>
            <a:r>
              <a:rPr sz="2400" b="0" dirty="0">
                <a:solidFill>
                  <a:srgbClr val="292934"/>
                </a:solidFill>
                <a:latin typeface="Arial"/>
              </a:rPr>
              <a:t> — build a version, evaluate, refine. Suits work where the answer</a:t>
            </a:r>
            <a:r>
              <a:rPr lang="en-AU" sz="2400" b="0" dirty="0">
                <a:solidFill>
                  <a:srgbClr val="292934"/>
                </a:solidFill>
                <a:latin typeface="Arial"/>
              </a:rPr>
              <a:t> emerges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lang="en-AU" sz="2400" dirty="0">
                <a:solidFill>
                  <a:srgbClr val="0066CC"/>
                </a:solidFill>
                <a:latin typeface="Arial"/>
              </a:rPr>
              <a:t>• </a:t>
            </a:r>
            <a:r>
              <a:rPr lang="en-AU" sz="2400" dirty="0">
                <a:solidFill>
                  <a:srgbClr val="292934"/>
                </a:solidFill>
                <a:latin typeface="Arial"/>
              </a:rPr>
              <a:t>  From delivery oriented to process oriented. What feedback you are trying to get from each iteration?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9AF7F7-D36A-6827-D2AA-16F1D0673C05}"/>
              </a:ext>
            </a:extLst>
          </p:cNvPr>
          <p:cNvSpPr txBox="1"/>
          <p:nvPr/>
        </p:nvSpPr>
        <p:spPr>
          <a:xfrm>
            <a:off x="566928" y="310896"/>
            <a:ext cx="110578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 dirty="0">
                <a:solidFill>
                  <a:srgbClr val="002464"/>
                </a:solidFill>
                <a:latin typeface="Arial"/>
              </a:rPr>
              <a:t>Different projects need different scheduling logic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6F214F-D503-71A7-CD23-C5DF06425984}"/>
              </a:ext>
            </a:extLst>
          </p:cNvPr>
          <p:cNvSpPr/>
          <p:nvPr/>
        </p:nvSpPr>
        <p:spPr>
          <a:xfrm>
            <a:off x="566928" y="1152144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2894C53-E5E3-8EEF-C8E2-99A94A573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503" y="3500826"/>
            <a:ext cx="7491627" cy="293623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01822C9-9BDA-4C60-B92A-96DF9EC80F83}"/>
              </a:ext>
            </a:extLst>
          </p:cNvPr>
          <p:cNvSpPr txBox="1"/>
          <p:nvPr/>
        </p:nvSpPr>
        <p:spPr>
          <a:xfrm>
            <a:off x="3562712" y="6094523"/>
            <a:ext cx="6098058" cy="286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lang="en-AU" sz="1200" i="1" dirty="0">
                <a:solidFill>
                  <a:schemeClr val="bg1">
                    <a:lumMod val="50000"/>
                  </a:schemeClr>
                </a:solidFill>
                <a:latin typeface="Arial"/>
              </a:rPr>
              <a:t>Project Management: A Socio-technical Approach, 2024)</a:t>
            </a:r>
          </a:p>
        </p:txBody>
      </p:sp>
    </p:spTree>
    <p:extLst>
      <p:ext uri="{BB962C8B-B14F-4D97-AF65-F5344CB8AC3E}">
        <p14:creationId xmlns:p14="http://schemas.microsoft.com/office/powerpoint/2010/main" val="29338276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lang="en-AU" sz="3000" b="1" i="0" dirty="0">
                <a:solidFill>
                  <a:srgbClr val="002464"/>
                </a:solidFill>
                <a:latin typeface="Arial"/>
              </a:rPr>
              <a:t>Choosing an approach for your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76432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>
                <a:solidFill>
                  <a:srgbClr val="8A93A6"/>
                </a:solidFill>
                <a:latin typeface="Arial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1057839" cy="5400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4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sz="2400" dirty="0">
                <a:solidFill>
                  <a:srgbClr val="292934"/>
                </a:solidFill>
                <a:latin typeface="Arial"/>
              </a:rPr>
              <a:t>Two things to consider when choosing a suitable scheduling approach: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AU" sz="2400" dirty="0">
                <a:solidFill>
                  <a:srgbClr val="0066CC"/>
                </a:solidFill>
                <a:latin typeface="Arial"/>
              </a:rPr>
              <a:t>•   </a:t>
            </a:r>
            <a:r>
              <a:rPr lang="en-AU" sz="2400" dirty="0">
                <a:latin typeface="Arial"/>
              </a:rPr>
              <a:t>First is the project itself: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AU" sz="2400" b="1" dirty="0">
                <a:solidFill>
                  <a:srgbClr val="0066CC"/>
                </a:solidFill>
                <a:latin typeface="Arial"/>
              </a:rPr>
              <a:t>	</a:t>
            </a:r>
            <a:r>
              <a:rPr sz="2000" b="1" i="1" dirty="0">
                <a:solidFill>
                  <a:srgbClr val="0066CC"/>
                </a:solidFill>
                <a:latin typeface="Arial"/>
              </a:rPr>
              <a:t>Design and build</a:t>
            </a:r>
            <a:r>
              <a:rPr sz="2000" b="0" i="1" dirty="0">
                <a:solidFill>
                  <a:srgbClr val="292934"/>
                </a:solidFill>
                <a:latin typeface="Arial"/>
              </a:rPr>
              <a:t> — waterfall with a prototype increment. You can specify up front</a:t>
            </a:r>
            <a:r>
              <a:rPr lang="en-AU" i="1" dirty="0">
                <a:solidFill>
                  <a:srgbClr val="292934"/>
                </a:solidFill>
                <a:latin typeface="Arial"/>
              </a:rPr>
              <a:t>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AU" b="1" i="1" dirty="0">
                <a:solidFill>
                  <a:srgbClr val="292934"/>
                </a:solidFill>
                <a:latin typeface="Arial"/>
              </a:rPr>
              <a:t>	</a:t>
            </a:r>
            <a:r>
              <a:rPr sz="2000" b="1" i="1" dirty="0">
                <a:solidFill>
                  <a:srgbClr val="0066CC"/>
                </a:solidFill>
                <a:latin typeface="Arial"/>
              </a:rPr>
              <a:t>Simulation </a:t>
            </a:r>
            <a:r>
              <a:rPr lang="en-AU" sz="2000" b="1" i="1" dirty="0">
                <a:solidFill>
                  <a:srgbClr val="0066CC"/>
                </a:solidFill>
                <a:latin typeface="Arial"/>
              </a:rPr>
              <a:t>or machine learning</a:t>
            </a:r>
            <a:r>
              <a:rPr sz="2000" b="0" i="1" dirty="0">
                <a:solidFill>
                  <a:srgbClr val="292934"/>
                </a:solidFill>
                <a:latin typeface="Arial"/>
              </a:rPr>
              <a:t> — iterative. The model-run-compare cycle is your estimating unit</a:t>
            </a:r>
            <a:r>
              <a:rPr lang="en-AU" sz="2000" b="0" i="1" dirty="0">
                <a:solidFill>
                  <a:srgbClr val="292934"/>
                </a:solidFill>
                <a:latin typeface="Arial"/>
              </a:rPr>
              <a:t>. </a:t>
            </a:r>
            <a:r>
              <a:rPr sz="2000" b="0" i="1" dirty="0">
                <a:solidFill>
                  <a:srgbClr val="292934"/>
                </a:solidFill>
                <a:latin typeface="Arial"/>
              </a:rPr>
              <a:t>Each experiment sets the next question</a:t>
            </a:r>
            <a:endParaRPr lang="en-AU" sz="2000" b="0" i="1" dirty="0">
              <a:solidFill>
                <a:srgbClr val="292934"/>
              </a:solidFill>
              <a:latin typeface="Arial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AU" sz="2000" b="0" i="1" dirty="0">
              <a:solidFill>
                <a:srgbClr val="292934"/>
              </a:solidFill>
              <a:latin typeface="Arial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AU" sz="2400" dirty="0">
                <a:latin typeface="Arial"/>
              </a:rPr>
              <a:t>•   Second is how much you know about the project: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AU" sz="2000" b="0" dirty="0">
                <a:solidFill>
                  <a:srgbClr val="292934"/>
                </a:solidFill>
                <a:latin typeface="Arial"/>
              </a:rPr>
              <a:t>	</a:t>
            </a:r>
            <a:r>
              <a:rPr lang="en-AU" sz="2000" b="0" i="1" dirty="0">
                <a:solidFill>
                  <a:srgbClr val="292934"/>
                </a:solidFill>
                <a:latin typeface="Arial"/>
              </a:rPr>
              <a:t>Scopes, expected workflow, results, etc…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AU" sz="2000" dirty="0">
              <a:solidFill>
                <a:srgbClr val="292934"/>
              </a:solidFill>
              <a:latin typeface="Arial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AU" sz="2400" b="1" dirty="0">
                <a:solidFill>
                  <a:srgbClr val="292934"/>
                </a:solidFill>
                <a:latin typeface="Arial"/>
              </a:rPr>
              <a:t>There is no correct or wrong way to schedule your capstone project. See demonstration #2.	</a:t>
            </a:r>
            <a:endParaRPr sz="2400" b="1" dirty="0">
              <a:solidFill>
                <a:srgbClr val="292934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002464"/>
                </a:solidFill>
                <a:latin typeface="Arial"/>
              </a:rPr>
              <a:t>This week and next week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52144"/>
            <a:ext cx="11057839" cy="27940"/>
          </a:xfrm>
          <a:prstGeom prst="rect">
            <a:avLst/>
          </a:prstGeom>
          <a:solidFill>
            <a:srgbClr val="D9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6382512"/>
            <a:ext cx="105091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6"/>
                </a:solidFill>
                <a:latin typeface="Arial"/>
              </a:rPr>
              <a:t>ENGR90037 Capstone  ·  Lecture 3: Scheduling and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6432" y="6382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>
                <a:solidFill>
                  <a:srgbClr val="8A93A6"/>
                </a:solidFill>
                <a:latin typeface="Arial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1057839" cy="4791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Estimate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effort, duration and cost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for every task in your WBS</a:t>
            </a:r>
          </a:p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Draft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§3 Cost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in your Charter — and check the arithmetic</a:t>
            </a:r>
          </a:p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Build your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Gantt chart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, with the critical path marked</a:t>
            </a:r>
          </a:p>
          <a:p>
            <a:pPr>
              <a:lnSpc>
                <a:spcPct val="115000"/>
              </a:lnSpc>
              <a:spcAft>
                <a:spcPts val="2000"/>
              </a:spcAft>
            </a:pPr>
            <a:r>
              <a:rPr sz="1900" b="0" dirty="0">
                <a:solidFill>
                  <a:srgbClr val="0066CC"/>
                </a:solidFill>
                <a:latin typeface="Arial"/>
              </a:rPr>
              <a:t>•   </a:t>
            </a:r>
            <a:r>
              <a:rPr sz="1900" b="1" dirty="0">
                <a:solidFill>
                  <a:srgbClr val="0066CC"/>
                </a:solidFill>
                <a:latin typeface="Arial"/>
              </a:rPr>
              <a:t>Next week:</a:t>
            </a:r>
            <a:r>
              <a:rPr sz="1900" b="0" dirty="0">
                <a:solidFill>
                  <a:srgbClr val="292934"/>
                </a:solidFill>
                <a:latin typeface="Arial"/>
              </a:rPr>
              <a:t> what could go wrong, and what must go right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5644</TotalTime>
  <Words>1452</Words>
  <Application>Microsoft Macintosh PowerPoint</Application>
  <PresentationFormat>Widescreen</PresentationFormat>
  <Paragraphs>189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Yimin Li</cp:lastModifiedBy>
  <cp:revision>15</cp:revision>
  <dcterms:created xsi:type="dcterms:W3CDTF">2013-01-27T09:14:16Z</dcterms:created>
  <dcterms:modified xsi:type="dcterms:W3CDTF">2026-08-14T02:02:45Z</dcterms:modified>
  <cp:category/>
</cp:coreProperties>
</file>