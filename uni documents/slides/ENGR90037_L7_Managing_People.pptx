
<file path=[Content_Types].xml><?xml version="1.0" encoding="utf-8"?>
<Types xmlns="http://schemas.openxmlformats.org/package/2006/content-types">
  <Default Extension="emf" ContentType="image/x-em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8" r:id="rId3"/>
    <p:sldId id="257" r:id="rId4"/>
    <p:sldId id="260" r:id="rId5"/>
    <p:sldId id="261" r:id="rId6"/>
    <p:sldId id="262" r:id="rId7"/>
    <p:sldId id="279" r:id="rId8"/>
    <p:sldId id="280" r:id="rId9"/>
    <p:sldId id="264" r:id="rId10"/>
    <p:sldId id="281" r:id="rId11"/>
    <p:sldId id="265" r:id="rId12"/>
    <p:sldId id="266" r:id="rId13"/>
    <p:sldId id="267" r:id="rId14"/>
    <p:sldId id="269" r:id="rId15"/>
    <p:sldId id="270" r:id="rId16"/>
    <p:sldId id="271" r:id="rId17"/>
    <p:sldId id="282" r:id="rId18"/>
    <p:sldId id="272" r:id="rId19"/>
    <p:sldId id="273" r:id="rId20"/>
    <p:sldId id="274" r:id="rId21"/>
    <p:sldId id="283" r:id="rId22"/>
    <p:sldId id="284" r:id="rId23"/>
    <p:sldId id="28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04:33:36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24575,'-2'5'0,"0"-2"0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04:33:36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24575,'-2'5'0,"0"-2"0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17/06/relationships/model3d" Target="../media/model3d1.glb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794760"/>
          </a:xfrm>
          <a:prstGeom prst="rect">
            <a:avLst/>
          </a:prstGeom>
          <a:solidFill>
            <a:srgbClr val="002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FB4E8"/>
                </a:solidFill>
                <a:latin typeface="Arial"/>
              </a:rPr>
              <a:t>ENGR90037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57839" cy="85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5200" b="1" dirty="0">
                <a:solidFill>
                  <a:srgbClr val="FFFFFF"/>
                </a:solidFill>
                <a:latin typeface="Arial"/>
              </a:rPr>
              <a:t>People management</a:t>
            </a:r>
            <a:endParaRPr sz="5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2487168"/>
            <a:ext cx="110578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8FB4E8"/>
                </a:solidFill>
                <a:latin typeface="Arial"/>
              </a:rPr>
              <a:t>Lecture 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BCABBD-AC8F-076A-CD7B-D890D44EA940}"/>
              </a:ext>
            </a:extLst>
          </p:cNvPr>
          <p:cNvSpPr txBox="1"/>
          <p:nvPr/>
        </p:nvSpPr>
        <p:spPr>
          <a:xfrm>
            <a:off x="566927" y="6075438"/>
            <a:ext cx="110578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AU" sz="1600" b="1" dirty="0">
                <a:solidFill>
                  <a:srgbClr val="0066CC"/>
                </a:solidFill>
                <a:latin typeface="Arial"/>
              </a:rPr>
              <a:t>Yimin &amp; Bagus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6378D-D485-28AF-B7C2-6D9003F26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61231E-4A9F-C72C-7985-027F740CDAC8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i="0" dirty="0">
                <a:solidFill>
                  <a:srgbClr val="002464"/>
                </a:solidFill>
                <a:latin typeface="Arial"/>
              </a:rPr>
              <a:t>The PMI Talent Triangle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9A4636-05C7-9AA9-D7BB-2CA8C48BE749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F4AA1-A865-79C8-9C12-C24C840E0BCF}"/>
              </a:ext>
            </a:extLst>
          </p:cNvPr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49097-7FA6-69B1-8E9C-74B935BA3C82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5628A5-379C-DFD7-D739-F7B320153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009" y="1567594"/>
            <a:ext cx="4625902" cy="4134345"/>
          </a:xfrm>
          <a:prstGeom prst="rect">
            <a:avLst/>
          </a:prstGeom>
        </p:spPr>
      </p:pic>
      <p:sp>
        <p:nvSpPr>
          <p:cNvPr id="10" name="Curved Right Arrow 9">
            <a:extLst>
              <a:ext uri="{FF2B5EF4-FFF2-40B4-BE49-F238E27FC236}">
                <a16:creationId xmlns:a16="http://schemas.microsoft.com/office/drawing/2014/main" id="{FF235EE5-78F7-0DB2-5545-9564F0FD32F3}"/>
              </a:ext>
            </a:extLst>
          </p:cNvPr>
          <p:cNvSpPr/>
          <p:nvPr/>
        </p:nvSpPr>
        <p:spPr>
          <a:xfrm rot="5400000">
            <a:off x="3432211" y="1009894"/>
            <a:ext cx="978887" cy="2670743"/>
          </a:xfrm>
          <a:prstGeom prst="curvedRightArrow">
            <a:avLst>
              <a:gd name="adj1" fmla="val 25000"/>
              <a:gd name="adj2" fmla="val 48939"/>
              <a:gd name="adj3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6E614D-3854-EF8F-4628-3CA81EA37DF6}"/>
              </a:ext>
            </a:extLst>
          </p:cNvPr>
          <p:cNvSpPr txBox="1"/>
          <p:nvPr/>
        </p:nvSpPr>
        <p:spPr>
          <a:xfrm>
            <a:off x="1392865" y="2910282"/>
            <a:ext cx="31047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/>
              </a:rPr>
              <a:t>Variety of frameworks and techniques to choose from, for predictive or agile projects.</a:t>
            </a:r>
          </a:p>
        </p:txBody>
      </p:sp>
      <p:sp>
        <p:nvSpPr>
          <p:cNvPr id="13" name="Curved Right Arrow 12">
            <a:extLst>
              <a:ext uri="{FF2B5EF4-FFF2-40B4-BE49-F238E27FC236}">
                <a16:creationId xmlns:a16="http://schemas.microsoft.com/office/drawing/2014/main" id="{B66282E1-44E6-B3E6-566D-740A43554039}"/>
              </a:ext>
            </a:extLst>
          </p:cNvPr>
          <p:cNvSpPr/>
          <p:nvPr/>
        </p:nvSpPr>
        <p:spPr>
          <a:xfrm rot="16200000">
            <a:off x="7933327" y="3100658"/>
            <a:ext cx="978887" cy="2670743"/>
          </a:xfrm>
          <a:prstGeom prst="curvedRightArrow">
            <a:avLst>
              <a:gd name="adj1" fmla="val 25000"/>
              <a:gd name="adj2" fmla="val 48939"/>
              <a:gd name="adj3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0CFC56-6F37-DB96-139C-6C0CA277AE4C}"/>
              </a:ext>
            </a:extLst>
          </p:cNvPr>
          <p:cNvSpPr txBox="1"/>
          <p:nvPr/>
        </p:nvSpPr>
        <p:spPr>
          <a:xfrm>
            <a:off x="8319177" y="2699840"/>
            <a:ext cx="30257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/>
              </a:rPr>
              <a:t>Interpersonal skills: collaborative leadership, communication, empathy. </a:t>
            </a:r>
          </a:p>
        </p:txBody>
      </p:sp>
      <p:sp>
        <p:nvSpPr>
          <p:cNvPr id="16" name="Curved Right Arrow 15">
            <a:extLst>
              <a:ext uri="{FF2B5EF4-FFF2-40B4-BE49-F238E27FC236}">
                <a16:creationId xmlns:a16="http://schemas.microsoft.com/office/drawing/2014/main" id="{B44D050D-C3F0-9DC9-EF01-002C09D809E8}"/>
              </a:ext>
            </a:extLst>
          </p:cNvPr>
          <p:cNvSpPr/>
          <p:nvPr/>
        </p:nvSpPr>
        <p:spPr>
          <a:xfrm>
            <a:off x="3366743" y="5247729"/>
            <a:ext cx="648586" cy="988828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7CFA6F-E663-7DA4-4F99-63A573D7FC11}"/>
              </a:ext>
            </a:extLst>
          </p:cNvPr>
          <p:cNvSpPr txBox="1"/>
          <p:nvPr/>
        </p:nvSpPr>
        <p:spPr>
          <a:xfrm>
            <a:off x="4178594" y="5750559"/>
            <a:ext cx="5869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/>
              </a:rPr>
              <a:t>Understanding the broader organisational and market landscape. Includes financial literacy, strategic alignment, and data-driven decision-making.</a:t>
            </a: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8103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From managing the project to managing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26464"/>
            <a:ext cx="11057839" cy="4120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Managing the project is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deliverable-oriented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— you can point at what is finished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Managing people is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process-oriented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— there is no deliverable, only how you work</a:t>
            </a:r>
            <a:endParaRPr lang="en-AU" sz="24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This is not a psychology course. It is an introductory lecture on people management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We will not cover every aspect, and we will not go deep on any one of them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endParaRPr sz="2400" b="0" dirty="0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Manager and leader are two different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26464"/>
            <a:ext cx="11057839" cy="219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A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manager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copes with complexity — plans, budgets, schedules, controls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A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leader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copes with change — direction, alignment, motivation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"Managers do things right. Leaders do the right </a:t>
            </a:r>
            <a:r>
              <a:rPr sz="2400" dirty="0">
                <a:solidFill>
                  <a:srgbClr val="292934"/>
                </a:solidFill>
                <a:latin typeface="Arial"/>
              </a:rPr>
              <a:t>thing" 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― Warren G. Bennis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As project manager of your capstone, you are doing both jobs at once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625072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The more uncertain the project, the more leadership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1057839" cy="3529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A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routine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project with a known method needs mostly management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An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uncertain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project need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s leadership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to hold direction while the method is unclear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Software design, a research project, a novel prototype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: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the plan changes weekly</a:t>
            </a:r>
            <a:r>
              <a:rPr lang="en-AU" sz="2400" b="0" dirty="0">
                <a:solidFill>
                  <a:srgbClr val="292934"/>
                </a:solidFill>
                <a:latin typeface="Arial"/>
              </a:rPr>
              <a:t>, and sometime client does not know what exactly do they want</a:t>
            </a:r>
            <a:endParaRPr sz="24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COVID was the extreme case: no precedent, no method, decisions required daily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The paradoxes a project manager faces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1057839" cy="225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Innovate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an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d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stability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— encourage new ideas</a:t>
            </a:r>
            <a:r>
              <a:rPr lang="en-AU" sz="2400" b="0" dirty="0">
                <a:solidFill>
                  <a:srgbClr val="292934"/>
                </a:solidFill>
                <a:latin typeface="Arial"/>
              </a:rPr>
              <a:t> without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breaking the plan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B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ig picture and detail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— zoom out to steer, zoom in to check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individuals and team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—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</a:t>
            </a:r>
            <a:r>
              <a:rPr lang="en-AU" sz="2400" b="0" dirty="0">
                <a:solidFill>
                  <a:srgbClr val="292934"/>
                </a:solidFill>
                <a:latin typeface="Arial"/>
              </a:rPr>
              <a:t>encourage individuals and stress the team</a:t>
            </a:r>
            <a:endParaRPr sz="24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These are not problems to solve. They are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tensions to hold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85711-773F-DA6D-EB95-90423465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476AB3-0B6E-0405-6005-69EE9E3A590F}"/>
              </a:ext>
            </a:extLst>
          </p:cNvPr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The Eisenhower method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B5A787-2E35-57C9-A138-C32E78067A44}"/>
              </a:ext>
            </a:extLst>
          </p:cNvPr>
          <p:cNvSpPr/>
          <p:nvPr/>
        </p:nvSpPr>
        <p:spPr>
          <a:xfrm>
            <a:off x="566928" y="1088136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A48BB8-9806-F20E-15B5-4A2E2ADBD9DF}"/>
              </a:ext>
            </a:extLst>
          </p:cNvPr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89AED-6105-8947-EE6C-6CD69CE1C09C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5743A3-BEE4-E673-BADE-BF0AF7CC707D}"/>
              </a:ext>
            </a:extLst>
          </p:cNvPr>
          <p:cNvSpPr txBox="1"/>
          <p:nvPr/>
        </p:nvSpPr>
        <p:spPr>
          <a:xfrm>
            <a:off x="566927" y="1238905"/>
            <a:ext cx="9938039" cy="2324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dirty="0">
                <a:solidFill>
                  <a:srgbClr val="292934"/>
                </a:solidFill>
                <a:latin typeface="Arial"/>
              </a:rPr>
              <a:t>Evaluate every task on two axes: </a:t>
            </a:r>
            <a:r>
              <a:rPr lang="en-AU" b="1" dirty="0">
                <a:solidFill>
                  <a:srgbClr val="0066CC"/>
                </a:solidFill>
                <a:latin typeface="Arial"/>
              </a:rPr>
              <a:t>important / unimportant</a:t>
            </a:r>
            <a:r>
              <a:rPr lang="en-AU" dirty="0">
                <a:solidFill>
                  <a:srgbClr val="292934"/>
                </a:solidFill>
                <a:latin typeface="Arial"/>
              </a:rPr>
              <a:t> and </a:t>
            </a:r>
            <a:r>
              <a:rPr lang="en-AU" b="1" dirty="0">
                <a:solidFill>
                  <a:srgbClr val="0066CC"/>
                </a:solidFill>
                <a:latin typeface="Arial"/>
              </a:rPr>
              <a:t>urgent / not urgent</a:t>
            </a:r>
            <a:endParaRPr lang="en-AU" b="0" dirty="0">
              <a:solidFill>
                <a:srgbClr val="0066CC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dirty="0">
                <a:solidFill>
                  <a:srgbClr val="292934"/>
                </a:solidFill>
                <a:latin typeface="Arial"/>
              </a:rPr>
              <a:t>Not </a:t>
            </a:r>
            <a:r>
              <a:rPr b="0" dirty="0">
                <a:solidFill>
                  <a:srgbClr val="292934"/>
                </a:solidFill>
                <a:latin typeface="Arial"/>
              </a:rPr>
              <a:t>important and not urgent  →  </a:t>
            </a:r>
            <a:r>
              <a:rPr lang="en-AU" b="1" dirty="0">
                <a:solidFill>
                  <a:srgbClr val="0066CC"/>
                </a:solidFill>
                <a:latin typeface="Arial"/>
              </a:rPr>
              <a:t>delete</a:t>
            </a:r>
            <a:endParaRPr b="1" dirty="0">
              <a:solidFill>
                <a:srgbClr val="0066CC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dirty="0">
                <a:solidFill>
                  <a:srgbClr val="292934"/>
                </a:solidFill>
                <a:latin typeface="Arial"/>
              </a:rPr>
              <a:t>Not </a:t>
            </a:r>
            <a:r>
              <a:rPr b="0" dirty="0">
                <a:solidFill>
                  <a:srgbClr val="292934"/>
                </a:solidFill>
                <a:latin typeface="Arial"/>
              </a:rPr>
              <a:t>important but urgent  →  </a:t>
            </a:r>
            <a:r>
              <a:rPr b="1" dirty="0">
                <a:solidFill>
                  <a:srgbClr val="0066CC"/>
                </a:solidFill>
                <a:latin typeface="Arial"/>
              </a:rPr>
              <a:t>delegate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b="0" dirty="0">
                <a:solidFill>
                  <a:srgbClr val="292934"/>
                </a:solidFill>
                <a:latin typeface="Arial"/>
              </a:rPr>
              <a:t>Important and not urgent  →  </a:t>
            </a:r>
            <a:r>
              <a:rPr lang="en-AU" b="1" dirty="0">
                <a:solidFill>
                  <a:srgbClr val="0066CC"/>
                </a:solidFill>
                <a:latin typeface="Arial"/>
              </a:rPr>
              <a:t>decide</a:t>
            </a:r>
            <a:r>
              <a:rPr lang="en-AU" dirty="0">
                <a:solidFill>
                  <a:srgbClr val="292934"/>
                </a:solidFill>
                <a:latin typeface="Arial"/>
              </a:rPr>
              <a:t>. Given</a:t>
            </a:r>
            <a:r>
              <a:rPr dirty="0">
                <a:solidFill>
                  <a:srgbClr val="292934"/>
                </a:solidFill>
                <a:latin typeface="Arial"/>
              </a:rPr>
              <a:t> an end date</a:t>
            </a:r>
            <a:endParaRPr lang="en-AU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b="0" dirty="0">
                <a:solidFill>
                  <a:srgbClr val="292934"/>
                </a:solidFill>
                <a:latin typeface="Arial"/>
              </a:rPr>
              <a:t>Important and urgent  →  </a:t>
            </a:r>
            <a:r>
              <a:rPr lang="en-AU" b="1" dirty="0">
                <a:solidFill>
                  <a:srgbClr val="0066CC"/>
                </a:solidFill>
                <a:latin typeface="Arial"/>
              </a:rPr>
              <a:t>do</a:t>
            </a:r>
            <a:r>
              <a:rPr b="1" dirty="0">
                <a:solidFill>
                  <a:srgbClr val="0066CC"/>
                </a:solidFill>
                <a:latin typeface="Arial"/>
              </a:rPr>
              <a:t> immediately, and personally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556B62-CFA5-A9B4-D643-0C2C55FE63DC}"/>
              </a:ext>
            </a:extLst>
          </p:cNvPr>
          <p:cNvSpPr/>
          <p:nvPr/>
        </p:nvSpPr>
        <p:spPr>
          <a:xfrm>
            <a:off x="8015723" y="2917836"/>
            <a:ext cx="1924493" cy="17650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</a:rPr>
              <a:t>Do immediately and personally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4ED38D-1CC5-080A-C4E4-C1672571AD7B}"/>
              </a:ext>
            </a:extLst>
          </p:cNvPr>
          <p:cNvSpPr/>
          <p:nvPr/>
        </p:nvSpPr>
        <p:spPr>
          <a:xfrm>
            <a:off x="10113880" y="2917836"/>
            <a:ext cx="1924493" cy="17650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</a:rPr>
              <a:t>Decide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AD703-26B3-1FD9-7126-7FAFFF8524E8}"/>
              </a:ext>
            </a:extLst>
          </p:cNvPr>
          <p:cNvSpPr/>
          <p:nvPr/>
        </p:nvSpPr>
        <p:spPr>
          <a:xfrm>
            <a:off x="8015722" y="4847433"/>
            <a:ext cx="1924493" cy="17650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</a:rPr>
              <a:t>Delegate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291546-6800-F1AA-5A11-B51CD26B49AB}"/>
              </a:ext>
            </a:extLst>
          </p:cNvPr>
          <p:cNvSpPr/>
          <p:nvPr/>
        </p:nvSpPr>
        <p:spPr>
          <a:xfrm>
            <a:off x="10113880" y="4847433"/>
            <a:ext cx="1924493" cy="17650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</a:rPr>
              <a:t>Delete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83A1E-6F86-8E30-4BA5-48F26762F6BE}"/>
              </a:ext>
            </a:extLst>
          </p:cNvPr>
          <p:cNvSpPr txBox="1"/>
          <p:nvPr/>
        </p:nvSpPr>
        <p:spPr>
          <a:xfrm>
            <a:off x="8398494" y="2487090"/>
            <a:ext cx="1541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/>
              </a:rPr>
              <a:t>Urgent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3CAA68-13AB-9F07-F66B-AFC28D967837}"/>
              </a:ext>
            </a:extLst>
          </p:cNvPr>
          <p:cNvSpPr txBox="1"/>
          <p:nvPr/>
        </p:nvSpPr>
        <p:spPr>
          <a:xfrm>
            <a:off x="10472387" y="2487090"/>
            <a:ext cx="1541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/>
              </a:rPr>
              <a:t>Not urgent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FAD971-4251-0F28-CDB4-AACD74BD9A53}"/>
              </a:ext>
            </a:extLst>
          </p:cNvPr>
          <p:cNvSpPr txBox="1"/>
          <p:nvPr/>
        </p:nvSpPr>
        <p:spPr>
          <a:xfrm rot="16200000">
            <a:off x="6886533" y="3436610"/>
            <a:ext cx="1541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/>
              </a:rPr>
              <a:t>Important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6538C5-41D0-6F18-F824-1CC0DE00BED4}"/>
              </a:ext>
            </a:extLst>
          </p:cNvPr>
          <p:cNvSpPr txBox="1"/>
          <p:nvPr/>
        </p:nvSpPr>
        <p:spPr>
          <a:xfrm rot="16200000">
            <a:off x="6774890" y="5433627"/>
            <a:ext cx="176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/>
              </a:rPr>
              <a:t>Not important</a:t>
            </a:r>
          </a:p>
        </p:txBody>
      </p:sp>
    </p:spTree>
    <p:extLst>
      <p:ext uri="{BB962C8B-B14F-4D97-AF65-F5344CB8AC3E}">
        <p14:creationId xmlns:p14="http://schemas.microsoft.com/office/powerpoint/2010/main" val="761557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B37C0-3C01-D653-446A-748DF37FF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E0ACAC-E3F4-D839-C107-ED184FCFEC24}"/>
              </a:ext>
            </a:extLst>
          </p:cNvPr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The Eisenhower method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5E34E3-C2BC-2482-0190-6624192BDCD0}"/>
              </a:ext>
            </a:extLst>
          </p:cNvPr>
          <p:cNvSpPr/>
          <p:nvPr/>
        </p:nvSpPr>
        <p:spPr>
          <a:xfrm>
            <a:off x="566928" y="1088136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0986D-1427-4120-70E8-D24054F99E1E}"/>
              </a:ext>
            </a:extLst>
          </p:cNvPr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B4C50-123A-DD3A-D2F7-2AF3C992C0B4}"/>
              </a:ext>
            </a:extLst>
          </p:cNvPr>
          <p:cNvSpPr txBox="1"/>
          <p:nvPr/>
        </p:nvSpPr>
        <p:spPr>
          <a:xfrm>
            <a:off x="11073384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383C41-ABB1-1E55-669A-A303BD1A774D}"/>
              </a:ext>
            </a:extLst>
          </p:cNvPr>
          <p:cNvSpPr/>
          <p:nvPr/>
        </p:nvSpPr>
        <p:spPr>
          <a:xfrm>
            <a:off x="3585817" y="1667553"/>
            <a:ext cx="2633292" cy="24150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Arial"/>
              </a:rPr>
              <a:t>1. Assignment 2 is due;</a:t>
            </a:r>
          </a:p>
          <a:p>
            <a:r>
              <a:rPr lang="en-US" dirty="0">
                <a:latin typeface="Arial"/>
              </a:rPr>
              <a:t>2. Booking the equipment for your prototype.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A37DC5-7739-D7D1-2BD3-2C37904970A4}"/>
              </a:ext>
            </a:extLst>
          </p:cNvPr>
          <p:cNvSpPr/>
          <p:nvPr/>
        </p:nvSpPr>
        <p:spPr>
          <a:xfrm>
            <a:off x="6337502" y="1667100"/>
            <a:ext cx="2633292" cy="24150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Arial"/>
              </a:rPr>
              <a:t>1. Writing your final report;</a:t>
            </a:r>
          </a:p>
          <a:p>
            <a:r>
              <a:rPr lang="en-US" dirty="0">
                <a:latin typeface="Arial"/>
              </a:rPr>
              <a:t>2. Backing up your experiment data</a:t>
            </a:r>
          </a:p>
          <a:p>
            <a:r>
              <a:rPr lang="en-US" dirty="0">
                <a:latin typeface="Arial"/>
              </a:rPr>
              <a:t>3. Planning your career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D37F0E-3DB1-7FE2-4242-38CF60AA5C68}"/>
              </a:ext>
            </a:extLst>
          </p:cNvPr>
          <p:cNvSpPr/>
          <p:nvPr/>
        </p:nvSpPr>
        <p:spPr>
          <a:xfrm>
            <a:off x="3585817" y="4196876"/>
            <a:ext cx="2633292" cy="24150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dirty="0">
                <a:latin typeface="Arial"/>
              </a:rPr>
              <a:t>Picking up the printed parts from the lab</a:t>
            </a:r>
          </a:p>
          <a:p>
            <a:pPr marL="342900" indent="-342900">
              <a:buAutoNum type="arabicPeriod"/>
            </a:pPr>
            <a:r>
              <a:rPr lang="en-US" dirty="0">
                <a:latin typeface="Arial"/>
              </a:rPr>
              <a:t>Collecting the availability for next stakeholder meeting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8FCD4A-8FBB-3E7C-48F4-D0E81AF83D5D}"/>
              </a:ext>
            </a:extLst>
          </p:cNvPr>
          <p:cNvSpPr/>
          <p:nvPr/>
        </p:nvSpPr>
        <p:spPr>
          <a:xfrm>
            <a:off x="6337502" y="4196876"/>
            <a:ext cx="2633292" cy="24150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dirty="0">
                <a:latin typeface="Arial"/>
              </a:rPr>
              <a:t>Updating your social media profile</a:t>
            </a:r>
          </a:p>
          <a:p>
            <a:pPr marL="342900" indent="-342900">
              <a:buAutoNum type="arabicPeriod"/>
            </a:pPr>
            <a:r>
              <a:rPr lang="en-US" dirty="0">
                <a:latin typeface="Arial"/>
              </a:rPr>
              <a:t>Checking if your assignment grade is released or not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F68036-9401-3AE4-9C68-9500F8A386D3}"/>
              </a:ext>
            </a:extLst>
          </p:cNvPr>
          <p:cNvSpPr txBox="1"/>
          <p:nvPr/>
        </p:nvSpPr>
        <p:spPr>
          <a:xfrm>
            <a:off x="4321679" y="1230336"/>
            <a:ext cx="154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/>
              </a:rPr>
              <a:t>Urgent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73BA29-922F-0A01-E2E5-1610DCBACE80}"/>
              </a:ext>
            </a:extLst>
          </p:cNvPr>
          <p:cNvSpPr txBox="1"/>
          <p:nvPr/>
        </p:nvSpPr>
        <p:spPr>
          <a:xfrm>
            <a:off x="6883287" y="1260386"/>
            <a:ext cx="1984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/>
              </a:rPr>
              <a:t>Not urgent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0D2846-C6F8-D2CB-9019-CD381AA97EBC}"/>
              </a:ext>
            </a:extLst>
          </p:cNvPr>
          <p:cNvSpPr txBox="1"/>
          <p:nvPr/>
        </p:nvSpPr>
        <p:spPr>
          <a:xfrm rot="16200000">
            <a:off x="2215293" y="2206902"/>
            <a:ext cx="2160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/>
              </a:rPr>
              <a:t>Important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7FCD8-2C70-C25B-4215-FF4225A3C1A7}"/>
              </a:ext>
            </a:extLst>
          </p:cNvPr>
          <p:cNvSpPr txBox="1"/>
          <p:nvPr/>
        </p:nvSpPr>
        <p:spPr>
          <a:xfrm rot="16200000">
            <a:off x="2202264" y="4959765"/>
            <a:ext cx="2160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/>
              </a:rPr>
              <a:t>Not important</a:t>
            </a:r>
          </a:p>
        </p:txBody>
      </p:sp>
    </p:spTree>
    <p:extLst>
      <p:ext uri="{BB962C8B-B14F-4D97-AF65-F5344CB8AC3E}">
        <p14:creationId xmlns:p14="http://schemas.microsoft.com/office/powerpoint/2010/main" val="2191439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First things first — </a:t>
            </a:r>
            <a:r>
              <a:rPr lang="en-AU" sz="3000" b="1" dirty="0">
                <a:solidFill>
                  <a:srgbClr val="002464"/>
                </a:solidFill>
                <a:latin typeface="Arial"/>
              </a:rPr>
              <a:t>Covey’s jar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1057839" cy="399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R</a:t>
            </a:r>
            <a:r>
              <a:rPr sz="1900" b="0" dirty="0" err="1">
                <a:solidFill>
                  <a:srgbClr val="292934"/>
                </a:solidFill>
                <a:latin typeface="Arial"/>
              </a:rPr>
              <a:t>ocks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are the big tasks, gravel the small ones, the jar is your energy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D867A90-99FC-6DC1-5CD3-DD9BB018E626}"/>
                  </a:ext>
                </a:extLst>
              </p14:cNvPr>
              <p14:cNvContentPartPr/>
              <p14:nvPr/>
            </p14:nvContentPartPr>
            <p14:xfrm>
              <a:off x="9493849" y="3276476"/>
              <a:ext cx="1800" cy="3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D867A90-99FC-6DC1-5CD3-DD9BB018E6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87729" y="3270356"/>
                <a:ext cx="14040" cy="1548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363BCDC4-8E20-4DD0-2ECC-BA8ECD102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31" y="1938427"/>
            <a:ext cx="4928040" cy="492804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3D Model 19" descr="Large rocks - low poly">
                <a:extLst>
                  <a:ext uri="{FF2B5EF4-FFF2-40B4-BE49-F238E27FC236}">
                    <a16:creationId xmlns:a16="http://schemas.microsoft.com/office/drawing/2014/main" id="{2BE85457-4AA7-802E-A9F5-6E8B291F5BC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1394486"/>
                  </p:ext>
                </p:extLst>
              </p:nvPr>
            </p:nvGraphicFramePr>
            <p:xfrm>
              <a:off x="2503757" y="2072825"/>
              <a:ext cx="2945060" cy="3884431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945060" cy="3884431"/>
                    </a:xfrm>
                    <a:prstGeom prst="rect">
                      <a:avLst/>
                    </a:prstGeom>
                  </am3d:spPr>
                  <am3d:camera>
                    <am3d:pos x="0" y="0" z="6961411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7121598" d="1000000"/>
                    <am3d:preTrans dx="0" dy="-11786550" dz="-2329844"/>
                    <am3d:scale>
                      <am3d:sx n="1000000" d="1000000"/>
                      <am3d:sy n="1000000" d="1000000"/>
                      <am3d:sz n="1000000" d="1000000"/>
                    </am3d:scale>
                    <am3d:rot ax="1698885" ay="-1270474" az="-660761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28079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3D Model 19" descr="Large rocks - low poly">
                <a:extLst>
                  <a:ext uri="{FF2B5EF4-FFF2-40B4-BE49-F238E27FC236}">
                    <a16:creationId xmlns:a16="http://schemas.microsoft.com/office/drawing/2014/main" id="{2BE85457-4AA7-802E-A9F5-6E8B291F5BC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03757" y="2072825"/>
                <a:ext cx="2945060" cy="3884431"/>
              </a:xfrm>
              <a:prstGeom prst="rect">
                <a:avLst/>
              </a:prstGeom>
            </p:spPr>
          </p:pic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8BA65F-6A33-A094-6D00-A7EE1F21CF39}"/>
              </a:ext>
            </a:extLst>
          </p:cNvPr>
          <p:cNvCxnSpPr/>
          <p:nvPr/>
        </p:nvCxnSpPr>
        <p:spPr>
          <a:xfrm flipH="1">
            <a:off x="7665156" y="3093156"/>
            <a:ext cx="2065866" cy="1309291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5C345A7-FC68-B114-22C4-9571EFA7E198}"/>
              </a:ext>
            </a:extLst>
          </p:cNvPr>
          <p:cNvSpPr txBox="1"/>
          <p:nvPr/>
        </p:nvSpPr>
        <p:spPr>
          <a:xfrm>
            <a:off x="9279359" y="2658179"/>
            <a:ext cx="1930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/>
              </a:rPr>
              <a:t>Your energy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89F387-8BF8-2531-CBEA-12A53878E797}"/>
              </a:ext>
            </a:extLst>
          </p:cNvPr>
          <p:cNvCxnSpPr>
            <a:cxnSpLocks/>
          </p:cNvCxnSpPr>
          <p:nvPr/>
        </p:nvCxnSpPr>
        <p:spPr>
          <a:xfrm>
            <a:off x="2111022" y="3119844"/>
            <a:ext cx="1222909" cy="526357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66A5440-FC75-2C1C-F888-63CE95FDAE84}"/>
              </a:ext>
            </a:extLst>
          </p:cNvPr>
          <p:cNvSpPr txBox="1"/>
          <p:nvPr/>
        </p:nvSpPr>
        <p:spPr>
          <a:xfrm>
            <a:off x="1181098" y="2658179"/>
            <a:ext cx="1578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/>
              </a:rPr>
              <a:t>Big tasks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EE41C4E-66F3-275D-336B-AA49999CB294}"/>
              </a:ext>
            </a:extLst>
          </p:cNvPr>
          <p:cNvCxnSpPr>
            <a:cxnSpLocks/>
          </p:cNvCxnSpPr>
          <p:nvPr/>
        </p:nvCxnSpPr>
        <p:spPr>
          <a:xfrm>
            <a:off x="2223911" y="5431536"/>
            <a:ext cx="1077429" cy="161246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3428B9C-A735-BAA0-0806-804A6DC2FB14}"/>
              </a:ext>
            </a:extLst>
          </p:cNvPr>
          <p:cNvSpPr txBox="1"/>
          <p:nvPr/>
        </p:nvSpPr>
        <p:spPr>
          <a:xfrm>
            <a:off x="785766" y="4969871"/>
            <a:ext cx="1578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/>
              </a:rPr>
              <a:t>Small tasks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EE0B6-E078-B96B-B3D7-6FA0665F9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C898E0-0EA4-2B38-C8A6-119271EF7FC9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First things first — </a:t>
            </a:r>
            <a:r>
              <a:rPr lang="en-AU" sz="3000" b="1" dirty="0">
                <a:solidFill>
                  <a:srgbClr val="002464"/>
                </a:solidFill>
                <a:latin typeface="Arial"/>
              </a:rPr>
              <a:t>Eat that frog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20BE9C-E850-DA91-79CD-257F393B5D06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D7D3E-34D7-E68B-46E6-23FEFA597E68}"/>
              </a:ext>
            </a:extLst>
          </p:cNvPr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D0248-7B69-C9D4-530C-0DD420915532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9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FFB7B70-A6F7-F90D-3180-7BC0F4790A68}"/>
                  </a:ext>
                </a:extLst>
              </p14:cNvPr>
              <p14:cNvContentPartPr/>
              <p14:nvPr/>
            </p14:nvContentPartPr>
            <p14:xfrm>
              <a:off x="9493849" y="3276476"/>
              <a:ext cx="1800" cy="3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FFB7B70-A6F7-F90D-3180-7BC0F4790A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87729" y="3270356"/>
                <a:ext cx="14040" cy="1548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CB9177B-3049-8626-2789-77181EDE3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340276"/>
            <a:ext cx="3328666" cy="4882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327A21-F859-C8F7-2736-DB6DF08604B8}"/>
              </a:ext>
            </a:extLst>
          </p:cNvPr>
          <p:cNvSpPr txBox="1"/>
          <p:nvPr/>
        </p:nvSpPr>
        <p:spPr>
          <a:xfrm>
            <a:off x="4357511" y="1582959"/>
            <a:ext cx="72672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"If it's your job to eat a frog, it's best to do it first thing in the morning. And if it's your job to eat two frogs, it's best to eat the biggest one first."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924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Personal development — strengths and weaknesses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1057839" cy="2846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Two separate projects: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build on a strength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, and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address a weakness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They are not the same work and they do not pay off the same way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A strength improves fastest — you are already good and you enjoy it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A weakness rarely becomes a strength. The goal is to stop it costing you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First problem: most people cannot name their own strengths accurately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Indicators of a strength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1057839" cy="2411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Yearning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— you are drawn to it before anyone asks you to do it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Timelessness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— you look up and two hours are gone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Satisfaction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— finishing it feels good</a:t>
            </a:r>
            <a:endParaRPr lang="en-AU" sz="19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Rapid learning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— you picked it up faster than the people around you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Glimpses of excellence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— moments where you were clearly better than competent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Your strengths — a self-assessment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196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9" y="1258204"/>
            <a:ext cx="7811088" cy="3092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2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200" b="0" dirty="0">
                <a:solidFill>
                  <a:srgbClr val="292934"/>
                </a:solidFill>
                <a:latin typeface="Arial"/>
              </a:rPr>
              <a:t>Two axes: </a:t>
            </a:r>
            <a:r>
              <a:rPr sz="2200" b="1" dirty="0">
                <a:solidFill>
                  <a:srgbClr val="0066CC"/>
                </a:solidFill>
                <a:latin typeface="Arial"/>
              </a:rPr>
              <a:t>task-oriented or people-oriented</a:t>
            </a:r>
            <a:r>
              <a:rPr sz="2200" b="0" dirty="0">
                <a:solidFill>
                  <a:srgbClr val="292934"/>
                </a:solidFill>
                <a:latin typeface="Arial"/>
              </a:rPr>
              <a:t>, </a:t>
            </a:r>
            <a:r>
              <a:rPr sz="2200" b="1" dirty="0">
                <a:solidFill>
                  <a:srgbClr val="0066CC"/>
                </a:solidFill>
                <a:latin typeface="Arial"/>
              </a:rPr>
              <a:t>vision-oriented or execution-oriented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2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200" b="0" dirty="0">
                <a:solidFill>
                  <a:srgbClr val="292934"/>
                </a:solidFill>
                <a:latin typeface="Arial"/>
              </a:rPr>
              <a:t>Download the spreadsheet from LMS, complete it, and mark where you sit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2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200" b="1" dirty="0">
                <a:solidFill>
                  <a:srgbClr val="0066CC"/>
                </a:solidFill>
                <a:latin typeface="Arial"/>
              </a:rPr>
              <a:t>Do this at your next team meeting</a:t>
            </a:r>
            <a:r>
              <a:rPr sz="2200" b="0" dirty="0">
                <a:solidFill>
                  <a:srgbClr val="292934"/>
                </a:solidFill>
                <a:latin typeface="Arial"/>
              </a:rPr>
              <a:t> — put it on the agenda</a:t>
            </a:r>
            <a:endParaRPr lang="en-AU" sz="22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AU" sz="220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200" dirty="0">
                <a:solidFill>
                  <a:srgbClr val="292934"/>
                </a:solidFill>
                <a:latin typeface="Arial"/>
              </a:rPr>
              <a:t>Mark all four of you on the same chart.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03B45F-09D0-A9B6-0218-E2416AC762C3}"/>
              </a:ext>
            </a:extLst>
          </p:cNvPr>
          <p:cNvSpPr txBox="1"/>
          <p:nvPr/>
        </p:nvSpPr>
        <p:spPr>
          <a:xfrm>
            <a:off x="7029060" y="4592849"/>
            <a:ext cx="154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/>
              </a:rPr>
              <a:t>Execution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120577-BD9B-85EE-1D1A-610C07A5F1D3}"/>
              </a:ext>
            </a:extLst>
          </p:cNvPr>
          <p:cNvSpPr txBox="1"/>
          <p:nvPr/>
        </p:nvSpPr>
        <p:spPr>
          <a:xfrm>
            <a:off x="11076126" y="4609556"/>
            <a:ext cx="154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/>
              </a:rPr>
              <a:t>Vision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BA085A-42E5-4AEF-9E55-85EAEEB7DABC}"/>
              </a:ext>
            </a:extLst>
          </p:cNvPr>
          <p:cNvSpPr txBox="1"/>
          <p:nvPr/>
        </p:nvSpPr>
        <p:spPr>
          <a:xfrm rot="16200000">
            <a:off x="8615751" y="2427307"/>
            <a:ext cx="154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/>
              </a:rPr>
              <a:t>People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242837-35C3-62BF-C404-179D7EA5A2B8}"/>
              </a:ext>
            </a:extLst>
          </p:cNvPr>
          <p:cNvSpPr txBox="1"/>
          <p:nvPr/>
        </p:nvSpPr>
        <p:spPr>
          <a:xfrm rot="16200000">
            <a:off x="8634526" y="5747652"/>
            <a:ext cx="154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/>
              </a:rPr>
              <a:t>Task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C46CB1-1784-CB27-FA37-D3DC2FFE59B0}"/>
              </a:ext>
            </a:extLst>
          </p:cNvPr>
          <p:cNvCxnSpPr/>
          <p:nvPr/>
        </p:nvCxnSpPr>
        <p:spPr>
          <a:xfrm>
            <a:off x="7095772" y="4583289"/>
            <a:ext cx="5043345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05B13A-542E-A219-9F74-E6901F213F9B}"/>
              </a:ext>
            </a:extLst>
          </p:cNvPr>
          <p:cNvCxnSpPr/>
          <p:nvPr/>
        </p:nvCxnSpPr>
        <p:spPr>
          <a:xfrm flipV="1">
            <a:off x="9727071" y="2417234"/>
            <a:ext cx="0" cy="4257886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Blind spots, and working on a weakness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1057839" cy="369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Your blind spot is by definition invisible to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you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,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and obvious to everyone else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The only cheap source of information is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other people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. Ask, and do not argue with it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Then: practice. A weakness improves the same way anything else does — repetition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P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ick one that is costing the team something now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"I am bad at public speaking" and your oral exam is in six weeks.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20144"/>
            <a:ext cx="11057839" cy="3529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Motivation is what makes somebody do a thing they were not otherwise going to do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Two questions, not one: how do I motivate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myself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, and how do I motivate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others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You cannot motivate anyone with what motivates you — not everyone wants the same thing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So the first job is to find out what the other person actually wants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Human motivation — five things people want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1057839" cy="2498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Fame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— prestige, reputation, recognition. To be known for something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Fortune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— money, and how much of it is enough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Power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— freedom to choose, influence over others, authority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Love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— a person, a family, a community, a country. Something outside yourself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Just being me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— self-image. Acting against it costs more than any of the above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F3B07-38C5-E9DD-9344-0D644018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E7224C-E5F0-217B-CCED-9A57189F057F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Motivating a team — </a:t>
            </a:r>
            <a:r>
              <a:rPr lang="en-AU" sz="3000" b="1" i="0" dirty="0">
                <a:solidFill>
                  <a:srgbClr val="002464"/>
                </a:solidFill>
                <a:latin typeface="Arial"/>
              </a:rPr>
              <a:t>“carrot” and “sticks”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30AE4F-71E6-9136-8B22-DC772BAFA9C1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FD9B1B-B5CA-E6B1-7FB0-9878D3AC8D60}"/>
              </a:ext>
            </a:extLst>
          </p:cNvPr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F536A-5E40-2396-A0CA-93F730CFD06E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16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67E056-DD6A-954B-F8B0-136CD60EC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280" y="1574800"/>
            <a:ext cx="3771900" cy="3937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B22CAA-73C7-DF3F-7F5A-346EF2AE3A75}"/>
              </a:ext>
            </a:extLst>
          </p:cNvPr>
          <p:cNvSpPr txBox="1"/>
          <p:nvPr/>
        </p:nvSpPr>
        <p:spPr>
          <a:xfrm>
            <a:off x="566928" y="1481690"/>
            <a:ext cx="626901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0" i="0" u="none" strike="noStrike" dirty="0">
                <a:solidFill>
                  <a:schemeClr val="tx1"/>
                </a:solidFill>
                <a:effectLst/>
                <a:latin typeface="Arial"/>
              </a:rPr>
              <a:t>Ping, the duck, lives on a boat on the River. Every day he and</a:t>
            </a:r>
            <a:r>
              <a:rPr lang="zh-CN" altLang="en-US" sz="2000" b="0" i="0" u="none" strike="noStrike" dirty="0">
                <a:solidFill>
                  <a:schemeClr val="tx1"/>
                </a:solidFill>
                <a:effectLst/>
                <a:latin typeface="Arial"/>
              </a:rPr>
              <a:t> </a:t>
            </a:r>
            <a:r>
              <a:rPr lang="en-AU" sz="2000" b="0" i="0" u="none" strike="noStrike" dirty="0">
                <a:solidFill>
                  <a:schemeClr val="tx1"/>
                </a:solidFill>
                <a:effectLst/>
                <a:latin typeface="Arial"/>
              </a:rPr>
              <a:t>his duck family are </a:t>
            </a:r>
            <a:r>
              <a:rPr lang="en-AU" sz="2000" dirty="0">
                <a:latin typeface="Arial"/>
              </a:rPr>
              <a:t>taken by their owner to feed on the</a:t>
            </a:r>
            <a:r>
              <a:rPr lang="zh-CN" altLang="en-US" sz="2000" dirty="0">
                <a:latin typeface="Arial"/>
              </a:rPr>
              <a:t> </a:t>
            </a:r>
            <a:r>
              <a:rPr lang="en-AU" sz="2000" dirty="0">
                <a:latin typeface="Arial"/>
              </a:rPr>
              <a:t>riverbank. </a:t>
            </a:r>
          </a:p>
          <a:p>
            <a:endParaRPr lang="en-AU" sz="2000" dirty="0"/>
          </a:p>
          <a:p>
            <a:r>
              <a:rPr lang="en-AU" sz="2000" dirty="0">
                <a:latin typeface="Arial"/>
              </a:rPr>
              <a:t>Later, when it is evening, quickly they would march, one by one, up over the little bridge</a:t>
            </a:r>
            <a:r>
              <a:rPr lang="zh-CN" altLang="en-US" sz="2000" dirty="0">
                <a:latin typeface="Arial"/>
              </a:rPr>
              <a:t> </a:t>
            </a:r>
            <a:r>
              <a:rPr lang="en-AU" sz="2000" dirty="0">
                <a:latin typeface="Arial"/>
              </a:rPr>
              <a:t>and on to the boat which was their home on the</a:t>
            </a:r>
            <a:r>
              <a:rPr lang="zh-CN" altLang="en-US" sz="2000" dirty="0">
                <a:latin typeface="Arial"/>
              </a:rPr>
              <a:t> </a:t>
            </a:r>
            <a:r>
              <a:rPr lang="en-AU" sz="2000" dirty="0">
                <a:latin typeface="Arial"/>
              </a:rPr>
              <a:t>River</a:t>
            </a:r>
          </a:p>
          <a:p>
            <a:endParaRPr lang="en-AU" sz="2000" dirty="0"/>
          </a:p>
          <a:p>
            <a:r>
              <a:rPr lang="en-AU" sz="2000" dirty="0">
                <a:latin typeface="Arial"/>
              </a:rPr>
              <a:t>Ping was always careful,</a:t>
            </a:r>
            <a:r>
              <a:rPr lang="zh-CN" altLang="en-US" sz="2000" dirty="0">
                <a:latin typeface="Arial"/>
              </a:rPr>
              <a:t> </a:t>
            </a:r>
            <a:r>
              <a:rPr lang="en-AU" sz="2000" dirty="0">
                <a:latin typeface="Arial"/>
              </a:rPr>
              <a:t>very very careful not to be</a:t>
            </a:r>
            <a:r>
              <a:rPr lang="zh-CN" altLang="en-US" sz="2000" dirty="0">
                <a:latin typeface="Arial"/>
              </a:rPr>
              <a:t> </a:t>
            </a:r>
            <a:r>
              <a:rPr lang="en-AU" sz="2000" dirty="0">
                <a:latin typeface="Arial"/>
              </a:rPr>
              <a:t>the last, because 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the last</a:t>
            </a:r>
            <a:r>
              <a:rPr lang="zh-CN" altLang="en-US" sz="1900" b="1" dirty="0">
                <a:solidFill>
                  <a:srgbClr val="0066CC"/>
                </a:solidFill>
                <a:latin typeface="Arial"/>
              </a:rPr>
              <a:t> 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duck to cross the bridge</a:t>
            </a:r>
            <a:r>
              <a:rPr lang="zh-CN" altLang="en-US" sz="1900" b="1" dirty="0">
                <a:solidFill>
                  <a:srgbClr val="0066CC"/>
                </a:solidFill>
                <a:latin typeface="Arial"/>
              </a:rPr>
              <a:t> 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always got a spank on</a:t>
            </a:r>
            <a:r>
              <a:rPr lang="zh-CN" altLang="en-US" sz="1900" b="1" dirty="0">
                <a:solidFill>
                  <a:srgbClr val="0066CC"/>
                </a:solidFill>
                <a:latin typeface="Arial"/>
              </a:rPr>
              <a:t> 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the back</a:t>
            </a:r>
          </a:p>
          <a:p>
            <a:endParaRPr lang="en-AU" sz="2000" dirty="0"/>
          </a:p>
          <a:p>
            <a:r>
              <a:rPr lang="en-AU" sz="2000" dirty="0">
                <a:latin typeface="Arial"/>
              </a:rPr>
              <a:t>What about an alternative:</a:t>
            </a:r>
            <a:r>
              <a:rPr lang="zh-CN" altLang="en-US" sz="2000" dirty="0">
                <a:latin typeface="Arial"/>
              </a:rPr>
              <a:t> 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the first duck into the boat</a:t>
            </a:r>
            <a:r>
              <a:rPr lang="zh-CN" altLang="en-US" sz="1900" b="1" dirty="0">
                <a:solidFill>
                  <a:srgbClr val="0066CC"/>
                </a:solidFill>
                <a:latin typeface="Arial"/>
              </a:rPr>
              <a:t> 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gets a snail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54616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Motivating a team — rewards and punishments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1057839" cy="2498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The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carrot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motivates you to be the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best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. The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stick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motivates you not to be the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worst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They are not interchangeable</a:t>
            </a:r>
            <a:r>
              <a:rPr lang="en-AU" sz="2000" b="0" dirty="0">
                <a:solidFill>
                  <a:srgbClr val="292934"/>
                </a:solidFill>
                <a:latin typeface="Arial"/>
              </a:rPr>
              <a:t>.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</a:t>
            </a:r>
            <a:r>
              <a:rPr lang="en-AU" sz="2000" dirty="0">
                <a:solidFill>
                  <a:srgbClr val="292934"/>
                </a:solidFill>
                <a:latin typeface="Arial"/>
              </a:rPr>
              <a:t>T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hey buy completely different </a:t>
            </a:r>
            <a:r>
              <a:rPr sz="2000" b="0" dirty="0" err="1">
                <a:solidFill>
                  <a:srgbClr val="292934"/>
                </a:solidFill>
                <a:latin typeface="Arial"/>
              </a:rPr>
              <a:t>behaviour</a:t>
            </a:r>
            <a:endParaRPr sz="20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Want the single best result? </a:t>
            </a:r>
            <a:r>
              <a:rPr lang="en-AU" sz="2000" b="0" dirty="0">
                <a:solidFill>
                  <a:srgbClr val="292934"/>
                </a:solidFill>
                <a:latin typeface="Arial"/>
              </a:rPr>
              <a:t>Use a “carrot”.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Run a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competition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</a:t>
            </a:r>
            <a:r>
              <a:rPr lang="en-AU" sz="2000" b="0" dirty="0">
                <a:solidFill>
                  <a:srgbClr val="292934"/>
                </a:solidFill>
                <a:latin typeface="Arial"/>
              </a:rPr>
              <a:t>and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winner takes all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Want a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minimum standard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met by everyone? </a:t>
            </a:r>
            <a:r>
              <a:rPr lang="en-AU" sz="2000" b="0" dirty="0">
                <a:solidFill>
                  <a:srgbClr val="292934"/>
                </a:solidFill>
                <a:latin typeface="Arial"/>
              </a:rPr>
              <a:t>Use a “stick”.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Set a floor, and enforce it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Either way the consequence must be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real, proportionate and announced in advance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What do these consequences motivate?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97480"/>
            <a:ext cx="110578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200" b="1" dirty="0">
                <a:solidFill>
                  <a:srgbClr val="8FB4E8"/>
                </a:solidFill>
                <a:latin typeface="Arial"/>
              </a:rPr>
              <a:t>1.   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The best project wins $1000</a:t>
            </a:r>
          </a:p>
          <a:p>
            <a:pPr>
              <a:spcAft>
                <a:spcPts val="2000"/>
              </a:spcAft>
            </a:pPr>
            <a:r>
              <a:rPr sz="2200" b="1" dirty="0">
                <a:solidFill>
                  <a:srgbClr val="8FB4E8"/>
                </a:solidFill>
                <a:latin typeface="Arial"/>
              </a:rPr>
              <a:t>2.   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All members of the team with the worst project fail</a:t>
            </a:r>
          </a:p>
          <a:p>
            <a:pPr>
              <a:spcAft>
                <a:spcPts val="2000"/>
              </a:spcAft>
            </a:pPr>
            <a:r>
              <a:rPr sz="2200" b="1" dirty="0">
                <a:solidFill>
                  <a:srgbClr val="8FB4E8"/>
                </a:solidFill>
                <a:latin typeface="Arial"/>
              </a:rPr>
              <a:t>3.   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The least productive member of every team fails</a:t>
            </a:r>
          </a:p>
          <a:p>
            <a:pPr>
              <a:spcAft>
                <a:spcPts val="2000"/>
              </a:spcAft>
            </a:pPr>
            <a:r>
              <a:rPr sz="2200" b="1" dirty="0">
                <a:solidFill>
                  <a:srgbClr val="8FB4E8"/>
                </a:solidFill>
                <a:latin typeface="Arial"/>
              </a:rPr>
              <a:t>4.   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Every project rated acceptable wins $1000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A8C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Team pitfalls — groupthink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26464"/>
            <a:ext cx="11057839" cy="1978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A team becomes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cohesive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, and cohesion starts to cost more than it buys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Illusion of invulnerability — </a:t>
            </a:r>
            <a:r>
              <a:rPr lang="en-AU" sz="2000" b="0" dirty="0">
                <a:solidFill>
                  <a:srgbClr val="292934"/>
                </a:solidFill>
                <a:latin typeface="Arial"/>
              </a:rPr>
              <a:t>"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we have got this</a:t>
            </a:r>
            <a:r>
              <a:rPr lang="en-AU" sz="2000" b="0" dirty="0">
                <a:solidFill>
                  <a:srgbClr val="292934"/>
                </a:solidFill>
                <a:latin typeface="Arial"/>
              </a:rPr>
              <a:t>"</a:t>
            </a:r>
            <a:endParaRPr sz="20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Self-censorship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— the doubt you have but do not raise, because the mood is good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</a:t>
            </a:r>
            <a:r>
              <a:rPr lang="en-AU" sz="2000" b="0" dirty="0">
                <a:solidFill>
                  <a:srgbClr val="0066CC"/>
                </a:solidFill>
                <a:latin typeface="Arial"/>
              </a:rPr>
              <a:t>   </a:t>
            </a:r>
            <a:r>
              <a:rPr lang="en-AU" sz="2000" dirty="0">
                <a:solidFill>
                  <a:srgbClr val="292934"/>
                </a:solidFill>
                <a:latin typeface="Arial"/>
              </a:rPr>
              <a:t>Lack of critical thinking. The group pretend they have explored other alternatives</a:t>
            </a:r>
            <a:endParaRPr sz="2000" dirty="0">
              <a:solidFill>
                <a:srgbClr val="292934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10506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3CC19-3C6F-DB1C-F58A-F6A0B3A1F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2A8F84-7F76-0C4F-C04A-77666213ADA9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Team pitfalls — Bureaucratic bypass syndrome</a:t>
            </a:r>
            <a:endParaRPr sz="3000" b="1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DF577A-9A6C-DCA5-1A67-C2980C12CE5D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40405-11AC-230E-E298-45CC738D82B2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9BFC31-E631-46A2-AAEA-084442DC7AC1}"/>
              </a:ext>
            </a:extLst>
          </p:cNvPr>
          <p:cNvSpPr txBox="1"/>
          <p:nvPr/>
        </p:nvSpPr>
        <p:spPr>
          <a:xfrm>
            <a:off x="566928" y="1426464"/>
            <a:ext cx="11057839" cy="2852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The team routes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around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the </a:t>
            </a:r>
            <a:r>
              <a:rPr sz="2000" b="0" dirty="0" err="1">
                <a:solidFill>
                  <a:srgbClr val="292934"/>
                </a:solidFill>
                <a:latin typeface="Arial"/>
              </a:rPr>
              <a:t>organisation's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procedures to get things done</a:t>
            </a:r>
            <a:endParaRPr sz="200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It works at first. That is exactly what makes it attractive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The cost is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goodwill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: the people you bypassed stop helping when you need them</a:t>
            </a:r>
            <a:endParaRPr lang="en-AU" sz="20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00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000" dirty="0">
                <a:solidFill>
                  <a:srgbClr val="292934"/>
                </a:solidFill>
                <a:latin typeface="Arial"/>
              </a:rPr>
              <a:t>It can undermine all of the policies and procedures that keep the company together if bypassing becomes habitual</a:t>
            </a:r>
            <a:endParaRPr sz="200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endParaRPr sz="2000" b="0" dirty="0">
              <a:solidFill>
                <a:srgbClr val="292934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10506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</p:spTree>
    <p:extLst>
      <p:ext uri="{BB962C8B-B14F-4D97-AF65-F5344CB8AC3E}">
        <p14:creationId xmlns:p14="http://schemas.microsoft.com/office/powerpoint/2010/main" val="969235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07C6F-A2A8-68D4-3F16-9AAAAD113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7B1DF6-CA91-B52F-C66B-C278388EAE81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Team pitfalls — Going native</a:t>
            </a:r>
            <a:endParaRPr sz="3000" b="1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F19465-D1DF-D218-3901-38B412F27FE2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9046F-44CB-A0F4-DE61-BBA71B9BD97D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0AC65-9366-5659-6990-2D84748F56C0}"/>
              </a:ext>
            </a:extLst>
          </p:cNvPr>
          <p:cNvSpPr txBox="1"/>
          <p:nvPr/>
        </p:nvSpPr>
        <p:spPr>
          <a:xfrm>
            <a:off x="566928" y="1426464"/>
            <a:ext cx="11057839" cy="1457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The team adopts the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client's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interests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and loses sight of its own </a:t>
            </a:r>
            <a:r>
              <a:rPr sz="2000" b="0" dirty="0" err="1">
                <a:solidFill>
                  <a:srgbClr val="292934"/>
                </a:solidFill>
                <a:latin typeface="Arial"/>
              </a:rPr>
              <a:t>organisation's</a:t>
            </a:r>
            <a:endParaRPr sz="200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It begins as commitment to the customer </a:t>
            </a:r>
            <a:r>
              <a:rPr lang="en-AU" sz="2000" b="0" dirty="0">
                <a:solidFill>
                  <a:srgbClr val="292934"/>
                </a:solidFill>
                <a:latin typeface="Arial"/>
              </a:rPr>
              <a:t>like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a virtue</a:t>
            </a:r>
            <a:r>
              <a:rPr lang="en-AU" sz="2000" b="0" dirty="0">
                <a:solidFill>
                  <a:srgbClr val="292934"/>
                </a:solidFill>
                <a:latin typeface="Arial"/>
              </a:rPr>
              <a:t>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Symptom: agreeing to every new request without asking what it costs your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10506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</p:spTree>
    <p:extLst>
      <p:ext uri="{BB962C8B-B14F-4D97-AF65-F5344CB8AC3E}">
        <p14:creationId xmlns:p14="http://schemas.microsoft.com/office/powerpoint/2010/main" val="2161182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719F9-BDDB-EC70-EBBE-8E4F96456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504745-DE68-D661-51DB-1CBC0B7254D6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Team pitfalls — Team spirit becomes team infatuation</a:t>
            </a:r>
            <a:endParaRPr sz="3000" b="1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92BF7-A093-CDC3-FD4A-1BC85E03CBE2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D5070E-6EAD-107B-1814-7089EDB1E8C8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22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806AC1-65E8-AE95-B7F3-21CDFC275EAE}"/>
              </a:ext>
            </a:extLst>
          </p:cNvPr>
          <p:cNvSpPr txBox="1"/>
          <p:nvPr/>
        </p:nvSpPr>
        <p:spPr>
          <a:xfrm>
            <a:off x="566928" y="1426464"/>
            <a:ext cx="11057839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000" dirty="0">
                <a:solidFill>
                  <a:srgbClr val="292934"/>
                </a:solidFill>
                <a:latin typeface="Arial"/>
              </a:rPr>
              <a:t>Members obsess over the challenge and peer talent, ignoring external reality.</a:t>
            </a:r>
            <a:endParaRPr sz="200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2000" dirty="0">
                <a:solidFill>
                  <a:srgbClr val="0066CC"/>
                </a:solidFill>
                <a:latin typeface="Arial"/>
              </a:rPr>
              <a:t>•  </a:t>
            </a:r>
            <a:r>
              <a:rPr sz="2000" dirty="0">
                <a:solidFill>
                  <a:srgbClr val="292934"/>
                </a:solidFill>
                <a:latin typeface="Arial"/>
              </a:rPr>
              <a:t> </a:t>
            </a:r>
            <a:r>
              <a:rPr lang="en-AU" sz="2000" dirty="0">
                <a:solidFill>
                  <a:srgbClr val="292934"/>
                </a:solidFill>
                <a:latin typeface="Arial"/>
              </a:rPr>
              <a:t>intense high-performance project focus mimics romantic obsession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2000" dirty="0">
                <a:solidFill>
                  <a:srgbClr val="0066CC"/>
                </a:solidFill>
                <a:latin typeface="Arial"/>
              </a:rPr>
              <a:t>•</a:t>
            </a:r>
            <a:r>
              <a:rPr lang="en-AU" sz="2000" dirty="0">
                <a:solidFill>
                  <a:srgbClr val="0066CC"/>
                </a:solidFill>
                <a:latin typeface="Arial"/>
              </a:rPr>
              <a:t>   </a:t>
            </a:r>
            <a:r>
              <a:rPr lang="en-AU" sz="2000" dirty="0">
                <a:solidFill>
                  <a:srgbClr val="292934"/>
                </a:solidFill>
                <a:latin typeface="Arial"/>
              </a:rPr>
              <a:t>The team feels like an "us vs. the world" couple, shutting down outside perspective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lang="en-AU" sz="2000" dirty="0">
                <a:solidFill>
                  <a:srgbClr val="0066CC"/>
                </a:solidFill>
                <a:latin typeface="Arial"/>
              </a:rPr>
              <a:t>• </a:t>
            </a:r>
            <a:r>
              <a:rPr lang="en-AU" sz="2000" dirty="0">
                <a:solidFill>
                  <a:srgbClr val="292934"/>
                </a:solidFill>
                <a:latin typeface="Arial"/>
              </a:rPr>
              <a:t>  Exhaustion hits hard once the project milestone passes.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lang="en-AU" sz="2000" dirty="0">
                <a:solidFill>
                  <a:srgbClr val="0066CC"/>
                </a:solidFill>
                <a:latin typeface="Arial"/>
              </a:rPr>
              <a:t>• </a:t>
            </a:r>
            <a:r>
              <a:rPr lang="en-AU" sz="2000" dirty="0">
                <a:solidFill>
                  <a:srgbClr val="292934"/>
                </a:solidFill>
                <a:latin typeface="Arial"/>
              </a:rPr>
              <a:t>  Re-entry into normal organizational life feels flat </a:t>
            </a:r>
            <a:endParaRPr sz="2000" dirty="0">
              <a:solidFill>
                <a:srgbClr val="292934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10506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</p:spTree>
    <p:extLst>
      <p:ext uri="{BB962C8B-B14F-4D97-AF65-F5344CB8AC3E}">
        <p14:creationId xmlns:p14="http://schemas.microsoft.com/office/powerpoint/2010/main" val="3968093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This week, in your own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1057839" cy="1663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Do the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self-assessment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and compare all four answers. Put it on the agenda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Name the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gap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in your team's pattern, and decide who covers it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Agree how you will handle an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underperforming member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,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before you need 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7: Managing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1057839" cy="223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500" b="0" dirty="0">
                <a:solidFill>
                  <a:srgbClr val="292934"/>
                </a:solidFill>
                <a:latin typeface="Arial"/>
              </a:rPr>
              <a:t>Larson, E. W., &amp; Gray, C. F. (2024). *Project management: The managerial process* (9th ed.). McGraw-Hill. — leadership, the paradoxes, and the four team pitfalls.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500" b="0" dirty="0">
                <a:solidFill>
                  <a:srgbClr val="292934"/>
                </a:solidFill>
                <a:latin typeface="Arial"/>
              </a:rPr>
              <a:t>Tracy, B. (2017). Eat that frog! (3rd ed.). Berrett-Koehler.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500" b="0" dirty="0">
                <a:solidFill>
                  <a:srgbClr val="292934"/>
                </a:solidFill>
                <a:latin typeface="Arial"/>
              </a:rPr>
              <a:t>Project Management Institute. (2015). *Guidelines for undergraduate project management curricula and resources* (Vol. III: PM-2, Project teams, leadership and communication). Newtown Square, PA: PMI.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500" b="0" dirty="0">
                <a:solidFill>
                  <a:srgbClr val="292934"/>
                </a:solidFill>
                <a:latin typeface="Arial"/>
              </a:rPr>
              <a:t>Warfield, R. (2025). *Motivation* (PM_09) and lecture materials. ENGR90037, University of Melbourne, LMS.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1942</TotalTime>
  <Words>1867</Words>
  <Application>Microsoft Macintosh PowerPoint</Application>
  <PresentationFormat>Widescreen</PresentationFormat>
  <Paragraphs>196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Yimin Li</cp:lastModifiedBy>
  <cp:revision>11</cp:revision>
  <dcterms:created xsi:type="dcterms:W3CDTF">2013-01-27T09:14:16Z</dcterms:created>
  <dcterms:modified xsi:type="dcterms:W3CDTF">2026-09-18T02:45:49Z</dcterms:modified>
  <cp:category/>
</cp:coreProperties>
</file>