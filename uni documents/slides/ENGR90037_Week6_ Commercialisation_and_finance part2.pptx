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320" r:id="rId4"/>
    <p:sldId id="283" r:id="rId5"/>
    <p:sldId id="284" r:id="rId6"/>
    <p:sldId id="285" r:id="rId7"/>
    <p:sldId id="286" r:id="rId8"/>
    <p:sldId id="321" r:id="rId9"/>
    <p:sldId id="322" r:id="rId10"/>
    <p:sldId id="287" r:id="rId11"/>
    <p:sldId id="310" r:id="rId12"/>
    <p:sldId id="323" r:id="rId13"/>
    <p:sldId id="324" r:id="rId14"/>
    <p:sldId id="290" r:id="rId15"/>
    <p:sldId id="291" r:id="rId16"/>
    <p:sldId id="292" r:id="rId17"/>
    <p:sldId id="325" r:id="rId18"/>
    <p:sldId id="326" r:id="rId19"/>
    <p:sldId id="293" r:id="rId20"/>
    <p:sldId id="294" r:id="rId21"/>
    <p:sldId id="295" r:id="rId22"/>
    <p:sldId id="296" r:id="rId23"/>
    <p:sldId id="298" r:id="rId24"/>
    <p:sldId id="318" r:id="rId25"/>
    <p:sldId id="301" r:id="rId26"/>
    <p:sldId id="31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AF68-5944-AA50-6FE3-702719213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CA72-32FC-9EAF-B393-F68C5EF98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D4FEC-E555-AFD0-E117-B8FBAE9F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4E96-A839-F103-5982-75F5A058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FE9F9-FEF2-48A5-7002-6B945EC7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7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4757-054D-51A5-E27F-08DC6E48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8015-508D-9350-F73F-C3F04110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C12E7-FBEF-140D-E3FF-0B8954C3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7F963-0DEE-1766-2BC1-FE3F3EC6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5B6DF-569B-2E38-9C37-4AE13D6A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03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512D-1E48-0F30-B0AE-8D5B01EC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F8242-A956-4974-DCF3-A753AF181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C534E-B6C6-B185-30F1-AC893E5F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F772-CD43-9957-69AA-002615B2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1169-2D19-D0F4-C040-88D00B2E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6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1628-F9D6-CEDF-ECE7-3112CB65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D38EF-2A4B-5877-D586-1BCC42BA1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160FA-03E0-C73B-6C1C-59AB413C4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89C5E-9C84-862A-ACB0-5F919274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47E75-8F68-0D64-C3F7-79CEE1E1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65A82-FAAB-F4EA-8E0A-1FACE907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0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B5D8-DC8D-D86A-B62D-FA9F9B80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A9C0A-8DEE-374B-419F-EBED03FA3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94F43-8FC4-7BA7-3995-8250A3493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1D1CD-B2A6-5FC5-4AA6-29817A573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124CD-766D-AE50-4E7D-7F1932481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82D13-2E3F-C654-50D3-6A811B98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B4F72-3A69-8F72-B292-E435A7FF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05D707-D531-15E5-A20A-C2B239A8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9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19E9-E654-DA00-9F6A-753E852F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AD97E-0355-BEDB-3A0D-086F2150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8A3667-EE21-7830-28E0-D84C91AA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6E009-0284-2B10-4FFA-CE22139A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4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EDEB9-6068-C5A5-36C1-844C88DE9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FDB84-99D9-6FEA-D8E8-645B3484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0CFF1-1BFD-194C-50BA-658692C2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1655-276A-9AC9-B71C-FE1E6FC8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9DB89-1A10-5A62-ACAB-8F922C49F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FCC7A-C11B-6A6D-AA3B-4553F0813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B6D4D-3142-6E05-C53E-BBB96898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8CAAA-5E42-9CE8-FDFE-2675F7E0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C16EC-C151-D571-F30E-70D6E4A7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2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13BC-F8ED-BA7F-F900-5675048A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B3B6A-59CB-3C69-F843-0D52C7519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3BF73-2BDF-E8C5-CA01-D2BD0F292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4E71F-0037-A8FE-43A4-D279610A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29E6E-CCAD-B948-BB14-4A5252F4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06CC5-6EDE-AB67-D7DE-023B8AC9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0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C381-1D4F-C3AD-529E-17533083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0DBFC-18EC-3687-70A4-3764A8031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1AEFE-9B9A-06EA-1C8D-FECE760D8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EFE8-67CB-75FA-2ED8-6C97DA82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8BE44-FFE1-66C4-21A3-AD682BB1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0C24A-BDEB-C9F2-12C2-F0CB837CF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85D1E-86ED-82AF-30BB-47706D1FE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1E7D3-6A64-8D5D-8806-8FF4D6A6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46E2-BFEA-8DA1-C468-85C982E5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460C4-5114-A5A1-AD5B-E22455A3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4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11499-A537-A548-4E76-204CED91E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F1101-9B7E-A1E5-BC12-3FC97131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E728F-6634-232E-C44E-2B28782AF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BE188-9C46-7344-BA1D-525C91234681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23C22-473C-DCFF-3868-955B93605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3B917-05C8-0124-EF61-6274A7F2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A98E8-CF06-3A46-B634-12CD3DEB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06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794760"/>
          </a:xfrm>
          <a:prstGeom prst="rect">
            <a:avLst/>
          </a:prstGeom>
          <a:solidFill>
            <a:srgbClr val="002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B4E8"/>
                </a:solidFill>
                <a:latin typeface="Arial"/>
              </a:rPr>
              <a:t>ENGR90037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161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 dirty="0" err="1">
                <a:solidFill>
                  <a:srgbClr val="FFFFFF"/>
                </a:solidFill>
                <a:latin typeface="Arial"/>
              </a:rPr>
              <a:t>Commercialisation</a:t>
            </a:r>
            <a:r>
              <a:rPr sz="5200" b="1" i="0" dirty="0">
                <a:solidFill>
                  <a:srgbClr val="FFFFFF"/>
                </a:solidFill>
                <a:latin typeface="Arial"/>
              </a:rPr>
              <a:t> and Financial Analysis</a:t>
            </a:r>
            <a:r>
              <a:rPr lang="en-AU" sz="5200" b="1" i="0" dirty="0">
                <a:solidFill>
                  <a:srgbClr val="FFFFFF"/>
                </a:solidFill>
                <a:latin typeface="Arial"/>
              </a:rPr>
              <a:t> (Part 2)</a:t>
            </a:r>
            <a:endParaRPr sz="5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095244"/>
            <a:ext cx="110578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8FB4E8"/>
                </a:solidFill>
                <a:latin typeface="Arial"/>
              </a:rPr>
              <a:t>Lectures </a:t>
            </a:r>
            <a:r>
              <a:rPr lang="en-AU" sz="3000" b="1" i="0" dirty="0">
                <a:solidFill>
                  <a:srgbClr val="8FB4E8"/>
                </a:solidFill>
                <a:latin typeface="Arial"/>
              </a:rPr>
              <a:t>6</a:t>
            </a:r>
            <a:endParaRPr sz="3000" b="1" i="0" dirty="0">
              <a:solidFill>
                <a:srgbClr val="8FB4E8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7FAF3-C019-C493-FB66-E4D3A223041A}"/>
              </a:ext>
            </a:extLst>
          </p:cNvPr>
          <p:cNvSpPr txBox="1"/>
          <p:nvPr/>
        </p:nvSpPr>
        <p:spPr>
          <a:xfrm>
            <a:off x="566927" y="6075438"/>
            <a:ext cx="11057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AU" sz="1600" b="1" dirty="0">
                <a:solidFill>
                  <a:srgbClr val="0066CC"/>
                </a:solidFill>
                <a:latin typeface="Arial"/>
              </a:rPr>
              <a:t>Yimin &amp; Bagus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dirty="0">
                <a:solidFill>
                  <a:srgbClr val="002464"/>
                </a:solidFill>
                <a:latin typeface="Arial"/>
              </a:rPr>
              <a:t>Learning objectives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dirty="0">
                <a:solidFill>
                  <a:srgbClr val="8A93A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846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sz="2400" dirty="0">
                <a:latin typeface="Arial"/>
              </a:rPr>
              <a:t> </a:t>
            </a:r>
            <a:r>
              <a:rPr lang="en-AU" sz="2400" dirty="0">
                <a:latin typeface="Arial"/>
              </a:rPr>
              <a:t> </a:t>
            </a:r>
            <a:r>
              <a:rPr sz="2400" dirty="0">
                <a:latin typeface="Arial"/>
              </a:rPr>
              <a:t> </a:t>
            </a:r>
            <a:r>
              <a:rPr lang="en-AU" sz="2400" dirty="0">
                <a:latin typeface="Arial"/>
              </a:rPr>
              <a:t>Previous lecture we learned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actual</a:t>
            </a:r>
            <a:r>
              <a:rPr lang="en-AU" sz="2400" dirty="0">
                <a:latin typeface="Arial"/>
              </a:rPr>
              <a:t> cash flow analysis, and how to identify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latin typeface="Arial"/>
              </a:rPr>
              <a:t>	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B</a:t>
            </a:r>
            <a:r>
              <a:rPr sz="2400" b="1" dirty="0" err="1">
                <a:solidFill>
                  <a:srgbClr val="0066CC"/>
                </a:solidFill>
                <a:latin typeface="Arial"/>
              </a:rPr>
              <a:t>reak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 even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,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 Payback time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,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 Funding requirement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sz="2400" dirty="0">
                <a:latin typeface="Arial"/>
              </a:rPr>
              <a:t> </a:t>
            </a:r>
            <a:r>
              <a:rPr lang="en-AU" sz="2400" dirty="0">
                <a:latin typeface="Arial"/>
              </a:rPr>
              <a:t> </a:t>
            </a:r>
            <a:r>
              <a:rPr sz="2400" dirty="0">
                <a:latin typeface="Arial"/>
              </a:rPr>
              <a:t> </a:t>
            </a:r>
            <a:r>
              <a:rPr lang="en-AU" sz="2400" dirty="0">
                <a:latin typeface="Arial"/>
              </a:rPr>
              <a:t>This week, we take consideration of time factors.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latin typeface="Arial"/>
              </a:rPr>
              <a:t>	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Discounted</a:t>
            </a:r>
            <a:r>
              <a:rPr sz="2400" dirty="0">
                <a:latin typeface="Arial"/>
              </a:rPr>
              <a:t> cash flow</a:t>
            </a:r>
            <a:r>
              <a:rPr lang="en-AU" sz="2400" dirty="0">
                <a:latin typeface="Arial"/>
              </a:rPr>
              <a:t> analysis</a:t>
            </a:r>
            <a:r>
              <a:rPr sz="2400" dirty="0">
                <a:latin typeface="Arial"/>
              </a:rPr>
              <a:t> </a:t>
            </a:r>
            <a:r>
              <a:rPr lang="en-AU" sz="2400" dirty="0">
                <a:latin typeface="Arial"/>
              </a:rPr>
              <a:t>(DCF)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 </a:t>
            </a:r>
            <a:r>
              <a:rPr lang="en-AU" sz="2400" dirty="0">
                <a:latin typeface="Arial"/>
              </a:rPr>
              <a:t>  How to calculate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n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et present value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 (NPV)</a:t>
            </a:r>
            <a:r>
              <a:rPr lang="en-AU" sz="2400" dirty="0">
                <a:latin typeface="Arial"/>
              </a:rPr>
              <a:t>, and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i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nternal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r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ate of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r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eturn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 (IRR)</a:t>
            </a:r>
            <a:endParaRPr sz="2400" b="1" dirty="0">
              <a:solidFill>
                <a:srgbClr val="0066C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555B2-DEFD-3D40-38E6-C06BEBDD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E8E9E-A80F-1DDD-97B4-5E90F6A858EB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$10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,00</a:t>
            </a:r>
            <a:r>
              <a:rPr sz="3000" b="1" i="0" dirty="0">
                <a:solidFill>
                  <a:srgbClr val="002464"/>
                </a:solidFill>
                <a:latin typeface="Arial"/>
              </a:rPr>
              <a:t>0 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Today vs. $10,000 </a:t>
            </a:r>
            <a:r>
              <a:rPr sz="3000" b="1" i="0" dirty="0">
                <a:solidFill>
                  <a:srgbClr val="002464"/>
                </a:solidFill>
                <a:latin typeface="Arial"/>
              </a:rPr>
              <a:t>in five years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609B7-E60A-9470-574F-8A9B20CF2C73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CD4DB-4AC4-B3FC-3B6B-758C21607780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2CB2E-9BA9-2F83-1B21-FF45A4036B2C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5CF349-40AF-9269-69E6-9F65CFAA7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58" y="2904780"/>
            <a:ext cx="4791044" cy="29750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32269B-082B-9F1C-F095-83E36275AA03}"/>
              </a:ext>
            </a:extLst>
          </p:cNvPr>
          <p:cNvSpPr txBox="1"/>
          <p:nvPr/>
        </p:nvSpPr>
        <p:spPr>
          <a:xfrm>
            <a:off x="566928" y="1664208"/>
            <a:ext cx="11057839" cy="905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1900" dirty="0">
                <a:solidFill>
                  <a:srgbClr val="0066CC"/>
                </a:solidFill>
                <a:latin typeface="Arial"/>
              </a:rPr>
              <a:t>   </a:t>
            </a:r>
            <a:r>
              <a:rPr lang="en-AU" sz="2400" dirty="0">
                <a:latin typeface="Arial"/>
              </a:rPr>
              <a:t>Do you prefer receive $10,000 Australia dollar today, or $10,000 Australia dollar in five years?</a:t>
            </a:r>
            <a:endParaRPr sz="1900" b="0" dirty="0">
              <a:latin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4B31CE-4885-3AA4-EAAF-6233D1031A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7368902" y="2670973"/>
            <a:ext cx="3418666" cy="2122839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C8AA13-35BD-D3D7-3080-3340A3D73B89}"/>
              </a:ext>
            </a:extLst>
          </p:cNvPr>
          <p:cNvSpPr txBox="1"/>
          <p:nvPr/>
        </p:nvSpPr>
        <p:spPr>
          <a:xfrm>
            <a:off x="1953733" y="5879804"/>
            <a:ext cx="3957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AU" sz="1200" dirty="0">
                <a:solidFill>
                  <a:schemeClr val="bg1">
                    <a:lumMod val="50000"/>
                  </a:schemeClr>
                </a:solidFill>
              </a:rPr>
              <a:t>Photo by </a:t>
            </a:r>
            <a:r>
              <a:rPr lang="en-AU" sz="1200" dirty="0" err="1">
                <a:solidFill>
                  <a:schemeClr val="bg1">
                    <a:lumMod val="50000"/>
                  </a:schemeClr>
                </a:solidFill>
              </a:rPr>
              <a:t>Selensergen</a:t>
            </a:r>
            <a:r>
              <a:rPr lang="en-AU" sz="1200" dirty="0">
                <a:solidFill>
                  <a:schemeClr val="bg1">
                    <a:lumMod val="50000"/>
                  </a:schemeClr>
                </a:solidFill>
              </a:rPr>
              <a:t> on </a:t>
            </a:r>
            <a:r>
              <a:rPr lang="en-AU" sz="1200" dirty="0" err="1">
                <a:solidFill>
                  <a:schemeClr val="bg1">
                    <a:lumMod val="50000"/>
                  </a:schemeClr>
                </a:solidFill>
              </a:rPr>
              <a:t>dreamstime</a:t>
            </a:r>
            <a:endParaRPr lang="en-A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Why $10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,</a:t>
            </a:r>
            <a:r>
              <a:rPr sz="3000" b="1" i="0" dirty="0">
                <a:solidFill>
                  <a:srgbClr val="002464"/>
                </a:solidFill>
                <a:latin typeface="Arial"/>
              </a:rPr>
              <a:t>0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00</a:t>
            </a:r>
            <a:r>
              <a:rPr sz="3000" b="1" i="0" dirty="0">
                <a:solidFill>
                  <a:srgbClr val="002464"/>
                </a:solidFill>
                <a:latin typeface="Arial"/>
              </a:rPr>
              <a:t> in five years is not $10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,00</a:t>
            </a:r>
            <a:r>
              <a:rPr sz="3000" b="1" i="0" dirty="0">
                <a:solidFill>
                  <a:srgbClr val="002464"/>
                </a:solidFill>
                <a:latin typeface="Arial"/>
              </a:rPr>
              <a:t>0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327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Time value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- money in your hand can be put to work immediately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Monetary</a:t>
            </a:r>
            <a:r>
              <a:rPr lang="en-AU" sz="2400" b="0" dirty="0">
                <a:solidFill>
                  <a:srgbClr val="0066CC"/>
                </a:solidFill>
                <a:latin typeface="Arial"/>
              </a:rPr>
              <a:t>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Inflation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–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money supply grows faster than good/service production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Cost escalation </a:t>
            </a:r>
            <a:r>
              <a:rPr lang="en-AU" sz="2400" b="0" dirty="0">
                <a:solidFill>
                  <a:srgbClr val="0066CC"/>
                </a:solidFill>
                <a:latin typeface="Arial"/>
              </a:rPr>
              <a:t>–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the same $100 buys less in five years than it does now</a:t>
            </a:r>
            <a:endParaRPr lang="en-AU" sz="2400" b="0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Risk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- a future payment might not arrive at all</a:t>
            </a:r>
            <a:endParaRPr lang="en-AU" sz="24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So a future amount must be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discounted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to compare it with money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Two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140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Rate of return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looks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forward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from today. Invest $100, get $105 next year - that is 5%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Discount rate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looks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backward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from the future. It is the rate used to shrink future money to today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They are the same trade seen from two ends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8C4B37-2B36-9FCA-D2F9-B637FFC7CD9C}"/>
              </a:ext>
            </a:extLst>
          </p:cNvPr>
          <p:cNvCxnSpPr/>
          <p:nvPr/>
        </p:nvCxnSpPr>
        <p:spPr>
          <a:xfrm>
            <a:off x="1518683" y="5039829"/>
            <a:ext cx="9154633" cy="0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1DF9D3-9A2C-DA19-191E-798C4ABB07F7}"/>
              </a:ext>
            </a:extLst>
          </p:cNvPr>
          <p:cNvSpPr txBox="1"/>
          <p:nvPr/>
        </p:nvSpPr>
        <p:spPr>
          <a:xfrm>
            <a:off x="1061486" y="4300768"/>
            <a:ext cx="914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$100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AB6EC5-C62D-3376-3FAF-963452CA118E}"/>
              </a:ext>
            </a:extLst>
          </p:cNvPr>
          <p:cNvCxnSpPr/>
          <p:nvPr/>
        </p:nvCxnSpPr>
        <p:spPr>
          <a:xfrm>
            <a:off x="1522228" y="4956539"/>
            <a:ext cx="0" cy="18075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C4A114-EE4C-E725-79CE-01D635E384F8}"/>
              </a:ext>
            </a:extLst>
          </p:cNvPr>
          <p:cNvSpPr txBox="1"/>
          <p:nvPr/>
        </p:nvSpPr>
        <p:spPr>
          <a:xfrm>
            <a:off x="832875" y="5298070"/>
            <a:ext cx="1371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Current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B96484-B701-8C9B-246B-B0810F60D773}"/>
              </a:ext>
            </a:extLst>
          </p:cNvPr>
          <p:cNvSpPr txBox="1"/>
          <p:nvPr/>
        </p:nvSpPr>
        <p:spPr>
          <a:xfrm>
            <a:off x="10136371" y="5299837"/>
            <a:ext cx="1073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Year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C30D66-E05C-067C-A717-42327173F664}"/>
              </a:ext>
            </a:extLst>
          </p:cNvPr>
          <p:cNvSpPr txBox="1"/>
          <p:nvPr/>
        </p:nvSpPr>
        <p:spPr>
          <a:xfrm>
            <a:off x="10161734" y="4396064"/>
            <a:ext cx="914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$105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545810F-BFA2-9B75-74A8-0EDFFD353252}"/>
              </a:ext>
            </a:extLst>
          </p:cNvPr>
          <p:cNvCxnSpPr>
            <a:stCxn id="14" idx="0"/>
            <a:endCxn id="18" idx="0"/>
          </p:cNvCxnSpPr>
          <p:nvPr/>
        </p:nvCxnSpPr>
        <p:spPr>
          <a:xfrm rot="16200000" flipH="1">
            <a:off x="6021159" y="-201708"/>
            <a:ext cx="95296" cy="9100248"/>
          </a:xfrm>
          <a:prstGeom prst="bentConnector3">
            <a:avLst>
              <a:gd name="adj1" fmla="val -239884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F6EB378-C793-F2AE-3B95-66F4F1561D44}"/>
              </a:ext>
            </a:extLst>
          </p:cNvPr>
          <p:cNvCxnSpPr>
            <a:stCxn id="17" idx="2"/>
            <a:endCxn id="16" idx="2"/>
          </p:cNvCxnSpPr>
          <p:nvPr/>
        </p:nvCxnSpPr>
        <p:spPr>
          <a:xfrm rot="5400000" flipH="1">
            <a:off x="6095115" y="1183302"/>
            <a:ext cx="1767" cy="9154634"/>
          </a:xfrm>
          <a:prstGeom prst="bentConnector3">
            <a:avLst>
              <a:gd name="adj1" fmla="val -12937182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6D8E41B-6E91-E42A-6577-CBE6791B21F1}"/>
              </a:ext>
            </a:extLst>
          </p:cNvPr>
          <p:cNvSpPr txBox="1"/>
          <p:nvPr/>
        </p:nvSpPr>
        <p:spPr>
          <a:xfrm>
            <a:off x="4943003" y="3657002"/>
            <a:ext cx="313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Rate of return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EB8652-7227-DCE0-9698-F55E78F19514}"/>
              </a:ext>
            </a:extLst>
          </p:cNvPr>
          <p:cNvSpPr txBox="1"/>
          <p:nvPr/>
        </p:nvSpPr>
        <p:spPr>
          <a:xfrm>
            <a:off x="4943003" y="5922847"/>
            <a:ext cx="3261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Discount rate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discount factor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914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discount factor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is just a multiplier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: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</a:t>
            </a:r>
            <a:endParaRPr lang="en-AU" sz="19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292934"/>
                </a:solidFill>
                <a:latin typeface="Arial"/>
              </a:rPr>
              <a:t>			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DF = 1 / (1 + r)ⁿ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</a:t>
            </a:r>
            <a:endParaRPr lang="en-AU" sz="19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b="0" dirty="0">
                <a:solidFill>
                  <a:srgbClr val="292934"/>
                </a:solidFill>
                <a:latin typeface="Arial"/>
              </a:rPr>
              <a:t>			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r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is the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 discount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rate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 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292934"/>
                </a:solidFill>
                <a:latin typeface="Arial"/>
              </a:rPr>
              <a:t>			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n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is the number of periods</a:t>
            </a:r>
            <a:endParaRPr lang="en-AU" sz="1900" b="0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At r = 10%: one year out DF = 0.909, five years out DF = 0.621, eight years out DF = 0.467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Further away mean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s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a smaller factor - the future shrinks faster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dirty="0">
                <a:solidFill>
                  <a:srgbClr val="002464"/>
                </a:solidFill>
                <a:latin typeface="Arial"/>
              </a:rPr>
              <a:t>Formula for calculating present value 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255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Present value = Future value × discount factor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or equivalently,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Present value = Future value / (1 + r)ⁿ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r = the discount rate per period </a:t>
            </a:r>
            <a:endParaRPr lang="en-AU" sz="24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n = the number of periods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94D5D-007E-95F2-5A35-320F3B78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94E1B-B25B-9B5E-1318-A70D98DDF4E2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Example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DFE07-A0A2-2683-EEF8-2FCBEA44CA69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EE592-CE0E-7A43-00E1-BC8679329EB9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C0D3D-5D9C-78A4-5783-BD09524E9937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32724-4640-59A1-6977-0559CF0BA8F9}"/>
              </a:ext>
            </a:extLst>
          </p:cNvPr>
          <p:cNvSpPr txBox="1"/>
          <p:nvPr/>
        </p:nvSpPr>
        <p:spPr>
          <a:xfrm>
            <a:off x="566928" y="1664208"/>
            <a:ext cx="5327245" cy="368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800" dirty="0">
                <a:solidFill>
                  <a:srgbClr val="0066CC"/>
                </a:solidFill>
                <a:latin typeface="Arial"/>
              </a:rPr>
              <a:t>   </a:t>
            </a:r>
            <a:r>
              <a:rPr lang="en-AU" sz="2800" dirty="0">
                <a:latin typeface="Arial"/>
              </a:rPr>
              <a:t>If I ask you if you could buy me a coffee today and I will pay you back with $100, one hundred years later.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8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800" dirty="0">
                <a:latin typeface="Arial"/>
              </a:rPr>
              <a:t>What is the present value (PV) of the $100 in the future? At 5% annual return</a:t>
            </a:r>
            <a:endParaRPr sz="2800" b="0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A61C4-82C1-5C6E-6812-9A148792A080}"/>
              </a:ext>
            </a:extLst>
          </p:cNvPr>
          <p:cNvSpPr txBox="1"/>
          <p:nvPr/>
        </p:nvSpPr>
        <p:spPr>
          <a:xfrm>
            <a:off x="566928" y="6076735"/>
            <a:ext cx="742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Example from Bob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4CAEEE-E78B-9FF1-20DB-5D84E791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082" y="1880295"/>
            <a:ext cx="3928045" cy="373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2B5E-BB1D-FD71-CBF9-D5D5B06A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49D3F-98F6-73E0-9820-57FD69F42163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Example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915B4-8CBF-11C3-9248-E854D61F3203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2ECCE-15E8-F803-0C52-FBB29618CB6C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ED748-862C-63A3-C677-911C1926D2AD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CEBEF-4FD5-B064-419B-918E34873462}"/>
              </a:ext>
            </a:extLst>
          </p:cNvPr>
          <p:cNvSpPr txBox="1"/>
          <p:nvPr/>
        </p:nvSpPr>
        <p:spPr>
          <a:xfrm>
            <a:off x="566928" y="1664208"/>
            <a:ext cx="6365213" cy="4229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Arial"/>
              </a:rPr>
              <a:t>•   Leonardo da Vinci, painter of the</a:t>
            </a:r>
          </a:p>
          <a:p>
            <a:r>
              <a:rPr lang="en-AU" sz="2400" dirty="0">
                <a:latin typeface="Arial"/>
              </a:rPr>
              <a:t>Mona Lisa, died in 1519. If he instead of spending his money to buy canvas, frame, paints, he deposited $1 into a bank (hypothetical perfectly secure) paying 5% per year, how much would that grow to from 1519 to 2019 (assuming no withdrawals or</a:t>
            </a:r>
          </a:p>
          <a:p>
            <a:r>
              <a:rPr lang="en-AU" sz="2400" dirty="0">
                <a:latin typeface="Arial"/>
              </a:rPr>
              <a:t>deposits in the intervening years)?</a:t>
            </a:r>
          </a:p>
          <a:p>
            <a:endParaRPr lang="en-AU" sz="2400" dirty="0"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latin typeface="Arial"/>
              </a:rPr>
              <a:t>•   Is the Mona Lisa worth more or the $1 worth more.</a:t>
            </a:r>
            <a:endParaRPr sz="2400" b="0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D0A23-9119-55EE-7F85-7E33615F7F83}"/>
              </a:ext>
            </a:extLst>
          </p:cNvPr>
          <p:cNvSpPr txBox="1"/>
          <p:nvPr/>
        </p:nvSpPr>
        <p:spPr>
          <a:xfrm>
            <a:off x="566928" y="6076735"/>
            <a:ext cx="7427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Example from Bob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53979B-B9E3-4059-6943-EC3DEA53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127" y="1568842"/>
            <a:ext cx="31750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67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Example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914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If someone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asks to borrow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$100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and promises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$108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in one year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You could instead put it in the bank at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5%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that is your opportunity cost, so r = 5%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What is the present value of this deal?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Discount factor = 1 / (1 + 0.05)¹ =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0.9524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Present value = 108 × 0.9524 =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$102.86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You pay $100 today for something worth $102.86 today. You are about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$2.86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better 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4206-90EA-BA72-AB87-AAE26416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921B7A-9623-3C8E-C134-E2A0A239C594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11C1B-6241-9B2E-9E00-7CC9B7275805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0" i="0">
                <a:solidFill>
                  <a:srgbClr val="292934"/>
                </a:solidFill>
                <a:latin typeface="Arial"/>
              </a:rPr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6F3E8-90DB-3E59-4E4E-8E29064AA3EB}"/>
              </a:ext>
            </a:extLst>
          </p:cNvPr>
          <p:cNvSpPr txBox="1"/>
          <p:nvPr/>
        </p:nvSpPr>
        <p:spPr>
          <a:xfrm>
            <a:off x="566928" y="1664208"/>
            <a:ext cx="11057839" cy="4372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A company's starting point is its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cost of capital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 - the blended cost of its debt and equity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Then add a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risk premium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Venture capital rates of 30-40% are not greed - most of the portfolio returns nothing</a:t>
            </a:r>
            <a:endParaRPr lang="en-AU" sz="2400" b="0" dirty="0">
              <a:solidFill>
                <a:srgbClr val="0066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  </a:t>
            </a:r>
            <a:r>
              <a:rPr lang="en-AU" sz="2400" b="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AU" sz="24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r" isn't a property of the cash flow itself - it's the return demanded by whoever is entitled to that cash flow.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F5191-E563-EB25-8E5B-5F068FE11981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How “r” </a:t>
            </a:r>
            <a:r>
              <a:rPr lang="en-AU" sz="3000" b="1" dirty="0">
                <a:solidFill>
                  <a:srgbClr val="002464"/>
                </a:solidFill>
                <a:latin typeface="Arial"/>
              </a:rPr>
              <a:t>is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 interpreted by company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6833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A2EC-1F0E-29AF-8C8C-36B70A0B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B05616-7668-79E9-6E1B-3FE629841B04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1AE55-54D1-622D-330B-9EF134B3120F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0" i="0">
                <a:solidFill>
                  <a:srgbClr val="292934"/>
                </a:solidFill>
                <a:latin typeface="Arial"/>
              </a:rPr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D1BFD-A174-8B13-86A3-FCE19DAFC920}"/>
              </a:ext>
            </a:extLst>
          </p:cNvPr>
          <p:cNvSpPr txBox="1"/>
          <p:nvPr/>
        </p:nvSpPr>
        <p:spPr>
          <a:xfrm>
            <a:off x="566928" y="1664208"/>
            <a:ext cx="11057839" cy="524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Imagine you launch a business that requires a total investment of $500,000. To fund it, you borrow $400,000 from a bank at a 5% interest rate and contribute $100,000 of your own money as equity. Because you carry the residual risk of the business, you require a 12% rate of return on your personal investment.</a:t>
            </a:r>
          </a:p>
          <a:p>
            <a:pPr marL="457200" indent="-457200">
              <a:buAutoNum type="arabicPeriod"/>
            </a:pP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Lender's Perspective (Cost of Debt):</a:t>
            </a:r>
            <a:b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bank is conducting a financial analysis to approve this loan, what is their expected rate of return, and why?</a:t>
            </a:r>
          </a:p>
          <a:p>
            <a:pPr marL="457200" indent="-457200">
              <a:buAutoNum type="arabicPeriod"/>
            </a:pPr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Investor's Perspective (Cost of Equity):</a:t>
            </a:r>
            <a:b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 you are conducting a financial analysis focusing strictly on the cash distributions you receive personally as the owner after paying off the bank, what discount rate should you use?</a:t>
            </a:r>
          </a:p>
          <a:p>
            <a:pPr marL="457200" indent="-457200">
              <a:buAutoNum type="arabicPeriod"/>
            </a:pPr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Entity's Perspective (WACC):</a:t>
            </a:r>
            <a:b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 you are conducting a financial analysis of the entire business project as a whole, evaluating if the total operating profits can support both the debt and equity funding, what discount rate should you use?</a:t>
            </a:r>
          </a:p>
          <a:p>
            <a:pPr>
              <a:lnSpc>
                <a:spcPct val="100000"/>
              </a:lnSpc>
              <a:spcAft>
                <a:spcPts val="1300"/>
              </a:spcAft>
            </a:pP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3DA81-CE7E-9EA5-A307-73BC65766DBD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Example – How “r” can be interpreted differently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1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CA6FE-496F-E2DF-9600-7751E76C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4DF350-6C7F-BD5F-FE9A-E3438A83BE7E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8C783-26E6-9DF6-C0EF-4714DDB3AB2E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0" i="0">
                <a:solidFill>
                  <a:srgbClr val="292934"/>
                </a:solidFill>
                <a:latin typeface="Arial"/>
              </a:rPr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32296-9A6B-5C97-CD86-10875C1FF5E3}"/>
              </a:ext>
            </a:extLst>
          </p:cNvPr>
          <p:cNvSpPr txBox="1"/>
          <p:nvPr/>
        </p:nvSpPr>
        <p:spPr>
          <a:xfrm>
            <a:off x="566928" y="1664208"/>
            <a:ext cx="11057839" cy="378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Imagine you launch a business that requires a total investment of $500,000. To fund it, you borrow $400,000 from a bank at a 5% interest rate and contribute $100,000 of your own money as equity. Because you carry the residual risk of the business, you require a 12% rate of return on your personal investment.</a:t>
            </a:r>
          </a:p>
          <a:p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 startAt="3"/>
            </a:pP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Entity's Perspective (WACC):</a:t>
            </a:r>
            <a:b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9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 you are conducting a financial analysis of the entire business project as a whole, evaluating if the total operating profits can support both the debt and equity funding, what discount rate should you use?</a:t>
            </a:r>
          </a:p>
          <a:p>
            <a:pPr marL="457200" indent="-457200">
              <a:buAutoNum type="arabicPeriod" startAt="3"/>
            </a:pPr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9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1300"/>
              </a:spcAft>
            </a:pP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F3C42-6035-A0C5-8197-A515867845D4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Example – How “r” can be interpreted differently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7DE91A-0B15-003F-7278-B7C593192C9C}"/>
                  </a:ext>
                </a:extLst>
              </p:cNvPr>
              <p:cNvSpPr txBox="1"/>
              <p:nvPr/>
            </p:nvSpPr>
            <p:spPr>
              <a:xfrm>
                <a:off x="1868953" y="4727153"/>
                <a:ext cx="9425914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𝑾𝑨𝑪𝑪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=</m:t>
                      </m:r>
                      <m:d>
                        <m:dPr>
                          <m:ctrlP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</m:ctrlPr>
                        </m:dPr>
                        <m:e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𝑪𝒐𝒔𝒕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 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𝒐𝒇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 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𝑫𝒆𝒃𝒕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 × 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𝑾𝒆𝒊𝒈𝒉𝒕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 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𝒐𝒇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 </m:t>
                          </m:r>
                          <m:r>
                            <a:rPr lang="en-AU" sz="1900" b="1">
                              <a:solidFill>
                                <a:srgbClr val="0066CC"/>
                              </a:solidFill>
                              <a:latin typeface="Arial"/>
                            </a:rPr>
                            <m:t>𝑫𝒆𝒃𝒕</m:t>
                          </m:r>
                        </m:e>
                      </m:d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+(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𝑪𝒐𝒔𝒕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 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𝒐𝒇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 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𝑬𝒒𝒖𝒊𝒕𝒚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 × 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𝑾𝒆𝒊𝒈𝒉𝒕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 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𝒐𝒇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 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𝑬𝒒𝒖𝒊𝒕𝒚</m:t>
                      </m:r>
                      <m:r>
                        <a:rPr lang="en-AU" sz="1900" b="1">
                          <a:solidFill>
                            <a:srgbClr val="0066CC"/>
                          </a:solidFill>
                          <a:latin typeface="Arial"/>
                        </a:rPr>
                        <m:t>)</m:t>
                      </m:r>
                    </m:oMath>
                  </m:oMathPara>
                </a14:m>
                <a:endParaRPr lang="en-US" sz="1900" b="1" dirty="0">
                  <a:solidFill>
                    <a:srgbClr val="0066CC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7DE91A-0B15-003F-7278-B7C593192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953" y="4727153"/>
                <a:ext cx="9425914" cy="292388"/>
              </a:xfrm>
              <a:prstGeom prst="rect">
                <a:avLst/>
              </a:prstGeom>
              <a:blipFill>
                <a:blip r:embed="rId2"/>
                <a:stretch>
                  <a:fillRect l="-135" t="-8333" r="-269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4E3C086-7F8F-9083-D14C-A1908DD47C73}"/>
              </a:ext>
            </a:extLst>
          </p:cNvPr>
          <p:cNvSpPr txBox="1"/>
          <p:nvPr/>
        </p:nvSpPr>
        <p:spPr>
          <a:xfrm>
            <a:off x="0" y="6528816"/>
            <a:ext cx="10207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292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 Corporate tax is ignored in this introductory model to simplify the calculation.</a:t>
            </a:r>
            <a:endParaRPr lang="en-US" sz="1600" dirty="0">
              <a:solidFill>
                <a:srgbClr val="2929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E790D-6FFF-A3E6-70EA-2E712C760539}"/>
                  </a:ext>
                </a:extLst>
              </p:cNvPr>
              <p:cNvSpPr txBox="1"/>
              <p:nvPr/>
            </p:nvSpPr>
            <p:spPr>
              <a:xfrm>
                <a:off x="1943381" y="5193792"/>
                <a:ext cx="3692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𝑊𝐴𝐶𝐶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=(5% × 80%)</m:t>
                    </m:r>
                  </m:oMath>
                </a14:m>
                <a:r>
                  <a:rPr lang="en-US" dirty="0"/>
                  <a:t> + (12%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20%)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E790D-6FFF-A3E6-70EA-2E712C760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381" y="5193792"/>
                <a:ext cx="3692229" cy="276999"/>
              </a:xfrm>
              <a:prstGeom prst="rect">
                <a:avLst/>
              </a:prstGeom>
              <a:blipFill>
                <a:blip r:embed="rId3"/>
                <a:stretch>
                  <a:fillRect l="-2405" t="-21739" r="-3093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EF9DFA-5F46-CA7D-5577-1EFFA7202DD1}"/>
                  </a:ext>
                </a:extLst>
              </p:cNvPr>
              <p:cNvSpPr txBox="1"/>
              <p:nvPr/>
            </p:nvSpPr>
            <p:spPr>
              <a:xfrm>
                <a:off x="1911482" y="5688675"/>
                <a:ext cx="15602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𝑊𝐴𝐶𝐶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=6.4%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EF9DFA-5F46-CA7D-5577-1EFFA7202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482" y="5688675"/>
                <a:ext cx="1560235" cy="276999"/>
              </a:xfrm>
              <a:prstGeom prst="rect">
                <a:avLst/>
              </a:prstGeom>
              <a:blipFill>
                <a:blip r:embed="rId4"/>
                <a:stretch>
                  <a:fillRect l="-3226" t="-4348" r="-5645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02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From one payment to a stream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 - NPV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The friend example discounted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one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future amount. A project has a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column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of them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Discount every period's net cash flow by its own factor, then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add them all up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That total is the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net present value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the value the project adds, in today's money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NPV &gt; 0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worth more than the alternative you priced into r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NPV &lt; 0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you would be better off doing the alternative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How long do we study?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411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study period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is how far into the future you forecast. It is a decision you must justify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It has to cover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development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,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launch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, and enough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trading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to show </a:t>
            </a:r>
            <a:r>
              <a:rPr sz="1900" b="0">
                <a:solidFill>
                  <a:srgbClr val="292934"/>
                </a:solidFill>
                <a:latin typeface="Arial"/>
              </a:rPr>
              <a:t>the venture</a:t>
            </a:r>
            <a:endParaRPr sz="19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Longer periods carry more uncertainty - and discounting makes distant years matter less anyway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At the end, count the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salvage value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what the assets are worth when you stop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Salvage can be negative: decommissioning, site remediation, disposal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4. Net present value - 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example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434840"/>
            <a:ext cx="11057839" cy="1508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600" b="0" dirty="0">
                <a:solidFill>
                  <a:srgbClr val="292934"/>
                </a:solidFill>
                <a:latin typeface="Arial"/>
              </a:rPr>
              <a:t>Same eight cash flows as week 5. Two new columns. r = </a:t>
            </a:r>
            <a:r>
              <a:rPr sz="1600" b="1" dirty="0">
                <a:solidFill>
                  <a:srgbClr val="0066CC"/>
                </a:solidFill>
                <a:latin typeface="Arial"/>
              </a:rPr>
              <a:t>10%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600" b="0" dirty="0">
                <a:solidFill>
                  <a:srgbClr val="292934"/>
                </a:solidFill>
                <a:latin typeface="Arial"/>
              </a:rPr>
              <a:t>Year 1 means the end of year 1. So n = 1.</a:t>
            </a:r>
            <a:endParaRPr sz="16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600" b="1" dirty="0">
                <a:solidFill>
                  <a:srgbClr val="0066CC"/>
                </a:solidFill>
                <a:latin typeface="Arial"/>
              </a:rPr>
              <a:t>NPV = $</a:t>
            </a:r>
            <a:r>
              <a:rPr lang="en-AU" sz="1600" b="1" dirty="0">
                <a:solidFill>
                  <a:srgbClr val="0066CC"/>
                </a:solidFill>
                <a:latin typeface="Arial"/>
              </a:rPr>
              <a:t>2,557,204</a:t>
            </a:r>
            <a:r>
              <a:rPr sz="1600" b="0" dirty="0">
                <a:solidFill>
                  <a:srgbClr val="292934"/>
                </a:solidFill>
                <a:latin typeface="Arial"/>
              </a:rPr>
              <a:t> - the venture adds $2.</a:t>
            </a:r>
            <a:r>
              <a:rPr lang="en-AU" sz="1600" b="0" dirty="0">
                <a:solidFill>
                  <a:srgbClr val="292934"/>
                </a:solidFill>
                <a:latin typeface="Arial"/>
              </a:rPr>
              <a:t>6</a:t>
            </a:r>
            <a:r>
              <a:rPr sz="1600" b="0" dirty="0">
                <a:solidFill>
                  <a:srgbClr val="292934"/>
                </a:solidFill>
                <a:latin typeface="Arial"/>
              </a:rPr>
              <a:t> million in today's money, at 10%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600" b="0" dirty="0">
                <a:solidFill>
                  <a:srgbClr val="292934"/>
                </a:solidFill>
                <a:latin typeface="Arial"/>
              </a:rPr>
              <a:t>The early negatives barely shrink. The late positives shrink a lot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7B73E2-1E63-19C7-175E-7798D7B75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536" y="1527190"/>
            <a:ext cx="9530928" cy="266203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50DCA82-8903-42EB-1DE0-A01D199840D1}"/>
              </a:ext>
            </a:extLst>
          </p:cNvPr>
          <p:cNvSpPr/>
          <p:nvPr/>
        </p:nvSpPr>
        <p:spPr>
          <a:xfrm>
            <a:off x="9460965" y="3695346"/>
            <a:ext cx="1400499" cy="616688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A7644-5718-A5B0-A2ED-0C66642AB8B5}"/>
              </a:ext>
            </a:extLst>
          </p:cNvPr>
          <p:cNvSpPr txBox="1"/>
          <p:nvPr/>
        </p:nvSpPr>
        <p:spPr>
          <a:xfrm>
            <a:off x="9655733" y="4750041"/>
            <a:ext cx="2067888" cy="92333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Last week, the cumulative cash flow was 5.78M.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71F28E-FEFF-3178-CDA2-D4B716D5F31C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10354962" y="4128349"/>
            <a:ext cx="334715" cy="621692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AD52-28E9-D240-2370-FF6D31B8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C6C14C-B167-7492-4C95-653C16EB4DFA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dirty="0">
                <a:solidFill>
                  <a:srgbClr val="002464"/>
                </a:solidFill>
                <a:latin typeface="Arial"/>
              </a:rPr>
              <a:t>Example – the net present value of a Perpetuity 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5B582-3221-C8C4-055A-3209A77FA5F3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28FB1-580C-4442-FF11-2C20AC0A90D2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3BD6C-E369-A19C-25DF-B1A6FCFFE2BD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97A98-5F19-65C0-D083-ACA8BDFE3627}"/>
              </a:ext>
            </a:extLst>
          </p:cNvPr>
          <p:cNvSpPr txBox="1"/>
          <p:nvPr/>
        </p:nvSpPr>
        <p:spPr>
          <a:xfrm>
            <a:off x="566928" y="1664208"/>
            <a:ext cx="11057839" cy="1239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A perpetuity is a constant cash flows that continues forever with no end date.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If you receive $100 dollar every year, with r as the rate of return, first payment at the end of year 1, what is the present value?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61F377-FB1C-BB2B-B575-1D298D0956BB}"/>
                  </a:ext>
                </a:extLst>
              </p:cNvPr>
              <p:cNvSpPr txBox="1"/>
              <p:nvPr/>
            </p:nvSpPr>
            <p:spPr>
              <a:xfrm>
                <a:off x="2366318" y="3149773"/>
                <a:ext cx="7084119" cy="7816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$100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$100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$100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$100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61F377-FB1C-BB2B-B575-1D298D095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318" y="3149773"/>
                <a:ext cx="7084119" cy="781624"/>
              </a:xfrm>
              <a:prstGeom prst="rect">
                <a:avLst/>
              </a:prstGeom>
              <a:blipFill>
                <a:blip r:embed="rId2"/>
                <a:stretch>
                  <a:fillRect l="-538" t="-3226" b="-1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13E18D-B5E9-EDB9-80C1-D057274A720A}"/>
                  </a:ext>
                </a:extLst>
              </p:cNvPr>
              <p:cNvSpPr txBox="1"/>
              <p:nvPr/>
            </p:nvSpPr>
            <p:spPr>
              <a:xfrm>
                <a:off x="2366318" y="4324931"/>
                <a:ext cx="1881476" cy="713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$100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13E18D-B5E9-EDB9-80C1-D057274A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318" y="4324931"/>
                <a:ext cx="1881476" cy="713722"/>
              </a:xfrm>
              <a:prstGeom prst="rect">
                <a:avLst/>
              </a:prstGeom>
              <a:blipFill>
                <a:blip r:embed="rId3"/>
                <a:stretch>
                  <a:fillRect l="-3356" t="-1754" r="-469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68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5B09-B827-6CBA-DF8B-DEE278BD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FE715-B1E8-6B92-079D-6E65B301D135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dirty="0">
                <a:solidFill>
                  <a:srgbClr val="002464"/>
                </a:solidFill>
                <a:latin typeface="Arial"/>
              </a:rPr>
              <a:t>Example – the net present value of a Perpetuity 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65E21-1E78-BDA4-B7BD-EF463ACAA418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2D10A-FAD6-4874-5D01-FE89A818275F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F5608-3902-6DDD-1C49-53C8D78434D9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F3DC6-E42C-9043-45D6-A2A9ED411A00}"/>
              </a:ext>
            </a:extLst>
          </p:cNvPr>
          <p:cNvSpPr txBox="1"/>
          <p:nvPr/>
        </p:nvSpPr>
        <p:spPr>
          <a:xfrm>
            <a:off x="566928" y="1664208"/>
            <a:ext cx="11057839" cy="2914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b="0" dirty="0">
                <a:latin typeface="Arial"/>
              </a:rPr>
              <a:t>If you deposit amount of money C into the bank with interest rate of 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</a:t>
            </a:r>
            <a:r>
              <a:rPr lang="en-AU" sz="1900" dirty="0">
                <a:latin typeface="Arial"/>
              </a:rPr>
              <a:t>  At the end of each year, you withdraw the interest i, and keep the initial investment C in the bank.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</a:t>
            </a:r>
            <a:r>
              <a:rPr lang="en-AU" sz="1900" dirty="0">
                <a:latin typeface="Arial"/>
              </a:rPr>
              <a:t>  In this case, you can withdraw ”i” money from the bank forever.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endParaRPr lang="en-AU" sz="1900" dirty="0"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endParaRPr lang="en-AU" sz="1900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latin typeface="Arial"/>
              </a:rPr>
              <a:t>So, you ”lose” the initial investment C, and you receive a constant payment of i forever.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D371E-DD42-AE7F-A57F-CF4710A6AFD3}"/>
                  </a:ext>
                </a:extLst>
              </p:cNvPr>
              <p:cNvSpPr txBox="1"/>
              <p:nvPr/>
            </p:nvSpPr>
            <p:spPr>
              <a:xfrm>
                <a:off x="4838084" y="4715756"/>
                <a:ext cx="1966885" cy="686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D371E-DD42-AE7F-A57F-CF4710A6A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084" y="4715756"/>
                <a:ext cx="1966885" cy="686470"/>
              </a:xfrm>
              <a:prstGeom prst="rect">
                <a:avLst/>
              </a:prstGeom>
              <a:blipFill>
                <a:blip r:embed="rId2"/>
                <a:stretch>
                  <a:fillRect l="-3871" t="-1818" r="-193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A717F0-7986-2FFC-2964-F3C28D19A3ED}"/>
                  </a:ext>
                </a:extLst>
              </p:cNvPr>
              <p:cNvSpPr txBox="1"/>
              <p:nvPr/>
            </p:nvSpPr>
            <p:spPr>
              <a:xfrm>
                <a:off x="5184045" y="3225361"/>
                <a:ext cx="1274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A717F0-7986-2FFC-2964-F3C28D19A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045" y="3225361"/>
                <a:ext cx="1274964" cy="369332"/>
              </a:xfrm>
              <a:prstGeom prst="rect">
                <a:avLst/>
              </a:prstGeom>
              <a:blipFill>
                <a:blip r:embed="rId3"/>
                <a:stretch>
                  <a:fillRect l="-5941" t="-6452" r="-1980" b="-32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1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5. Internal rate of return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 (IRR)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36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The </a:t>
            </a:r>
            <a:r>
              <a:rPr sz="2800" b="1" dirty="0">
                <a:solidFill>
                  <a:srgbClr val="0066CC"/>
                </a:solidFill>
                <a:latin typeface="Arial"/>
              </a:rPr>
              <a:t>IRR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 is the value of </a:t>
            </a:r>
            <a:r>
              <a:rPr lang="en-AU" sz="2800" b="0" dirty="0">
                <a:solidFill>
                  <a:srgbClr val="292934"/>
                </a:solidFill>
                <a:latin typeface="Arial"/>
              </a:rPr>
              <a:t>"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r</a:t>
            </a:r>
            <a:r>
              <a:rPr lang="en-AU" sz="2800" b="0" dirty="0">
                <a:solidFill>
                  <a:srgbClr val="292934"/>
                </a:solidFill>
                <a:latin typeface="Arial"/>
              </a:rPr>
              <a:t>"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 at which the </a:t>
            </a:r>
            <a:r>
              <a:rPr sz="2800" b="1" dirty="0">
                <a:solidFill>
                  <a:srgbClr val="0066CC"/>
                </a:solidFill>
                <a:latin typeface="Arial"/>
              </a:rPr>
              <a:t>NPV equals zero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The rate at which the project exactly breaks even against its alternative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It is the project's own return, expressed as a percentage per year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Finding the IRR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 – Demonstration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" y="5157854"/>
            <a:ext cx="11057839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AU" sz="16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600" dirty="0">
                <a:solidFill>
                  <a:srgbClr val="292934"/>
                </a:solidFill>
                <a:latin typeface="Arial"/>
              </a:rPr>
              <a:t>In Excel: </a:t>
            </a:r>
            <a:r>
              <a:rPr lang="en-AU" sz="1600" b="1" dirty="0">
                <a:solidFill>
                  <a:srgbClr val="0066CC"/>
                </a:solidFill>
                <a:latin typeface="Arial"/>
              </a:rPr>
              <a:t>Goal Seek</a:t>
            </a:r>
            <a:r>
              <a:rPr lang="en-AU" sz="1600" dirty="0">
                <a:solidFill>
                  <a:srgbClr val="292934"/>
                </a:solidFill>
                <a:latin typeface="Arial"/>
              </a:rPr>
              <a:t> - set the NPV cell to 0 by changing the rate cell</a:t>
            </a:r>
            <a:endParaRPr sz="16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600" b="0" dirty="0">
                <a:solidFill>
                  <a:srgbClr val="292934"/>
                </a:solidFill>
                <a:latin typeface="Arial"/>
              </a:rPr>
              <a:t>By hand: </a:t>
            </a:r>
            <a:r>
              <a:rPr lang="en-AU" sz="1600" b="0" dirty="0">
                <a:solidFill>
                  <a:srgbClr val="292934"/>
                </a:solidFill>
                <a:latin typeface="Arial"/>
              </a:rPr>
              <a:t>trial and error - try different rates and check the NPV each time</a:t>
            </a:r>
            <a:endParaRPr sz="1600" b="0" dirty="0">
              <a:solidFill>
                <a:srgbClr val="292934"/>
              </a:solidFill>
              <a:latin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A2EB83-8DA0-251E-871B-19F45421D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1" y="1533281"/>
            <a:ext cx="5760336" cy="32948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FB37AC-DD00-06DD-07A3-60471019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1" t="4066" r="3145" b="3050"/>
          <a:stretch>
            <a:fillRect/>
          </a:stretch>
        </p:blipFill>
        <p:spPr>
          <a:xfrm>
            <a:off x="6095846" y="2011300"/>
            <a:ext cx="5884920" cy="25530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NPV or IRR?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748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You have both. As an investor, which one do you decide on?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NPV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tells you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how much value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in dollars. It is the better decision rule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IRR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tells you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how efficiently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- per dollar, per year. Better for comparing unequal things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They can disagree: a big project with a modest IRR often beats a small one with a huge IRR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In practice: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rank by NPV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, screen with IRR against a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hurdle rate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, and when capital is 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limited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, take the best IRRs until the money runs 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The do-nothing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342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Every proposal is compared with something. 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Sometime it can also be compared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with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doing nothing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Doing nothing is rarely free - assets still age, competitors still move, complaints still arrive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For the council: not surveying roads is not a $0 option. It is deferred maintenance and worse potholes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So the honest question is not what does this project cost but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what is the difference between the two futures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endParaRPr sz="1900" b="0" dirty="0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Sensitivity analysis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" y="1645920"/>
            <a:ext cx="11057839" cy="293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800" dirty="0">
                <a:solidFill>
                  <a:srgbClr val="292934"/>
                </a:solidFill>
                <a:latin typeface="Arial"/>
              </a:rPr>
              <a:t>Which assumption is the decision resting on?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AU" sz="280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1" dirty="0">
                <a:solidFill>
                  <a:srgbClr val="0066CC"/>
                </a:solidFill>
                <a:latin typeface="Arial"/>
              </a:rPr>
              <a:t>Sensitivity analysis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 - change one assumption, see what moves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AU" sz="2800" dirty="0">
                <a:solidFill>
                  <a:srgbClr val="292934"/>
                </a:solidFill>
                <a:latin typeface="Arial"/>
              </a:rPr>
              <a:t>•   How NPV and IRR change with:</a:t>
            </a:r>
            <a:endParaRPr lang="en-AU" sz="2800" b="0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Revenue -10%</a:t>
            </a:r>
            <a:r>
              <a:rPr lang="en-AU" sz="2800" b="0" dirty="0">
                <a:solidFill>
                  <a:srgbClr val="292934"/>
                </a:solidFill>
                <a:latin typeface="Arial"/>
              </a:rPr>
              <a:t>, </a:t>
            </a:r>
            <a:r>
              <a:rPr lang="en-AU" sz="2800" dirty="0">
                <a:solidFill>
                  <a:srgbClr val="292934"/>
                </a:solidFill>
                <a:latin typeface="Arial"/>
              </a:rPr>
              <a:t>or +10%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800" dirty="0">
                <a:solidFill>
                  <a:srgbClr val="292934"/>
                </a:solidFill>
                <a:latin typeface="Arial"/>
              </a:rPr>
              <a:t>•   Costs </a:t>
            </a:r>
            <a:r>
              <a:rPr lang="en-AU" sz="2800" b="0" dirty="0">
                <a:solidFill>
                  <a:srgbClr val="292934"/>
                </a:solidFill>
                <a:latin typeface="Arial"/>
              </a:rPr>
              <a:t>-10%, </a:t>
            </a:r>
            <a:r>
              <a:rPr lang="en-AU" sz="2800" dirty="0">
                <a:solidFill>
                  <a:srgbClr val="292934"/>
                </a:solidFill>
                <a:latin typeface="Arial"/>
              </a:rPr>
              <a:t>or +10%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64CE-D6FB-E6B5-7EBF-6AF694BC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0BA1C-F97A-04BA-FFEC-F12372D3E2C3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Sensitivity analysis - Demonstration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29F58-012C-84E7-CBEF-BEEA0C1F8F38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154D4-D16E-A077-F17C-C7E8A4AEDC0A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8D068-44AF-86F8-2212-4C90AD4E12C7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D252F9-809E-9752-1E5E-A489C559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974" y="1513311"/>
            <a:ext cx="7772400" cy="477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71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When the value is not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513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Back to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week 5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: value is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multidimensional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. This block priced one dimension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Public, research and not-for-profit projects deliver value that will not take a dollar sign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Cost-effectiveness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is the usual substitute: fixed benefit, lowest cost - or fixed budget, most benefit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EE5-F94A-5D6F-D2E9-DF840E34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160E13-0817-7F09-4AB2-B479BB5F2595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Intellectual Property (IP)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9E8108-449E-D609-6569-3B0E4F252086}"/>
              </a:ext>
            </a:extLst>
          </p:cNvPr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EC7EE-B6D6-3620-790F-22CB6F069FED}"/>
              </a:ext>
            </a:extLst>
          </p:cNvPr>
          <p:cNvSpPr txBox="1"/>
          <p:nvPr/>
        </p:nvSpPr>
        <p:spPr>
          <a:xfrm>
            <a:off x="566928" y="6386513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Lectures 5-6: Commercialisation and Financial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9D1A0-BA68-2B2E-CAC8-77AD806A4863}"/>
              </a:ext>
            </a:extLst>
          </p:cNvPr>
          <p:cNvSpPr txBox="1"/>
          <p:nvPr/>
        </p:nvSpPr>
        <p:spPr>
          <a:xfrm>
            <a:off x="11076127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45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E8DD9-3064-02E9-EE02-E6C632DA4081}"/>
              </a:ext>
            </a:extLst>
          </p:cNvPr>
          <p:cNvSpPr txBox="1"/>
          <p:nvPr/>
        </p:nvSpPr>
        <p:spPr>
          <a:xfrm>
            <a:off x="566928" y="1664208"/>
            <a:ext cx="11057839" cy="423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2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200" b="0" dirty="0">
                <a:latin typeface="Arial"/>
              </a:rPr>
              <a:t>IP is critical for commercialisation. Without it, nothing stops a competitor copying you.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2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200" dirty="0">
                <a:latin typeface="Arial"/>
              </a:rPr>
              <a:t>   Apply, pay, get registered with IP Australia: it can include </a:t>
            </a:r>
            <a:r>
              <a:rPr lang="en-AU" sz="2200" b="1" dirty="0">
                <a:solidFill>
                  <a:srgbClr val="0066CC"/>
                </a:solidFill>
                <a:latin typeface="Arial"/>
              </a:rPr>
              <a:t>patents, trade marks, design rights, plant breeder's rights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2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200" dirty="0">
                <a:latin typeface="Arial"/>
              </a:rPr>
              <a:t>   Each registered right has a </a:t>
            </a:r>
            <a:r>
              <a:rPr lang="en-AU" sz="2200" b="1" dirty="0">
                <a:solidFill>
                  <a:srgbClr val="0066CC"/>
                </a:solidFill>
                <a:latin typeface="Arial"/>
              </a:rPr>
              <a:t>different term</a:t>
            </a:r>
            <a:r>
              <a:rPr lang="en-AU" sz="2200" dirty="0">
                <a:latin typeface="Arial"/>
              </a:rPr>
              <a:t>, </a:t>
            </a:r>
            <a:r>
              <a:rPr lang="en-AU" sz="2200" b="1" dirty="0">
                <a:solidFill>
                  <a:srgbClr val="0066CC"/>
                </a:solidFill>
                <a:latin typeface="Arial"/>
              </a:rPr>
              <a:t>renewal cycle and cost</a:t>
            </a:r>
            <a:r>
              <a:rPr lang="en-AU" sz="2200" dirty="0">
                <a:latin typeface="Arial"/>
              </a:rPr>
              <a:t>: patents 20 yrs, trade marks 10 yrs but renewable forever, designs 10 yrs max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2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200" dirty="0">
                <a:latin typeface="Arial"/>
              </a:rPr>
              <a:t>   Registered rights are </a:t>
            </a:r>
            <a:r>
              <a:rPr lang="en-AU" sz="2200" b="1" dirty="0">
                <a:solidFill>
                  <a:srgbClr val="0066CC"/>
                </a:solidFill>
                <a:latin typeface="Arial"/>
              </a:rPr>
              <a:t>territorial</a:t>
            </a:r>
            <a:r>
              <a:rPr lang="en-AU" sz="2200" dirty="0">
                <a:latin typeface="Arial"/>
              </a:rPr>
              <a:t>. An Australian patent stops nobody in other countries. 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200" b="0" dirty="0">
                <a:solidFill>
                  <a:srgbClr val="0066CC"/>
                </a:solidFill>
                <a:latin typeface="Arial"/>
              </a:rPr>
              <a:t>•</a:t>
            </a:r>
            <a:r>
              <a:rPr lang="en-AU" sz="2200" dirty="0">
                <a:latin typeface="Arial"/>
              </a:rPr>
              <a:t>   Your capstone: if you have an industry partner, an agreement already governs who owns what. Find out before you disclose anything publicly</a:t>
            </a:r>
          </a:p>
        </p:txBody>
      </p:sp>
    </p:spTree>
    <p:extLst>
      <p:ext uri="{BB962C8B-B14F-4D97-AF65-F5344CB8AC3E}">
        <p14:creationId xmlns:p14="http://schemas.microsoft.com/office/powerpoint/2010/main" val="369276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2245</Words>
  <Application>Microsoft Macintosh PowerPoint</Application>
  <PresentationFormat>Widescreen</PresentationFormat>
  <Paragraphs>194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Yimin Li</dc:creator>
  <cp:lastModifiedBy>Yimin Li</cp:lastModifiedBy>
  <cp:revision>11</cp:revision>
  <dcterms:created xsi:type="dcterms:W3CDTF">2026-09-07T01:25:13Z</dcterms:created>
  <dcterms:modified xsi:type="dcterms:W3CDTF">2026-09-11T02:17:06Z</dcterms:modified>
</cp:coreProperties>
</file>