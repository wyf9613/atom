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4.xml" ContentType="application/vnd.openxmlformats-officedocument.presentationml.tags+xml"/>
  <Override PartName="/ppt/notesSlides/notesSlide26.xml" ContentType="application/vnd.openxmlformats-officedocument.presentationml.notesSlide+xml"/>
  <Override PartName="/ppt/tags/tag5.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7.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82" r:id="rId1"/>
    <p:sldMasterId id="2147483894" r:id="rId2"/>
  </p:sldMasterIdLst>
  <p:notesMasterIdLst>
    <p:notesMasterId r:id="rId46"/>
  </p:notesMasterIdLst>
  <p:sldIdLst>
    <p:sldId id="256" r:id="rId3"/>
    <p:sldId id="865" r:id="rId4"/>
    <p:sldId id="866" r:id="rId5"/>
    <p:sldId id="355" r:id="rId6"/>
    <p:sldId id="356" r:id="rId7"/>
    <p:sldId id="357" r:id="rId8"/>
    <p:sldId id="344" r:id="rId9"/>
    <p:sldId id="408" r:id="rId10"/>
    <p:sldId id="345" r:id="rId11"/>
    <p:sldId id="862" r:id="rId12"/>
    <p:sldId id="863" r:id="rId13"/>
    <p:sldId id="333" r:id="rId14"/>
    <p:sldId id="864" r:id="rId15"/>
    <p:sldId id="405" r:id="rId16"/>
    <p:sldId id="373" r:id="rId17"/>
    <p:sldId id="499" r:id="rId18"/>
    <p:sldId id="514" r:id="rId19"/>
    <p:sldId id="843" r:id="rId20"/>
    <p:sldId id="832" r:id="rId21"/>
    <p:sldId id="311" r:id="rId22"/>
    <p:sldId id="419" r:id="rId23"/>
    <p:sldId id="511" r:id="rId24"/>
    <p:sldId id="264" r:id="rId25"/>
    <p:sldId id="498" r:id="rId26"/>
    <p:sldId id="502" r:id="rId27"/>
    <p:sldId id="288" r:id="rId28"/>
    <p:sldId id="308" r:id="rId29"/>
    <p:sldId id="312" r:id="rId30"/>
    <p:sldId id="321" r:id="rId31"/>
    <p:sldId id="322" r:id="rId32"/>
    <p:sldId id="323" r:id="rId33"/>
    <p:sldId id="340" r:id="rId34"/>
    <p:sldId id="324" r:id="rId35"/>
    <p:sldId id="332" r:id="rId36"/>
    <p:sldId id="859" r:id="rId37"/>
    <p:sldId id="860" r:id="rId38"/>
    <p:sldId id="494" r:id="rId39"/>
    <p:sldId id="269" r:id="rId40"/>
    <p:sldId id="270" r:id="rId41"/>
    <p:sldId id="861" r:id="rId42"/>
    <p:sldId id="360" r:id="rId43"/>
    <p:sldId id="354" r:id="rId44"/>
    <p:sldId id="352" r:id="rId45"/>
  </p:sldIdLst>
  <p:sldSz cx="9144000" cy="6858000" type="screen4x3"/>
  <p:notesSz cx="6858000" cy="9945688"/>
  <p:defaultTextStyle>
    <a:defPPr>
      <a:defRPr lang="en-GB"/>
    </a:defPPr>
    <a:lvl1pPr algn="l" defTabSz="449263" rtl="0" eaLnBrk="0" fontAlgn="base" hangingPunct="0">
      <a:spcBef>
        <a:spcPct val="0"/>
      </a:spcBef>
      <a:spcAft>
        <a:spcPct val="0"/>
      </a:spcAft>
      <a:defRPr kern="1200">
        <a:solidFill>
          <a:schemeClr val="bg1"/>
        </a:solidFill>
        <a:latin typeface="Georgia" panose="02040502050405020303" pitchFamily="18"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bg1"/>
        </a:solidFill>
        <a:latin typeface="Georgia" panose="02040502050405020303" pitchFamily="18"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bg1"/>
        </a:solidFill>
        <a:latin typeface="Georgia" panose="02040502050405020303" pitchFamily="18"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bg1"/>
        </a:solidFill>
        <a:latin typeface="Georgia" panose="02040502050405020303" pitchFamily="18"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bg1"/>
        </a:solidFill>
        <a:latin typeface="Georgia" panose="02040502050405020303" pitchFamily="18" charset="0"/>
        <a:ea typeface="Microsoft YaHei" panose="020B0503020204020204" pitchFamily="34" charset="-122"/>
        <a:cs typeface="+mn-cs"/>
      </a:defRPr>
    </a:lvl5pPr>
    <a:lvl6pPr marL="2286000" algn="l" defTabSz="914400" rtl="0" eaLnBrk="1" latinLnBrk="0" hangingPunct="1">
      <a:defRPr kern="1200">
        <a:solidFill>
          <a:schemeClr val="bg1"/>
        </a:solidFill>
        <a:latin typeface="Georgia" panose="02040502050405020303" pitchFamily="18" charset="0"/>
        <a:ea typeface="Microsoft YaHei" panose="020B0503020204020204" pitchFamily="34" charset="-122"/>
        <a:cs typeface="+mn-cs"/>
      </a:defRPr>
    </a:lvl6pPr>
    <a:lvl7pPr marL="2743200" algn="l" defTabSz="914400" rtl="0" eaLnBrk="1" latinLnBrk="0" hangingPunct="1">
      <a:defRPr kern="1200">
        <a:solidFill>
          <a:schemeClr val="bg1"/>
        </a:solidFill>
        <a:latin typeface="Georgia" panose="02040502050405020303" pitchFamily="18" charset="0"/>
        <a:ea typeface="Microsoft YaHei" panose="020B0503020204020204" pitchFamily="34" charset="-122"/>
        <a:cs typeface="+mn-cs"/>
      </a:defRPr>
    </a:lvl7pPr>
    <a:lvl8pPr marL="3200400" algn="l" defTabSz="914400" rtl="0" eaLnBrk="1" latinLnBrk="0" hangingPunct="1">
      <a:defRPr kern="1200">
        <a:solidFill>
          <a:schemeClr val="bg1"/>
        </a:solidFill>
        <a:latin typeface="Georgia" panose="02040502050405020303" pitchFamily="18" charset="0"/>
        <a:ea typeface="Microsoft YaHei" panose="020B0503020204020204" pitchFamily="34" charset="-122"/>
        <a:cs typeface="+mn-cs"/>
      </a:defRPr>
    </a:lvl8pPr>
    <a:lvl9pPr marL="3657600" algn="l" defTabSz="914400" rtl="0" eaLnBrk="1" latinLnBrk="0" hangingPunct="1">
      <a:defRPr kern="1200">
        <a:solidFill>
          <a:schemeClr val="bg1"/>
        </a:solidFill>
        <a:latin typeface="Georgia" panose="02040502050405020303" pitchFamily="18"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3"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20" autoAdjust="0"/>
    <p:restoredTop sz="56879" autoAdjust="0"/>
  </p:normalViewPr>
  <p:slideViewPr>
    <p:cSldViewPr>
      <p:cViewPr varScale="1">
        <p:scale>
          <a:sx n="84" d="100"/>
          <a:sy n="84" d="100"/>
        </p:scale>
        <p:origin x="2676" y="156"/>
      </p:cViewPr>
      <p:guideLst>
        <p:guide orient="horz" pos="2160"/>
        <p:guide pos="2880"/>
      </p:guideLst>
    </p:cSldViewPr>
  </p:slideViewPr>
  <p:outlineViewPr>
    <p:cViewPr varScale="1">
      <p:scale>
        <a:sx n="170" d="200"/>
        <a:sy n="170" d="200"/>
      </p:scale>
      <p:origin x="0" y="-864"/>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64" d="100"/>
          <a:sy n="64" d="100"/>
        </p:scale>
        <p:origin x="2556" y="6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CAC66B-C55D-4F03-97DA-115692445F97}" type="doc">
      <dgm:prSet loTypeId="urn:microsoft.com/office/officeart/2018/2/layout/IconLabelList" loCatId="icon" qsTypeId="urn:microsoft.com/office/officeart/2005/8/quickstyle/simple1#1" qsCatId="simple" csTypeId="urn:microsoft.com/office/officeart/2005/8/colors/accent1_2#1" csCatId="accent1" phldr="1"/>
      <dgm:spPr/>
      <dgm:t>
        <a:bodyPr/>
        <a:lstStyle/>
        <a:p>
          <a:endParaRPr lang="en-US"/>
        </a:p>
      </dgm:t>
    </dgm:pt>
    <dgm:pt modelId="{6A267BFB-4265-4739-BC73-AC16CEA9CAE3}">
      <dgm:prSet custT="1"/>
      <dgm:spPr/>
      <dgm:t>
        <a:bodyPr/>
        <a:lstStyle/>
        <a:p>
          <a:pPr>
            <a:lnSpc>
              <a:spcPct val="100000"/>
            </a:lnSpc>
          </a:pPr>
          <a:r>
            <a:rPr lang="en-AU" sz="1800" dirty="0"/>
            <a:t>Ethics is complex, multifaceted and deeply grounded in philosophy.</a:t>
          </a:r>
          <a:endParaRPr lang="en-US" sz="1800" dirty="0"/>
        </a:p>
      </dgm:t>
    </dgm:pt>
    <dgm:pt modelId="{A9EF9341-52ED-4ADD-8F97-69F9D6C04EE7}" type="parTrans" cxnId="{A15AB3C4-5483-41AA-BB75-FD430642C62A}">
      <dgm:prSet/>
      <dgm:spPr/>
      <dgm:t>
        <a:bodyPr/>
        <a:lstStyle/>
        <a:p>
          <a:endParaRPr lang="en-US"/>
        </a:p>
      </dgm:t>
    </dgm:pt>
    <dgm:pt modelId="{8729EE6B-482D-421B-BE5B-5C2FA63A98D2}" type="sibTrans" cxnId="{A15AB3C4-5483-41AA-BB75-FD430642C62A}">
      <dgm:prSet/>
      <dgm:spPr/>
      <dgm:t>
        <a:bodyPr/>
        <a:lstStyle/>
        <a:p>
          <a:endParaRPr lang="en-US"/>
        </a:p>
      </dgm:t>
    </dgm:pt>
    <dgm:pt modelId="{F12378F2-FE5C-443E-8F85-0B55EF8F39AD}">
      <dgm:prSet/>
      <dgm:spPr/>
      <dgm:t>
        <a:bodyPr/>
        <a:lstStyle/>
        <a:p>
          <a:pPr>
            <a:lnSpc>
              <a:spcPct val="100000"/>
            </a:lnSpc>
          </a:pPr>
          <a:r>
            <a:rPr lang="en-AU" dirty="0"/>
            <a:t>It involves ethical decision making and moral responsibility</a:t>
          </a:r>
          <a:endParaRPr lang="en-US" dirty="0"/>
        </a:p>
      </dgm:t>
    </dgm:pt>
    <dgm:pt modelId="{AC415878-8459-45AF-ACE8-F2467FE71A8D}" type="parTrans" cxnId="{35B4FB3C-42BF-4B1D-9459-575AA776E303}">
      <dgm:prSet/>
      <dgm:spPr/>
      <dgm:t>
        <a:bodyPr/>
        <a:lstStyle/>
        <a:p>
          <a:endParaRPr lang="en-US"/>
        </a:p>
      </dgm:t>
    </dgm:pt>
    <dgm:pt modelId="{FA622476-1CC4-4D6E-9D34-D03E384CF470}" type="sibTrans" cxnId="{35B4FB3C-42BF-4B1D-9459-575AA776E303}">
      <dgm:prSet/>
      <dgm:spPr/>
      <dgm:t>
        <a:bodyPr/>
        <a:lstStyle/>
        <a:p>
          <a:endParaRPr lang="en-US"/>
        </a:p>
      </dgm:t>
    </dgm:pt>
    <dgm:pt modelId="{235CA944-11F5-4D0B-A799-073E9A8C061E}">
      <dgm:prSet/>
      <dgm:spPr/>
      <dgm:t>
        <a:bodyPr/>
        <a:lstStyle/>
        <a:p>
          <a:pPr>
            <a:lnSpc>
              <a:spcPct val="100000"/>
            </a:lnSpc>
          </a:pPr>
          <a:r>
            <a:rPr lang="en-AU" dirty="0"/>
            <a:t>Our intention is to make these aspects concrete, practical and relevant</a:t>
          </a:r>
          <a:endParaRPr lang="en-US" dirty="0"/>
        </a:p>
      </dgm:t>
    </dgm:pt>
    <dgm:pt modelId="{9593C534-74DF-4473-8624-3B7D93F81333}" type="parTrans" cxnId="{23BC7EEF-ED6B-4DDE-8561-C426D0E4FBD7}">
      <dgm:prSet/>
      <dgm:spPr/>
      <dgm:t>
        <a:bodyPr/>
        <a:lstStyle/>
        <a:p>
          <a:endParaRPr lang="en-US"/>
        </a:p>
      </dgm:t>
    </dgm:pt>
    <dgm:pt modelId="{3144A0C8-7F4E-4366-AFFE-951922503D21}" type="sibTrans" cxnId="{23BC7EEF-ED6B-4DDE-8561-C426D0E4FBD7}">
      <dgm:prSet/>
      <dgm:spPr/>
      <dgm:t>
        <a:bodyPr/>
        <a:lstStyle/>
        <a:p>
          <a:endParaRPr lang="en-US"/>
        </a:p>
      </dgm:t>
    </dgm:pt>
    <dgm:pt modelId="{2B580FF9-FFDA-4496-A675-3DE0CDAD840A}" type="pres">
      <dgm:prSet presAssocID="{B8CAC66B-C55D-4F03-97DA-115692445F97}" presName="root" presStyleCnt="0">
        <dgm:presLayoutVars>
          <dgm:dir/>
          <dgm:resizeHandles val="exact"/>
        </dgm:presLayoutVars>
      </dgm:prSet>
      <dgm:spPr/>
    </dgm:pt>
    <dgm:pt modelId="{8FA35CA1-E230-4F21-A185-4B9543406C49}" type="pres">
      <dgm:prSet presAssocID="{6A267BFB-4265-4739-BC73-AC16CEA9CAE3}" presName="compNode" presStyleCnt="0"/>
      <dgm:spPr/>
    </dgm:pt>
    <dgm:pt modelId="{FB009766-8919-4212-9F50-C5ED25F74B9F}" type="pres">
      <dgm:prSet presAssocID="{6A267BFB-4265-4739-BC73-AC16CEA9CAE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erson with Idea"/>
        </a:ext>
      </dgm:extLst>
    </dgm:pt>
    <dgm:pt modelId="{DAE392CF-CCE9-4E9C-AC9C-DF5AA58704A5}" type="pres">
      <dgm:prSet presAssocID="{6A267BFB-4265-4739-BC73-AC16CEA9CAE3}" presName="spaceRect" presStyleCnt="0"/>
      <dgm:spPr/>
    </dgm:pt>
    <dgm:pt modelId="{6F4D54C8-405A-4CA9-B944-0F5BF8B07109}" type="pres">
      <dgm:prSet presAssocID="{6A267BFB-4265-4739-BC73-AC16CEA9CAE3}" presName="textRect" presStyleLbl="revTx" presStyleIdx="0" presStyleCnt="3">
        <dgm:presLayoutVars>
          <dgm:chMax val="1"/>
          <dgm:chPref val="1"/>
        </dgm:presLayoutVars>
      </dgm:prSet>
      <dgm:spPr/>
    </dgm:pt>
    <dgm:pt modelId="{95ECE8D3-A810-417B-83B0-0E3B493AC770}" type="pres">
      <dgm:prSet presAssocID="{8729EE6B-482D-421B-BE5B-5C2FA63A98D2}" presName="sibTrans" presStyleCnt="0"/>
      <dgm:spPr/>
    </dgm:pt>
    <dgm:pt modelId="{D7B58FF9-35DF-4081-AEA2-247B05B5B8F3}" type="pres">
      <dgm:prSet presAssocID="{F12378F2-FE5C-443E-8F85-0B55EF8F39AD}" presName="compNode" presStyleCnt="0"/>
      <dgm:spPr/>
    </dgm:pt>
    <dgm:pt modelId="{C1C37FC3-CCD2-4267-8397-447FB3D91E43}" type="pres">
      <dgm:prSet presAssocID="{F12378F2-FE5C-443E-8F85-0B55EF8F39A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cales of Justice"/>
        </a:ext>
      </dgm:extLst>
    </dgm:pt>
    <dgm:pt modelId="{4F1A229F-6674-45EE-BCFE-9497D546F5D7}" type="pres">
      <dgm:prSet presAssocID="{F12378F2-FE5C-443E-8F85-0B55EF8F39AD}" presName="spaceRect" presStyleCnt="0"/>
      <dgm:spPr/>
    </dgm:pt>
    <dgm:pt modelId="{AC57BEEC-1150-423A-A1CA-C5D7C1ACE676}" type="pres">
      <dgm:prSet presAssocID="{F12378F2-FE5C-443E-8F85-0B55EF8F39AD}" presName="textRect" presStyleLbl="revTx" presStyleIdx="1" presStyleCnt="3">
        <dgm:presLayoutVars>
          <dgm:chMax val="1"/>
          <dgm:chPref val="1"/>
        </dgm:presLayoutVars>
      </dgm:prSet>
      <dgm:spPr/>
    </dgm:pt>
    <dgm:pt modelId="{889A48D8-60B4-4AE9-B5C7-481EC5866F41}" type="pres">
      <dgm:prSet presAssocID="{FA622476-1CC4-4D6E-9D34-D03E384CF470}" presName="sibTrans" presStyleCnt="0"/>
      <dgm:spPr/>
    </dgm:pt>
    <dgm:pt modelId="{C5964C64-6E0F-4F54-AB70-553820C4AF8D}" type="pres">
      <dgm:prSet presAssocID="{235CA944-11F5-4D0B-A799-073E9A8C061E}" presName="compNode" presStyleCnt="0"/>
      <dgm:spPr/>
    </dgm:pt>
    <dgm:pt modelId="{4D77C2CF-FCB6-466E-BCDD-0BED238BD3C8}" type="pres">
      <dgm:prSet presAssocID="{235CA944-11F5-4D0B-A799-073E9A8C061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ement truck"/>
        </a:ext>
      </dgm:extLst>
    </dgm:pt>
    <dgm:pt modelId="{1BE893BD-7AF1-49F4-8155-ED1FCD06C8F1}" type="pres">
      <dgm:prSet presAssocID="{235CA944-11F5-4D0B-A799-073E9A8C061E}" presName="spaceRect" presStyleCnt="0"/>
      <dgm:spPr/>
    </dgm:pt>
    <dgm:pt modelId="{E982639D-D496-4AD5-9762-014E1F80E714}" type="pres">
      <dgm:prSet presAssocID="{235CA944-11F5-4D0B-A799-073E9A8C061E}" presName="textRect" presStyleLbl="revTx" presStyleIdx="2" presStyleCnt="3">
        <dgm:presLayoutVars>
          <dgm:chMax val="1"/>
          <dgm:chPref val="1"/>
        </dgm:presLayoutVars>
      </dgm:prSet>
      <dgm:spPr/>
    </dgm:pt>
  </dgm:ptLst>
  <dgm:cxnLst>
    <dgm:cxn modelId="{0AA2922E-202A-4813-BA4A-0A9DFBB0FC6D}" type="presOf" srcId="{6A267BFB-4265-4739-BC73-AC16CEA9CAE3}" destId="{6F4D54C8-405A-4CA9-B944-0F5BF8B07109}" srcOrd="0" destOrd="0" presId="urn:microsoft.com/office/officeart/2018/2/layout/IconLabelList"/>
    <dgm:cxn modelId="{35B4FB3C-42BF-4B1D-9459-575AA776E303}" srcId="{B8CAC66B-C55D-4F03-97DA-115692445F97}" destId="{F12378F2-FE5C-443E-8F85-0B55EF8F39AD}" srcOrd="1" destOrd="0" parTransId="{AC415878-8459-45AF-ACE8-F2467FE71A8D}" sibTransId="{FA622476-1CC4-4D6E-9D34-D03E384CF470}"/>
    <dgm:cxn modelId="{3C936243-E0E9-4AF6-92C4-6A4258DF623D}" type="presOf" srcId="{235CA944-11F5-4D0B-A799-073E9A8C061E}" destId="{E982639D-D496-4AD5-9762-014E1F80E714}" srcOrd="0" destOrd="0" presId="urn:microsoft.com/office/officeart/2018/2/layout/IconLabelList"/>
    <dgm:cxn modelId="{314717AB-058D-48CC-A263-A57D985E14B0}" type="presOf" srcId="{B8CAC66B-C55D-4F03-97DA-115692445F97}" destId="{2B580FF9-FFDA-4496-A675-3DE0CDAD840A}" srcOrd="0" destOrd="0" presId="urn:microsoft.com/office/officeart/2018/2/layout/IconLabelList"/>
    <dgm:cxn modelId="{A15AB3C4-5483-41AA-BB75-FD430642C62A}" srcId="{B8CAC66B-C55D-4F03-97DA-115692445F97}" destId="{6A267BFB-4265-4739-BC73-AC16CEA9CAE3}" srcOrd="0" destOrd="0" parTransId="{A9EF9341-52ED-4ADD-8F97-69F9D6C04EE7}" sibTransId="{8729EE6B-482D-421B-BE5B-5C2FA63A98D2}"/>
    <dgm:cxn modelId="{DCCCE0C9-5F9E-4F9B-90E8-1F1388D08819}" type="presOf" srcId="{F12378F2-FE5C-443E-8F85-0B55EF8F39AD}" destId="{AC57BEEC-1150-423A-A1CA-C5D7C1ACE676}" srcOrd="0" destOrd="0" presId="urn:microsoft.com/office/officeart/2018/2/layout/IconLabelList"/>
    <dgm:cxn modelId="{23BC7EEF-ED6B-4DDE-8561-C426D0E4FBD7}" srcId="{B8CAC66B-C55D-4F03-97DA-115692445F97}" destId="{235CA944-11F5-4D0B-A799-073E9A8C061E}" srcOrd="2" destOrd="0" parTransId="{9593C534-74DF-4473-8624-3B7D93F81333}" sibTransId="{3144A0C8-7F4E-4366-AFFE-951922503D21}"/>
    <dgm:cxn modelId="{BBA3D9EC-B725-4879-B6E9-3D43D981FC08}" type="presParOf" srcId="{2B580FF9-FFDA-4496-A675-3DE0CDAD840A}" destId="{8FA35CA1-E230-4F21-A185-4B9543406C49}" srcOrd="0" destOrd="0" presId="urn:microsoft.com/office/officeart/2018/2/layout/IconLabelList"/>
    <dgm:cxn modelId="{8CF39C23-FFBD-4ECF-9A95-AFE937089DB3}" type="presParOf" srcId="{8FA35CA1-E230-4F21-A185-4B9543406C49}" destId="{FB009766-8919-4212-9F50-C5ED25F74B9F}" srcOrd="0" destOrd="0" presId="urn:microsoft.com/office/officeart/2018/2/layout/IconLabelList"/>
    <dgm:cxn modelId="{D68F91A5-9224-464B-BFCC-84A70D7896D8}" type="presParOf" srcId="{8FA35CA1-E230-4F21-A185-4B9543406C49}" destId="{DAE392CF-CCE9-4E9C-AC9C-DF5AA58704A5}" srcOrd="1" destOrd="0" presId="urn:microsoft.com/office/officeart/2018/2/layout/IconLabelList"/>
    <dgm:cxn modelId="{6D79DB08-1A66-40B1-B854-C32D2A0501F9}" type="presParOf" srcId="{8FA35CA1-E230-4F21-A185-4B9543406C49}" destId="{6F4D54C8-405A-4CA9-B944-0F5BF8B07109}" srcOrd="2" destOrd="0" presId="urn:microsoft.com/office/officeart/2018/2/layout/IconLabelList"/>
    <dgm:cxn modelId="{B62E33A1-20B2-4794-88A8-54C5578AEE1A}" type="presParOf" srcId="{2B580FF9-FFDA-4496-A675-3DE0CDAD840A}" destId="{95ECE8D3-A810-417B-83B0-0E3B493AC770}" srcOrd="1" destOrd="0" presId="urn:microsoft.com/office/officeart/2018/2/layout/IconLabelList"/>
    <dgm:cxn modelId="{2355027E-5047-4E39-900D-B7688A1CBB04}" type="presParOf" srcId="{2B580FF9-FFDA-4496-A675-3DE0CDAD840A}" destId="{D7B58FF9-35DF-4081-AEA2-247B05B5B8F3}" srcOrd="2" destOrd="0" presId="urn:microsoft.com/office/officeart/2018/2/layout/IconLabelList"/>
    <dgm:cxn modelId="{16020B10-6AA6-4C22-9FF3-6D02AC47329D}" type="presParOf" srcId="{D7B58FF9-35DF-4081-AEA2-247B05B5B8F3}" destId="{C1C37FC3-CCD2-4267-8397-447FB3D91E43}" srcOrd="0" destOrd="0" presId="urn:microsoft.com/office/officeart/2018/2/layout/IconLabelList"/>
    <dgm:cxn modelId="{51E8F6C5-3F5E-47DC-BD91-7C440A3A9A29}" type="presParOf" srcId="{D7B58FF9-35DF-4081-AEA2-247B05B5B8F3}" destId="{4F1A229F-6674-45EE-BCFE-9497D546F5D7}" srcOrd="1" destOrd="0" presId="urn:microsoft.com/office/officeart/2018/2/layout/IconLabelList"/>
    <dgm:cxn modelId="{0884C7DD-4A2E-4CF0-B846-583A24EA6E5A}" type="presParOf" srcId="{D7B58FF9-35DF-4081-AEA2-247B05B5B8F3}" destId="{AC57BEEC-1150-423A-A1CA-C5D7C1ACE676}" srcOrd="2" destOrd="0" presId="urn:microsoft.com/office/officeart/2018/2/layout/IconLabelList"/>
    <dgm:cxn modelId="{1D3DB335-C822-49E5-A729-65341BF38C01}" type="presParOf" srcId="{2B580FF9-FFDA-4496-A675-3DE0CDAD840A}" destId="{889A48D8-60B4-4AE9-B5C7-481EC5866F41}" srcOrd="3" destOrd="0" presId="urn:microsoft.com/office/officeart/2018/2/layout/IconLabelList"/>
    <dgm:cxn modelId="{AE70088A-5241-4EE0-8AB3-1BFF6BE88329}" type="presParOf" srcId="{2B580FF9-FFDA-4496-A675-3DE0CDAD840A}" destId="{C5964C64-6E0F-4F54-AB70-553820C4AF8D}" srcOrd="4" destOrd="0" presId="urn:microsoft.com/office/officeart/2018/2/layout/IconLabelList"/>
    <dgm:cxn modelId="{568790B8-D5EC-4780-86AA-7505E494034E}" type="presParOf" srcId="{C5964C64-6E0F-4F54-AB70-553820C4AF8D}" destId="{4D77C2CF-FCB6-466E-BCDD-0BED238BD3C8}" srcOrd="0" destOrd="0" presId="urn:microsoft.com/office/officeart/2018/2/layout/IconLabelList"/>
    <dgm:cxn modelId="{D0EFE661-76DA-4D3C-81CF-57703084D2C3}" type="presParOf" srcId="{C5964C64-6E0F-4F54-AB70-553820C4AF8D}" destId="{1BE893BD-7AF1-49F4-8155-ED1FCD06C8F1}" srcOrd="1" destOrd="0" presId="urn:microsoft.com/office/officeart/2018/2/layout/IconLabelList"/>
    <dgm:cxn modelId="{A8C58E4B-FE6C-438C-926C-44C913F65C80}" type="presParOf" srcId="{C5964C64-6E0F-4F54-AB70-553820C4AF8D}" destId="{E982639D-D496-4AD5-9762-014E1F80E71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5052FE-D577-40D0-8B0C-5A23A427C6DB}" type="doc">
      <dgm:prSet loTypeId="urn:microsoft.com/office/officeart/2016/7/layout/VerticalSolidActionList" loCatId="List" qsTypeId="urn:microsoft.com/office/officeart/2005/8/quickstyle/simple2#1" qsCatId="simple" csTypeId="urn:microsoft.com/office/officeart/2005/8/colors/accent1_2#2" csCatId="accent1"/>
      <dgm:spPr/>
      <dgm:t>
        <a:bodyPr/>
        <a:lstStyle/>
        <a:p>
          <a:endParaRPr lang="en-US"/>
        </a:p>
      </dgm:t>
    </dgm:pt>
    <dgm:pt modelId="{195E6A93-C317-4DD0-AD5C-A2A87439B989}">
      <dgm:prSet/>
      <dgm:spPr/>
      <dgm:t>
        <a:bodyPr/>
        <a:lstStyle/>
        <a:p>
          <a:r>
            <a:rPr lang="en-US"/>
            <a:t>Understand</a:t>
          </a:r>
        </a:p>
      </dgm:t>
    </dgm:pt>
    <dgm:pt modelId="{EAD558B4-B1C9-4395-8C73-BD263DE86582}" type="parTrans" cxnId="{09FAD51D-64E2-4860-9670-165832670812}">
      <dgm:prSet/>
      <dgm:spPr/>
      <dgm:t>
        <a:bodyPr/>
        <a:lstStyle/>
        <a:p>
          <a:endParaRPr lang="en-US"/>
        </a:p>
      </dgm:t>
    </dgm:pt>
    <dgm:pt modelId="{4BC42455-F1CB-4108-988D-440DF6D9D987}" type="sibTrans" cxnId="{09FAD51D-64E2-4860-9670-165832670812}">
      <dgm:prSet/>
      <dgm:spPr/>
      <dgm:t>
        <a:bodyPr/>
        <a:lstStyle/>
        <a:p>
          <a:endParaRPr lang="en-US"/>
        </a:p>
      </dgm:t>
    </dgm:pt>
    <dgm:pt modelId="{CD3DD3A1-1133-418A-A3E5-4E44D244ED38}">
      <dgm:prSet/>
      <dgm:spPr/>
      <dgm:t>
        <a:bodyPr/>
        <a:lstStyle/>
        <a:p>
          <a:r>
            <a:rPr lang="en-US"/>
            <a:t>understand ethics and professionalism</a:t>
          </a:r>
        </a:p>
      </dgm:t>
    </dgm:pt>
    <dgm:pt modelId="{781B360D-BCF9-4B8E-947C-DE0D1629E548}" type="parTrans" cxnId="{8A1E9584-08D0-46A1-A43D-E4F16C6899A9}">
      <dgm:prSet/>
      <dgm:spPr/>
      <dgm:t>
        <a:bodyPr/>
        <a:lstStyle/>
        <a:p>
          <a:endParaRPr lang="en-US"/>
        </a:p>
      </dgm:t>
    </dgm:pt>
    <dgm:pt modelId="{B4F6AEB5-27A6-4FF4-945D-F0C48C0896FB}" type="sibTrans" cxnId="{8A1E9584-08D0-46A1-A43D-E4F16C6899A9}">
      <dgm:prSet/>
      <dgm:spPr/>
      <dgm:t>
        <a:bodyPr/>
        <a:lstStyle/>
        <a:p>
          <a:endParaRPr lang="en-US"/>
        </a:p>
      </dgm:t>
    </dgm:pt>
    <dgm:pt modelId="{48B02165-8E53-4B6B-9347-39944BF23256}">
      <dgm:prSet/>
      <dgm:spPr/>
      <dgm:t>
        <a:bodyPr/>
        <a:lstStyle/>
        <a:p>
          <a:r>
            <a:rPr lang="en-US"/>
            <a:t>Apply</a:t>
          </a:r>
        </a:p>
      </dgm:t>
    </dgm:pt>
    <dgm:pt modelId="{E1F68068-D805-4610-9610-AEAD63A32AA1}" type="parTrans" cxnId="{92E40165-BC07-4D93-91F9-4D84254C8EE5}">
      <dgm:prSet/>
      <dgm:spPr/>
      <dgm:t>
        <a:bodyPr/>
        <a:lstStyle/>
        <a:p>
          <a:endParaRPr lang="en-US"/>
        </a:p>
      </dgm:t>
    </dgm:pt>
    <dgm:pt modelId="{D8CA5FCD-24C5-4508-922F-FFEC5D567A83}" type="sibTrans" cxnId="{92E40165-BC07-4D93-91F9-4D84254C8EE5}">
      <dgm:prSet/>
      <dgm:spPr/>
      <dgm:t>
        <a:bodyPr/>
        <a:lstStyle/>
        <a:p>
          <a:endParaRPr lang="en-US"/>
        </a:p>
      </dgm:t>
    </dgm:pt>
    <dgm:pt modelId="{FB899A46-90CF-413E-8381-BA102A115298}">
      <dgm:prSet/>
      <dgm:spPr/>
      <dgm:t>
        <a:bodyPr/>
        <a:lstStyle/>
        <a:p>
          <a:r>
            <a:rPr lang="en-US"/>
            <a:t>apply ethical thinking to your professional tasks</a:t>
          </a:r>
        </a:p>
      </dgm:t>
    </dgm:pt>
    <dgm:pt modelId="{0296E68B-E442-4783-A4FA-366C8D82ACE0}" type="parTrans" cxnId="{0883BD8D-0EAE-4AAA-9305-5BCF456B549B}">
      <dgm:prSet/>
      <dgm:spPr/>
      <dgm:t>
        <a:bodyPr/>
        <a:lstStyle/>
        <a:p>
          <a:endParaRPr lang="en-US"/>
        </a:p>
      </dgm:t>
    </dgm:pt>
    <dgm:pt modelId="{61A08784-83C9-482D-A48C-E018F31DBF22}" type="sibTrans" cxnId="{0883BD8D-0EAE-4AAA-9305-5BCF456B549B}">
      <dgm:prSet/>
      <dgm:spPr/>
      <dgm:t>
        <a:bodyPr/>
        <a:lstStyle/>
        <a:p>
          <a:endParaRPr lang="en-US"/>
        </a:p>
      </dgm:t>
    </dgm:pt>
    <dgm:pt modelId="{38C720B2-5D34-4C21-9A10-15C379D5EBD5}">
      <dgm:prSet/>
      <dgm:spPr/>
      <dgm:t>
        <a:bodyPr/>
        <a:lstStyle/>
        <a:p>
          <a:r>
            <a:rPr lang="en-US"/>
            <a:t>Identify</a:t>
          </a:r>
        </a:p>
      </dgm:t>
    </dgm:pt>
    <dgm:pt modelId="{361048CA-2696-4E0B-9E14-5277E61B8DFF}" type="parTrans" cxnId="{00E83B6B-666B-4446-BBCB-D2A61B68BF3F}">
      <dgm:prSet/>
      <dgm:spPr/>
      <dgm:t>
        <a:bodyPr/>
        <a:lstStyle/>
        <a:p>
          <a:endParaRPr lang="en-US"/>
        </a:p>
      </dgm:t>
    </dgm:pt>
    <dgm:pt modelId="{4058EF6E-2EF9-4D12-8A3E-7E6BE484B42E}" type="sibTrans" cxnId="{00E83B6B-666B-4446-BBCB-D2A61B68BF3F}">
      <dgm:prSet/>
      <dgm:spPr/>
      <dgm:t>
        <a:bodyPr/>
        <a:lstStyle/>
        <a:p>
          <a:endParaRPr lang="en-US"/>
        </a:p>
      </dgm:t>
    </dgm:pt>
    <dgm:pt modelId="{C81F0DBB-5693-4A55-90B5-7278438D1803}">
      <dgm:prSet/>
      <dgm:spPr/>
      <dgm:t>
        <a:bodyPr/>
        <a:lstStyle/>
        <a:p>
          <a:r>
            <a:rPr lang="en-US"/>
            <a:t>identify the ethical dimensions of your work</a:t>
          </a:r>
        </a:p>
      </dgm:t>
    </dgm:pt>
    <dgm:pt modelId="{DA610BC7-A891-4648-A4AD-7CD6597166B8}" type="parTrans" cxnId="{4C064B18-D67C-4C1E-A788-401A4CCC6818}">
      <dgm:prSet/>
      <dgm:spPr/>
      <dgm:t>
        <a:bodyPr/>
        <a:lstStyle/>
        <a:p>
          <a:endParaRPr lang="en-US"/>
        </a:p>
      </dgm:t>
    </dgm:pt>
    <dgm:pt modelId="{015D7966-EA5F-49F1-8F30-B86B9B253521}" type="sibTrans" cxnId="{4C064B18-D67C-4C1E-A788-401A4CCC6818}">
      <dgm:prSet/>
      <dgm:spPr/>
      <dgm:t>
        <a:bodyPr/>
        <a:lstStyle/>
        <a:p>
          <a:endParaRPr lang="en-US"/>
        </a:p>
      </dgm:t>
    </dgm:pt>
    <dgm:pt modelId="{B24E391A-5815-449D-8637-821280C61596}">
      <dgm:prSet/>
      <dgm:spPr/>
      <dgm:t>
        <a:bodyPr/>
        <a:lstStyle/>
        <a:p>
          <a:r>
            <a:rPr lang="en-US"/>
            <a:t>Think</a:t>
          </a:r>
        </a:p>
      </dgm:t>
    </dgm:pt>
    <dgm:pt modelId="{D930A012-50AB-489C-B90A-A7A150A1FABF}" type="parTrans" cxnId="{E3D2C295-4C6B-45D4-98FD-DF7844EE51D1}">
      <dgm:prSet/>
      <dgm:spPr/>
      <dgm:t>
        <a:bodyPr/>
        <a:lstStyle/>
        <a:p>
          <a:endParaRPr lang="en-US"/>
        </a:p>
      </dgm:t>
    </dgm:pt>
    <dgm:pt modelId="{672D34CA-D6E9-42FA-90A1-A62AEEAF0D9B}" type="sibTrans" cxnId="{E3D2C295-4C6B-45D4-98FD-DF7844EE51D1}">
      <dgm:prSet/>
      <dgm:spPr/>
      <dgm:t>
        <a:bodyPr/>
        <a:lstStyle/>
        <a:p>
          <a:endParaRPr lang="en-US"/>
        </a:p>
      </dgm:t>
    </dgm:pt>
    <dgm:pt modelId="{C498596D-DD95-43E5-A919-A0942AAC286D}">
      <dgm:prSet/>
      <dgm:spPr/>
      <dgm:t>
        <a:bodyPr/>
        <a:lstStyle/>
        <a:p>
          <a:r>
            <a:rPr lang="en-US"/>
            <a:t>think deeply about becoming an ethical, reflexive professional</a:t>
          </a:r>
        </a:p>
      </dgm:t>
    </dgm:pt>
    <dgm:pt modelId="{536AC975-3CB1-4E9A-8DF2-5499167ED1E8}" type="parTrans" cxnId="{8C64D422-AEB9-40B1-A982-D9F1E80952CE}">
      <dgm:prSet/>
      <dgm:spPr/>
      <dgm:t>
        <a:bodyPr/>
        <a:lstStyle/>
        <a:p>
          <a:endParaRPr lang="en-US"/>
        </a:p>
      </dgm:t>
    </dgm:pt>
    <dgm:pt modelId="{64D7C192-8CC2-45F1-8B6E-1C06B5F32549}" type="sibTrans" cxnId="{8C64D422-AEB9-40B1-A982-D9F1E80952CE}">
      <dgm:prSet/>
      <dgm:spPr/>
      <dgm:t>
        <a:bodyPr/>
        <a:lstStyle/>
        <a:p>
          <a:endParaRPr lang="en-US"/>
        </a:p>
      </dgm:t>
    </dgm:pt>
    <dgm:pt modelId="{659B9FCB-6E37-4B08-991B-4FDC7E7CD912}">
      <dgm:prSet/>
      <dgm:spPr/>
      <dgm:t>
        <a:bodyPr/>
        <a:lstStyle/>
        <a:p>
          <a:r>
            <a:rPr lang="en-US"/>
            <a:t>Find out</a:t>
          </a:r>
        </a:p>
      </dgm:t>
    </dgm:pt>
    <dgm:pt modelId="{30D7DD11-0E62-4AC1-A68B-36DF1DFA16C8}" type="parTrans" cxnId="{7B369DBD-FEEB-4CAF-BF05-56AAAF07A93A}">
      <dgm:prSet/>
      <dgm:spPr/>
      <dgm:t>
        <a:bodyPr/>
        <a:lstStyle/>
        <a:p>
          <a:endParaRPr lang="en-US"/>
        </a:p>
      </dgm:t>
    </dgm:pt>
    <dgm:pt modelId="{9F7E042E-5E6F-4A9E-8ABD-2101A6246B07}" type="sibTrans" cxnId="{7B369DBD-FEEB-4CAF-BF05-56AAAF07A93A}">
      <dgm:prSet/>
      <dgm:spPr/>
      <dgm:t>
        <a:bodyPr/>
        <a:lstStyle/>
        <a:p>
          <a:endParaRPr lang="en-US"/>
        </a:p>
      </dgm:t>
    </dgm:pt>
    <dgm:pt modelId="{C513702E-BE2D-40A9-BE89-FC34061813F9}">
      <dgm:prSet/>
      <dgm:spPr/>
      <dgm:t>
        <a:bodyPr/>
        <a:lstStyle/>
        <a:p>
          <a:r>
            <a:rPr lang="en-US"/>
            <a:t>find out more about ethical guidelines, ethical codes, processes and heuristics to use in your professional lives </a:t>
          </a:r>
        </a:p>
      </dgm:t>
    </dgm:pt>
    <dgm:pt modelId="{AE9A7AE0-7CFB-4F78-8EEA-5053D51092E7}" type="parTrans" cxnId="{6DE3EC3C-AAAC-4C57-90DC-5DEEA42DF93A}">
      <dgm:prSet/>
      <dgm:spPr/>
      <dgm:t>
        <a:bodyPr/>
        <a:lstStyle/>
        <a:p>
          <a:endParaRPr lang="en-US"/>
        </a:p>
      </dgm:t>
    </dgm:pt>
    <dgm:pt modelId="{C652B1EB-8BBA-4223-926E-9D4778274B95}" type="sibTrans" cxnId="{6DE3EC3C-AAAC-4C57-90DC-5DEEA42DF93A}">
      <dgm:prSet/>
      <dgm:spPr/>
      <dgm:t>
        <a:bodyPr/>
        <a:lstStyle/>
        <a:p>
          <a:endParaRPr lang="en-US"/>
        </a:p>
      </dgm:t>
    </dgm:pt>
    <dgm:pt modelId="{8D5C16B3-6002-426A-B3ED-F73D442A28F5}" type="pres">
      <dgm:prSet presAssocID="{325052FE-D577-40D0-8B0C-5A23A427C6DB}" presName="Name0" presStyleCnt="0">
        <dgm:presLayoutVars>
          <dgm:dir/>
          <dgm:animLvl val="lvl"/>
          <dgm:resizeHandles val="exact"/>
        </dgm:presLayoutVars>
      </dgm:prSet>
      <dgm:spPr/>
    </dgm:pt>
    <dgm:pt modelId="{6AB65CD6-B007-4336-887E-14BFAA66C682}" type="pres">
      <dgm:prSet presAssocID="{195E6A93-C317-4DD0-AD5C-A2A87439B989}" presName="linNode" presStyleCnt="0"/>
      <dgm:spPr/>
    </dgm:pt>
    <dgm:pt modelId="{DE983A48-FB77-42CA-A1B5-93EDB8435AF6}" type="pres">
      <dgm:prSet presAssocID="{195E6A93-C317-4DD0-AD5C-A2A87439B989}" presName="parentText" presStyleLbl="alignNode1" presStyleIdx="0" presStyleCnt="5">
        <dgm:presLayoutVars>
          <dgm:chMax val="1"/>
          <dgm:bulletEnabled/>
        </dgm:presLayoutVars>
      </dgm:prSet>
      <dgm:spPr/>
    </dgm:pt>
    <dgm:pt modelId="{CA6978EB-FBC6-448A-948A-42BA01466662}" type="pres">
      <dgm:prSet presAssocID="{195E6A93-C317-4DD0-AD5C-A2A87439B989}" presName="descendantText" presStyleLbl="alignAccFollowNode1" presStyleIdx="0" presStyleCnt="5">
        <dgm:presLayoutVars>
          <dgm:bulletEnabled/>
        </dgm:presLayoutVars>
      </dgm:prSet>
      <dgm:spPr/>
    </dgm:pt>
    <dgm:pt modelId="{E132D198-1BD8-4DD8-AC69-F7184848806C}" type="pres">
      <dgm:prSet presAssocID="{4BC42455-F1CB-4108-988D-440DF6D9D987}" presName="sp" presStyleCnt="0"/>
      <dgm:spPr/>
    </dgm:pt>
    <dgm:pt modelId="{234470E8-C75A-431D-9EAC-1739E6B10F8E}" type="pres">
      <dgm:prSet presAssocID="{48B02165-8E53-4B6B-9347-39944BF23256}" presName="linNode" presStyleCnt="0"/>
      <dgm:spPr/>
    </dgm:pt>
    <dgm:pt modelId="{A5A39054-7F00-40D9-B87E-CCA49E7DD879}" type="pres">
      <dgm:prSet presAssocID="{48B02165-8E53-4B6B-9347-39944BF23256}" presName="parentText" presStyleLbl="alignNode1" presStyleIdx="1" presStyleCnt="5">
        <dgm:presLayoutVars>
          <dgm:chMax val="1"/>
          <dgm:bulletEnabled/>
        </dgm:presLayoutVars>
      </dgm:prSet>
      <dgm:spPr/>
    </dgm:pt>
    <dgm:pt modelId="{83DB96BC-A72C-4673-AC16-735CEB862B35}" type="pres">
      <dgm:prSet presAssocID="{48B02165-8E53-4B6B-9347-39944BF23256}" presName="descendantText" presStyleLbl="alignAccFollowNode1" presStyleIdx="1" presStyleCnt="5">
        <dgm:presLayoutVars>
          <dgm:bulletEnabled/>
        </dgm:presLayoutVars>
      </dgm:prSet>
      <dgm:spPr/>
    </dgm:pt>
    <dgm:pt modelId="{A1184D2D-1697-435A-98AE-C257AA6D5A28}" type="pres">
      <dgm:prSet presAssocID="{D8CA5FCD-24C5-4508-922F-FFEC5D567A83}" presName="sp" presStyleCnt="0"/>
      <dgm:spPr/>
    </dgm:pt>
    <dgm:pt modelId="{0B1F9912-5696-403E-84F4-366F2CA81AFD}" type="pres">
      <dgm:prSet presAssocID="{38C720B2-5D34-4C21-9A10-15C379D5EBD5}" presName="linNode" presStyleCnt="0"/>
      <dgm:spPr/>
    </dgm:pt>
    <dgm:pt modelId="{7C3F57A8-6A8E-4EBA-85EF-3513B791FB51}" type="pres">
      <dgm:prSet presAssocID="{38C720B2-5D34-4C21-9A10-15C379D5EBD5}" presName="parentText" presStyleLbl="alignNode1" presStyleIdx="2" presStyleCnt="5">
        <dgm:presLayoutVars>
          <dgm:chMax val="1"/>
          <dgm:bulletEnabled/>
        </dgm:presLayoutVars>
      </dgm:prSet>
      <dgm:spPr/>
    </dgm:pt>
    <dgm:pt modelId="{009BA6E3-E6F5-4928-A9F1-F0290251D1BD}" type="pres">
      <dgm:prSet presAssocID="{38C720B2-5D34-4C21-9A10-15C379D5EBD5}" presName="descendantText" presStyleLbl="alignAccFollowNode1" presStyleIdx="2" presStyleCnt="5">
        <dgm:presLayoutVars>
          <dgm:bulletEnabled/>
        </dgm:presLayoutVars>
      </dgm:prSet>
      <dgm:spPr/>
    </dgm:pt>
    <dgm:pt modelId="{5E50F003-8AB9-4788-92D8-4A71921FD146}" type="pres">
      <dgm:prSet presAssocID="{4058EF6E-2EF9-4D12-8A3E-7E6BE484B42E}" presName="sp" presStyleCnt="0"/>
      <dgm:spPr/>
    </dgm:pt>
    <dgm:pt modelId="{57977AC9-3064-4259-A18D-53EDF8AE05CD}" type="pres">
      <dgm:prSet presAssocID="{B24E391A-5815-449D-8637-821280C61596}" presName="linNode" presStyleCnt="0"/>
      <dgm:spPr/>
    </dgm:pt>
    <dgm:pt modelId="{A06A5D03-D001-425D-8719-C47EDBFAE669}" type="pres">
      <dgm:prSet presAssocID="{B24E391A-5815-449D-8637-821280C61596}" presName="parentText" presStyleLbl="alignNode1" presStyleIdx="3" presStyleCnt="5">
        <dgm:presLayoutVars>
          <dgm:chMax val="1"/>
          <dgm:bulletEnabled/>
        </dgm:presLayoutVars>
      </dgm:prSet>
      <dgm:spPr/>
    </dgm:pt>
    <dgm:pt modelId="{D97DF0BB-D446-4F7A-A659-BCA04DF31A0A}" type="pres">
      <dgm:prSet presAssocID="{B24E391A-5815-449D-8637-821280C61596}" presName="descendantText" presStyleLbl="alignAccFollowNode1" presStyleIdx="3" presStyleCnt="5">
        <dgm:presLayoutVars>
          <dgm:bulletEnabled/>
        </dgm:presLayoutVars>
      </dgm:prSet>
      <dgm:spPr/>
    </dgm:pt>
    <dgm:pt modelId="{3CC94B5D-06EC-43B1-A058-9D1D697214CD}" type="pres">
      <dgm:prSet presAssocID="{672D34CA-D6E9-42FA-90A1-A62AEEAF0D9B}" presName="sp" presStyleCnt="0"/>
      <dgm:spPr/>
    </dgm:pt>
    <dgm:pt modelId="{5FD0BE8D-7578-49C6-ABE0-6E52E28EE714}" type="pres">
      <dgm:prSet presAssocID="{659B9FCB-6E37-4B08-991B-4FDC7E7CD912}" presName="linNode" presStyleCnt="0"/>
      <dgm:spPr/>
    </dgm:pt>
    <dgm:pt modelId="{EB5B08BD-C472-4DA0-AE3A-6C04D33A52BF}" type="pres">
      <dgm:prSet presAssocID="{659B9FCB-6E37-4B08-991B-4FDC7E7CD912}" presName="parentText" presStyleLbl="alignNode1" presStyleIdx="4" presStyleCnt="5">
        <dgm:presLayoutVars>
          <dgm:chMax val="1"/>
          <dgm:bulletEnabled/>
        </dgm:presLayoutVars>
      </dgm:prSet>
      <dgm:spPr/>
    </dgm:pt>
    <dgm:pt modelId="{AD0AE1A5-0C8E-46DB-86A8-5336398B4109}" type="pres">
      <dgm:prSet presAssocID="{659B9FCB-6E37-4B08-991B-4FDC7E7CD912}" presName="descendantText" presStyleLbl="alignAccFollowNode1" presStyleIdx="4" presStyleCnt="5">
        <dgm:presLayoutVars>
          <dgm:bulletEnabled/>
        </dgm:presLayoutVars>
      </dgm:prSet>
      <dgm:spPr/>
    </dgm:pt>
  </dgm:ptLst>
  <dgm:cxnLst>
    <dgm:cxn modelId="{E54AFC05-5FAD-41D9-83A4-63E8F145AED9}" type="presOf" srcId="{659B9FCB-6E37-4B08-991B-4FDC7E7CD912}" destId="{EB5B08BD-C472-4DA0-AE3A-6C04D33A52BF}" srcOrd="0" destOrd="0" presId="urn:microsoft.com/office/officeart/2016/7/layout/VerticalSolidActionList"/>
    <dgm:cxn modelId="{4C064B18-D67C-4C1E-A788-401A4CCC6818}" srcId="{38C720B2-5D34-4C21-9A10-15C379D5EBD5}" destId="{C81F0DBB-5693-4A55-90B5-7278438D1803}" srcOrd="0" destOrd="0" parTransId="{DA610BC7-A891-4648-A4AD-7CD6597166B8}" sibTransId="{015D7966-EA5F-49F1-8F30-B86B9B253521}"/>
    <dgm:cxn modelId="{1B6AFB1A-8A82-4291-8049-2A6899FF024D}" type="presOf" srcId="{B24E391A-5815-449D-8637-821280C61596}" destId="{A06A5D03-D001-425D-8719-C47EDBFAE669}" srcOrd="0" destOrd="0" presId="urn:microsoft.com/office/officeart/2016/7/layout/VerticalSolidActionList"/>
    <dgm:cxn modelId="{09FAD51D-64E2-4860-9670-165832670812}" srcId="{325052FE-D577-40D0-8B0C-5A23A427C6DB}" destId="{195E6A93-C317-4DD0-AD5C-A2A87439B989}" srcOrd="0" destOrd="0" parTransId="{EAD558B4-B1C9-4395-8C73-BD263DE86582}" sibTransId="{4BC42455-F1CB-4108-988D-440DF6D9D987}"/>
    <dgm:cxn modelId="{12122B1E-296E-4976-8AEB-7DE79CE2A345}" type="presOf" srcId="{C81F0DBB-5693-4A55-90B5-7278438D1803}" destId="{009BA6E3-E6F5-4928-A9F1-F0290251D1BD}" srcOrd="0" destOrd="0" presId="urn:microsoft.com/office/officeart/2016/7/layout/VerticalSolidActionList"/>
    <dgm:cxn modelId="{D4BB5821-977F-4E38-BC24-BB1D8A45D84D}" type="presOf" srcId="{325052FE-D577-40D0-8B0C-5A23A427C6DB}" destId="{8D5C16B3-6002-426A-B3ED-F73D442A28F5}" srcOrd="0" destOrd="0" presId="urn:microsoft.com/office/officeart/2016/7/layout/VerticalSolidActionList"/>
    <dgm:cxn modelId="{8C64D422-AEB9-40B1-A982-D9F1E80952CE}" srcId="{B24E391A-5815-449D-8637-821280C61596}" destId="{C498596D-DD95-43E5-A919-A0942AAC286D}" srcOrd="0" destOrd="0" parTransId="{536AC975-3CB1-4E9A-8DF2-5499167ED1E8}" sibTransId="{64D7C192-8CC2-45F1-8B6E-1C06B5F32549}"/>
    <dgm:cxn modelId="{7221E62B-6F58-4DBB-BFB1-B51D4BF3AF6C}" type="presOf" srcId="{48B02165-8E53-4B6B-9347-39944BF23256}" destId="{A5A39054-7F00-40D9-B87E-CCA49E7DD879}" srcOrd="0" destOrd="0" presId="urn:microsoft.com/office/officeart/2016/7/layout/VerticalSolidActionList"/>
    <dgm:cxn modelId="{B74BE533-99CC-42C4-A178-283F94FB4391}" type="presOf" srcId="{C498596D-DD95-43E5-A919-A0942AAC286D}" destId="{D97DF0BB-D446-4F7A-A659-BCA04DF31A0A}" srcOrd="0" destOrd="0" presId="urn:microsoft.com/office/officeart/2016/7/layout/VerticalSolidActionList"/>
    <dgm:cxn modelId="{6DE3EC3C-AAAC-4C57-90DC-5DEEA42DF93A}" srcId="{659B9FCB-6E37-4B08-991B-4FDC7E7CD912}" destId="{C513702E-BE2D-40A9-BE89-FC34061813F9}" srcOrd="0" destOrd="0" parTransId="{AE9A7AE0-7CFB-4F78-8EEA-5053D51092E7}" sibTransId="{C652B1EB-8BBA-4223-926E-9D4778274B95}"/>
    <dgm:cxn modelId="{92AD815D-8137-4B4C-9C95-C7820AF08F87}" type="presOf" srcId="{CD3DD3A1-1133-418A-A3E5-4E44D244ED38}" destId="{CA6978EB-FBC6-448A-948A-42BA01466662}" srcOrd="0" destOrd="0" presId="urn:microsoft.com/office/officeart/2016/7/layout/VerticalSolidActionList"/>
    <dgm:cxn modelId="{92E40165-BC07-4D93-91F9-4D84254C8EE5}" srcId="{325052FE-D577-40D0-8B0C-5A23A427C6DB}" destId="{48B02165-8E53-4B6B-9347-39944BF23256}" srcOrd="1" destOrd="0" parTransId="{E1F68068-D805-4610-9610-AEAD63A32AA1}" sibTransId="{D8CA5FCD-24C5-4508-922F-FFEC5D567A83}"/>
    <dgm:cxn modelId="{00E83B6B-666B-4446-BBCB-D2A61B68BF3F}" srcId="{325052FE-D577-40D0-8B0C-5A23A427C6DB}" destId="{38C720B2-5D34-4C21-9A10-15C379D5EBD5}" srcOrd="2" destOrd="0" parTransId="{361048CA-2696-4E0B-9E14-5277E61B8DFF}" sibTransId="{4058EF6E-2EF9-4D12-8A3E-7E6BE484B42E}"/>
    <dgm:cxn modelId="{F32C4C51-F951-4CE9-8977-80576FD351D2}" type="presOf" srcId="{C513702E-BE2D-40A9-BE89-FC34061813F9}" destId="{AD0AE1A5-0C8E-46DB-86A8-5336398B4109}" srcOrd="0" destOrd="0" presId="urn:microsoft.com/office/officeart/2016/7/layout/VerticalSolidActionList"/>
    <dgm:cxn modelId="{8A1E9584-08D0-46A1-A43D-E4F16C6899A9}" srcId="{195E6A93-C317-4DD0-AD5C-A2A87439B989}" destId="{CD3DD3A1-1133-418A-A3E5-4E44D244ED38}" srcOrd="0" destOrd="0" parTransId="{781B360D-BCF9-4B8E-947C-DE0D1629E548}" sibTransId="{B4F6AEB5-27A6-4FF4-945D-F0C48C0896FB}"/>
    <dgm:cxn modelId="{0883BD8D-0EAE-4AAA-9305-5BCF456B549B}" srcId="{48B02165-8E53-4B6B-9347-39944BF23256}" destId="{FB899A46-90CF-413E-8381-BA102A115298}" srcOrd="0" destOrd="0" parTransId="{0296E68B-E442-4783-A4FA-366C8D82ACE0}" sibTransId="{61A08784-83C9-482D-A48C-E018F31DBF22}"/>
    <dgm:cxn modelId="{E3D2C295-4C6B-45D4-98FD-DF7844EE51D1}" srcId="{325052FE-D577-40D0-8B0C-5A23A427C6DB}" destId="{B24E391A-5815-449D-8637-821280C61596}" srcOrd="3" destOrd="0" parTransId="{D930A012-50AB-489C-B90A-A7A150A1FABF}" sibTransId="{672D34CA-D6E9-42FA-90A1-A62AEEAF0D9B}"/>
    <dgm:cxn modelId="{FF337FB8-B66A-4F22-94E0-274ADBB7E0DD}" type="presOf" srcId="{38C720B2-5D34-4C21-9A10-15C379D5EBD5}" destId="{7C3F57A8-6A8E-4EBA-85EF-3513B791FB51}" srcOrd="0" destOrd="0" presId="urn:microsoft.com/office/officeart/2016/7/layout/VerticalSolidActionList"/>
    <dgm:cxn modelId="{7B369DBD-FEEB-4CAF-BF05-56AAAF07A93A}" srcId="{325052FE-D577-40D0-8B0C-5A23A427C6DB}" destId="{659B9FCB-6E37-4B08-991B-4FDC7E7CD912}" srcOrd="4" destOrd="0" parTransId="{30D7DD11-0E62-4AC1-A68B-36DF1DFA16C8}" sibTransId="{9F7E042E-5E6F-4A9E-8ABD-2101A6246B07}"/>
    <dgm:cxn modelId="{212212DD-D961-4676-9CE0-949B5EADAC1D}" type="presOf" srcId="{FB899A46-90CF-413E-8381-BA102A115298}" destId="{83DB96BC-A72C-4673-AC16-735CEB862B35}" srcOrd="0" destOrd="0" presId="urn:microsoft.com/office/officeart/2016/7/layout/VerticalSolidActionList"/>
    <dgm:cxn modelId="{2F3E80F6-96CA-4708-81B1-45BB9D491B62}" type="presOf" srcId="{195E6A93-C317-4DD0-AD5C-A2A87439B989}" destId="{DE983A48-FB77-42CA-A1B5-93EDB8435AF6}" srcOrd="0" destOrd="0" presId="urn:microsoft.com/office/officeart/2016/7/layout/VerticalSolidActionList"/>
    <dgm:cxn modelId="{C8F8DABF-A4DB-49F9-A9EB-55754430CDE4}" type="presParOf" srcId="{8D5C16B3-6002-426A-B3ED-F73D442A28F5}" destId="{6AB65CD6-B007-4336-887E-14BFAA66C682}" srcOrd="0" destOrd="0" presId="urn:microsoft.com/office/officeart/2016/7/layout/VerticalSolidActionList"/>
    <dgm:cxn modelId="{8421F294-F1D4-4977-A3C3-C4850FF90FCE}" type="presParOf" srcId="{6AB65CD6-B007-4336-887E-14BFAA66C682}" destId="{DE983A48-FB77-42CA-A1B5-93EDB8435AF6}" srcOrd="0" destOrd="0" presId="urn:microsoft.com/office/officeart/2016/7/layout/VerticalSolidActionList"/>
    <dgm:cxn modelId="{E2738DB7-4830-46A3-8AED-82FC184C8FF1}" type="presParOf" srcId="{6AB65CD6-B007-4336-887E-14BFAA66C682}" destId="{CA6978EB-FBC6-448A-948A-42BA01466662}" srcOrd="1" destOrd="0" presId="urn:microsoft.com/office/officeart/2016/7/layout/VerticalSolidActionList"/>
    <dgm:cxn modelId="{8026D4AC-206D-4B9C-911F-66ACDFF578C6}" type="presParOf" srcId="{8D5C16B3-6002-426A-B3ED-F73D442A28F5}" destId="{E132D198-1BD8-4DD8-AC69-F7184848806C}" srcOrd="1" destOrd="0" presId="urn:microsoft.com/office/officeart/2016/7/layout/VerticalSolidActionList"/>
    <dgm:cxn modelId="{AF18466D-D91F-45A7-B607-9E62BCCD79BE}" type="presParOf" srcId="{8D5C16B3-6002-426A-B3ED-F73D442A28F5}" destId="{234470E8-C75A-431D-9EAC-1739E6B10F8E}" srcOrd="2" destOrd="0" presId="urn:microsoft.com/office/officeart/2016/7/layout/VerticalSolidActionList"/>
    <dgm:cxn modelId="{D14E64DD-D772-4FC7-B215-43AF9A72808A}" type="presParOf" srcId="{234470E8-C75A-431D-9EAC-1739E6B10F8E}" destId="{A5A39054-7F00-40D9-B87E-CCA49E7DD879}" srcOrd="0" destOrd="0" presId="urn:microsoft.com/office/officeart/2016/7/layout/VerticalSolidActionList"/>
    <dgm:cxn modelId="{C5D02637-6C3D-415E-9449-A0A3C6873E6A}" type="presParOf" srcId="{234470E8-C75A-431D-9EAC-1739E6B10F8E}" destId="{83DB96BC-A72C-4673-AC16-735CEB862B35}" srcOrd="1" destOrd="0" presId="urn:microsoft.com/office/officeart/2016/7/layout/VerticalSolidActionList"/>
    <dgm:cxn modelId="{E2671D3E-840E-4461-9E6D-55FE81467748}" type="presParOf" srcId="{8D5C16B3-6002-426A-B3ED-F73D442A28F5}" destId="{A1184D2D-1697-435A-98AE-C257AA6D5A28}" srcOrd="3" destOrd="0" presId="urn:microsoft.com/office/officeart/2016/7/layout/VerticalSolidActionList"/>
    <dgm:cxn modelId="{593793B8-97E6-4421-843B-F64B7FC91E68}" type="presParOf" srcId="{8D5C16B3-6002-426A-B3ED-F73D442A28F5}" destId="{0B1F9912-5696-403E-84F4-366F2CA81AFD}" srcOrd="4" destOrd="0" presId="urn:microsoft.com/office/officeart/2016/7/layout/VerticalSolidActionList"/>
    <dgm:cxn modelId="{3C916BD4-0C43-42C9-AD7B-3B3492D725A7}" type="presParOf" srcId="{0B1F9912-5696-403E-84F4-366F2CA81AFD}" destId="{7C3F57A8-6A8E-4EBA-85EF-3513B791FB51}" srcOrd="0" destOrd="0" presId="urn:microsoft.com/office/officeart/2016/7/layout/VerticalSolidActionList"/>
    <dgm:cxn modelId="{62ED0EFC-53D2-41C4-BC67-09C4F9E9940E}" type="presParOf" srcId="{0B1F9912-5696-403E-84F4-366F2CA81AFD}" destId="{009BA6E3-E6F5-4928-A9F1-F0290251D1BD}" srcOrd="1" destOrd="0" presId="urn:microsoft.com/office/officeart/2016/7/layout/VerticalSolidActionList"/>
    <dgm:cxn modelId="{217AF496-3FFE-4B35-B637-66DFB540EE06}" type="presParOf" srcId="{8D5C16B3-6002-426A-B3ED-F73D442A28F5}" destId="{5E50F003-8AB9-4788-92D8-4A71921FD146}" srcOrd="5" destOrd="0" presId="urn:microsoft.com/office/officeart/2016/7/layout/VerticalSolidActionList"/>
    <dgm:cxn modelId="{D2F43EA4-E7EA-4203-9C7A-BB5B6F43451B}" type="presParOf" srcId="{8D5C16B3-6002-426A-B3ED-F73D442A28F5}" destId="{57977AC9-3064-4259-A18D-53EDF8AE05CD}" srcOrd="6" destOrd="0" presId="urn:microsoft.com/office/officeart/2016/7/layout/VerticalSolidActionList"/>
    <dgm:cxn modelId="{F74BB32E-A94F-4B2A-8BF9-ED3754AD6624}" type="presParOf" srcId="{57977AC9-3064-4259-A18D-53EDF8AE05CD}" destId="{A06A5D03-D001-425D-8719-C47EDBFAE669}" srcOrd="0" destOrd="0" presId="urn:microsoft.com/office/officeart/2016/7/layout/VerticalSolidActionList"/>
    <dgm:cxn modelId="{CA232127-AEC2-44F6-970A-256962385CC0}" type="presParOf" srcId="{57977AC9-3064-4259-A18D-53EDF8AE05CD}" destId="{D97DF0BB-D446-4F7A-A659-BCA04DF31A0A}" srcOrd="1" destOrd="0" presId="urn:microsoft.com/office/officeart/2016/7/layout/VerticalSolidActionList"/>
    <dgm:cxn modelId="{36D5E00D-F97E-405E-B342-0E3454C1E593}" type="presParOf" srcId="{8D5C16B3-6002-426A-B3ED-F73D442A28F5}" destId="{3CC94B5D-06EC-43B1-A058-9D1D697214CD}" srcOrd="7" destOrd="0" presId="urn:microsoft.com/office/officeart/2016/7/layout/VerticalSolidActionList"/>
    <dgm:cxn modelId="{584D36D5-7A5B-4DA8-9D59-65E9B7703841}" type="presParOf" srcId="{8D5C16B3-6002-426A-B3ED-F73D442A28F5}" destId="{5FD0BE8D-7578-49C6-ABE0-6E52E28EE714}" srcOrd="8" destOrd="0" presId="urn:microsoft.com/office/officeart/2016/7/layout/VerticalSolidActionList"/>
    <dgm:cxn modelId="{2723247E-2B08-4A11-B99B-403C5EBF0C08}" type="presParOf" srcId="{5FD0BE8D-7578-49C6-ABE0-6E52E28EE714}" destId="{EB5B08BD-C472-4DA0-AE3A-6C04D33A52BF}" srcOrd="0" destOrd="0" presId="urn:microsoft.com/office/officeart/2016/7/layout/VerticalSolidActionList"/>
    <dgm:cxn modelId="{34C9DF41-5CBA-46E6-9F12-AA05BED36387}" type="presParOf" srcId="{5FD0BE8D-7578-49C6-ABE0-6E52E28EE714}" destId="{AD0AE1A5-0C8E-46DB-86A8-5336398B4109}" srcOrd="1" destOrd="0" presId="urn:microsoft.com/office/officeart/2016/7/layout/VerticalSolid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FD04E2-5BD6-4773-8F11-2EEA9D0940B6}" type="doc">
      <dgm:prSet loTypeId="urn:microsoft.com/office/officeart/2018/5/layout/IconCircleLabelList" loCatId="icon" qsTypeId="urn:microsoft.com/office/officeart/2005/8/quickstyle/simple1#2" qsCatId="simple" csTypeId="urn:microsoft.com/office/officeart/2018/5/colors/Iconchunking_neutralbg_colorful1" csCatId="colorful" phldr="1"/>
      <dgm:spPr/>
      <dgm:t>
        <a:bodyPr/>
        <a:lstStyle/>
        <a:p>
          <a:endParaRPr lang="en-US"/>
        </a:p>
      </dgm:t>
    </dgm:pt>
    <dgm:pt modelId="{E60023AF-B0F4-4E1F-BFA0-02707B6E5A46}">
      <dgm:prSet custT="1"/>
      <dgm:spPr/>
      <dgm:t>
        <a:bodyPr/>
        <a:lstStyle/>
        <a:p>
          <a:pPr>
            <a:defRPr cap="all"/>
          </a:pPr>
          <a:r>
            <a:rPr lang="en-AU" sz="1400" dirty="0"/>
            <a:t>Understand the connection between professionalism and moral responsibility</a:t>
          </a:r>
          <a:r>
            <a:rPr lang="en-AU" sz="1100" dirty="0"/>
            <a:t>.</a:t>
          </a:r>
          <a:endParaRPr lang="en-US" sz="1100" dirty="0"/>
        </a:p>
      </dgm:t>
    </dgm:pt>
    <dgm:pt modelId="{9CF2DBD2-40B4-42FD-9020-124965D1539C}" type="parTrans" cxnId="{23E16798-2E2D-489F-A2FA-2807038EC9F0}">
      <dgm:prSet/>
      <dgm:spPr/>
      <dgm:t>
        <a:bodyPr/>
        <a:lstStyle/>
        <a:p>
          <a:endParaRPr lang="en-US"/>
        </a:p>
      </dgm:t>
    </dgm:pt>
    <dgm:pt modelId="{D179D9A4-41B3-4510-9F46-1AD92C02B156}" type="sibTrans" cxnId="{23E16798-2E2D-489F-A2FA-2807038EC9F0}">
      <dgm:prSet/>
      <dgm:spPr/>
      <dgm:t>
        <a:bodyPr/>
        <a:lstStyle/>
        <a:p>
          <a:endParaRPr lang="en-US"/>
        </a:p>
      </dgm:t>
    </dgm:pt>
    <dgm:pt modelId="{F4673613-D699-4BBF-9624-772C265FB58F}">
      <dgm:prSet custT="1"/>
      <dgm:spPr/>
      <dgm:t>
        <a:bodyPr/>
        <a:lstStyle/>
        <a:p>
          <a:pPr>
            <a:defRPr cap="all"/>
          </a:pPr>
          <a:r>
            <a:rPr lang="en-AU" sz="1400" dirty="0"/>
            <a:t>Differentiate between various ethical frameworks and identify which is best suited to you.</a:t>
          </a:r>
          <a:endParaRPr lang="en-US" sz="1400" dirty="0"/>
        </a:p>
      </dgm:t>
    </dgm:pt>
    <dgm:pt modelId="{2A97EBFB-302A-4E97-8013-5DC89B6611E6}" type="parTrans" cxnId="{1D488C4B-0796-451E-9575-778A0730B105}">
      <dgm:prSet/>
      <dgm:spPr/>
      <dgm:t>
        <a:bodyPr/>
        <a:lstStyle/>
        <a:p>
          <a:endParaRPr lang="en-US"/>
        </a:p>
      </dgm:t>
    </dgm:pt>
    <dgm:pt modelId="{7782B302-11D3-4DA4-8252-B59D8F769AF2}" type="sibTrans" cxnId="{1D488C4B-0796-451E-9575-778A0730B105}">
      <dgm:prSet/>
      <dgm:spPr/>
      <dgm:t>
        <a:bodyPr/>
        <a:lstStyle/>
        <a:p>
          <a:endParaRPr lang="en-US"/>
        </a:p>
      </dgm:t>
    </dgm:pt>
    <dgm:pt modelId="{E1312437-F0F3-442F-A469-A53B8AD369B9}">
      <dgm:prSet custT="1"/>
      <dgm:spPr/>
      <dgm:t>
        <a:bodyPr/>
        <a:lstStyle/>
        <a:p>
          <a:pPr>
            <a:defRPr cap="all"/>
          </a:pPr>
          <a:r>
            <a:rPr lang="en-AU" sz="1400" dirty="0"/>
            <a:t>Identify different decision-making frameworks and ethical design approaches that are applicable to, and may be utilised in, your specific field.</a:t>
          </a:r>
          <a:endParaRPr lang="en-US" sz="1400" dirty="0"/>
        </a:p>
      </dgm:t>
    </dgm:pt>
    <dgm:pt modelId="{83927BB7-2A30-418D-A215-37C536BF413E}" type="parTrans" cxnId="{D9E125E3-1690-4052-BF51-BD5B3F790E37}">
      <dgm:prSet/>
      <dgm:spPr/>
      <dgm:t>
        <a:bodyPr/>
        <a:lstStyle/>
        <a:p>
          <a:endParaRPr lang="en-US"/>
        </a:p>
      </dgm:t>
    </dgm:pt>
    <dgm:pt modelId="{0C0949A8-480C-4C8A-BB19-AD95BE8C9C29}" type="sibTrans" cxnId="{D9E125E3-1690-4052-BF51-BD5B3F790E37}">
      <dgm:prSet/>
      <dgm:spPr/>
      <dgm:t>
        <a:bodyPr/>
        <a:lstStyle/>
        <a:p>
          <a:endParaRPr lang="en-US"/>
        </a:p>
      </dgm:t>
    </dgm:pt>
    <dgm:pt modelId="{C36D31C3-E4AD-4E7D-92C1-20446C26995E}">
      <dgm:prSet/>
      <dgm:spPr/>
      <dgm:t>
        <a:bodyPr/>
        <a:lstStyle/>
        <a:p>
          <a:pPr>
            <a:defRPr cap="all"/>
          </a:pPr>
          <a:r>
            <a:rPr lang="en-AU"/>
            <a:t>Understand how a professional code of ethics represents various ethical frameworks and codifies your moral obligation as a professional. </a:t>
          </a:r>
          <a:endParaRPr lang="en-US"/>
        </a:p>
      </dgm:t>
    </dgm:pt>
    <dgm:pt modelId="{AFD21D5C-31FC-49C5-AE2B-14CE4DAF8D31}" type="parTrans" cxnId="{764F18E4-171D-4DDD-8824-4154B39F3C99}">
      <dgm:prSet/>
      <dgm:spPr/>
      <dgm:t>
        <a:bodyPr/>
        <a:lstStyle/>
        <a:p>
          <a:endParaRPr lang="en-US"/>
        </a:p>
      </dgm:t>
    </dgm:pt>
    <dgm:pt modelId="{FB62BE83-DE27-4297-916D-E957A6045626}" type="sibTrans" cxnId="{764F18E4-171D-4DDD-8824-4154B39F3C99}">
      <dgm:prSet/>
      <dgm:spPr/>
      <dgm:t>
        <a:bodyPr/>
        <a:lstStyle/>
        <a:p>
          <a:endParaRPr lang="en-US"/>
        </a:p>
      </dgm:t>
    </dgm:pt>
    <dgm:pt modelId="{6B659B86-E04A-42E6-913B-7156CE2E9818}" type="pres">
      <dgm:prSet presAssocID="{1DFD04E2-5BD6-4773-8F11-2EEA9D0940B6}" presName="root" presStyleCnt="0">
        <dgm:presLayoutVars>
          <dgm:dir/>
          <dgm:resizeHandles val="exact"/>
        </dgm:presLayoutVars>
      </dgm:prSet>
      <dgm:spPr/>
    </dgm:pt>
    <dgm:pt modelId="{AD31D7B4-566D-4E4D-B8F8-513AE726AA54}" type="pres">
      <dgm:prSet presAssocID="{E60023AF-B0F4-4E1F-BFA0-02707B6E5A46}" presName="compNode" presStyleCnt="0"/>
      <dgm:spPr/>
    </dgm:pt>
    <dgm:pt modelId="{0C054B1A-03FD-44BF-A9E7-F0CC3779CB8B}" type="pres">
      <dgm:prSet presAssocID="{E60023AF-B0F4-4E1F-BFA0-02707B6E5A46}" presName="iconBgRect" presStyleLbl="bgShp" presStyleIdx="0" presStyleCnt="4"/>
      <dgm:spPr/>
    </dgm:pt>
    <dgm:pt modelId="{9EA19341-78E6-44EA-9FC5-AB3A6D567AD9}" type="pres">
      <dgm:prSet presAssocID="{E60023AF-B0F4-4E1F-BFA0-02707B6E5A4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andshake"/>
        </a:ext>
      </dgm:extLst>
    </dgm:pt>
    <dgm:pt modelId="{C960F616-3C59-4518-BB1B-0DCBF0AF3532}" type="pres">
      <dgm:prSet presAssocID="{E60023AF-B0F4-4E1F-BFA0-02707B6E5A46}" presName="spaceRect" presStyleCnt="0"/>
      <dgm:spPr/>
    </dgm:pt>
    <dgm:pt modelId="{5D05FDCB-DAC5-46FB-BA63-1C229D1F3375}" type="pres">
      <dgm:prSet presAssocID="{E60023AF-B0F4-4E1F-BFA0-02707B6E5A46}" presName="textRect" presStyleLbl="revTx" presStyleIdx="0" presStyleCnt="4">
        <dgm:presLayoutVars>
          <dgm:chMax val="1"/>
          <dgm:chPref val="1"/>
        </dgm:presLayoutVars>
      </dgm:prSet>
      <dgm:spPr/>
    </dgm:pt>
    <dgm:pt modelId="{427D528B-5520-47BF-8DBF-9B251B7EB383}" type="pres">
      <dgm:prSet presAssocID="{D179D9A4-41B3-4510-9F46-1AD92C02B156}" presName="sibTrans" presStyleCnt="0"/>
      <dgm:spPr/>
    </dgm:pt>
    <dgm:pt modelId="{CE99FB6A-E215-4733-B518-13968B3D0B74}" type="pres">
      <dgm:prSet presAssocID="{F4673613-D699-4BBF-9624-772C265FB58F}" presName="compNode" presStyleCnt="0"/>
      <dgm:spPr/>
    </dgm:pt>
    <dgm:pt modelId="{0B635923-262F-4EA9-9925-F62F23E3B94A}" type="pres">
      <dgm:prSet presAssocID="{F4673613-D699-4BBF-9624-772C265FB58F}" presName="iconBgRect" presStyleLbl="bgShp" presStyleIdx="1" presStyleCnt="4"/>
      <dgm:spPr/>
    </dgm:pt>
    <dgm:pt modelId="{0ED7FC7E-CAA2-4D46-B247-37BAECAF270E}" type="pres">
      <dgm:prSet presAssocID="{F4673613-D699-4BBF-9624-772C265FB58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dge"/>
        </a:ext>
      </dgm:extLst>
    </dgm:pt>
    <dgm:pt modelId="{B3A2F3B2-0947-4870-B980-5A1D1774015F}" type="pres">
      <dgm:prSet presAssocID="{F4673613-D699-4BBF-9624-772C265FB58F}" presName="spaceRect" presStyleCnt="0"/>
      <dgm:spPr/>
    </dgm:pt>
    <dgm:pt modelId="{BF4406E7-E315-4D0F-AB57-E894369D2F2C}" type="pres">
      <dgm:prSet presAssocID="{F4673613-D699-4BBF-9624-772C265FB58F}" presName="textRect" presStyleLbl="revTx" presStyleIdx="1" presStyleCnt="4">
        <dgm:presLayoutVars>
          <dgm:chMax val="1"/>
          <dgm:chPref val="1"/>
        </dgm:presLayoutVars>
      </dgm:prSet>
      <dgm:spPr/>
    </dgm:pt>
    <dgm:pt modelId="{9049C93D-E057-4C02-93DA-FA951E7C9171}" type="pres">
      <dgm:prSet presAssocID="{7782B302-11D3-4DA4-8252-B59D8F769AF2}" presName="sibTrans" presStyleCnt="0"/>
      <dgm:spPr/>
    </dgm:pt>
    <dgm:pt modelId="{FC0EDA09-F56F-4AF3-B57B-542E0DD0DABA}" type="pres">
      <dgm:prSet presAssocID="{E1312437-F0F3-442F-A469-A53B8AD369B9}" presName="compNode" presStyleCnt="0"/>
      <dgm:spPr/>
    </dgm:pt>
    <dgm:pt modelId="{BA313EA6-D349-4476-AB75-77C100141DC4}" type="pres">
      <dgm:prSet presAssocID="{E1312437-F0F3-442F-A469-A53B8AD369B9}" presName="iconBgRect" presStyleLbl="bgShp" presStyleIdx="2" presStyleCnt="4"/>
      <dgm:spPr/>
    </dgm:pt>
    <dgm:pt modelId="{55021487-32BC-4D9B-98D4-AE05E8AE4B3B}" type="pres">
      <dgm:prSet presAssocID="{E1312437-F0F3-442F-A469-A53B8AD369B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rson with Idea"/>
        </a:ext>
      </dgm:extLst>
    </dgm:pt>
    <dgm:pt modelId="{830DF52D-4CA0-4D0F-AF54-A88AFA27C1E2}" type="pres">
      <dgm:prSet presAssocID="{E1312437-F0F3-442F-A469-A53B8AD369B9}" presName="spaceRect" presStyleCnt="0"/>
      <dgm:spPr/>
    </dgm:pt>
    <dgm:pt modelId="{F8C9DF83-9CDD-498C-948E-A84D07BF626A}" type="pres">
      <dgm:prSet presAssocID="{E1312437-F0F3-442F-A469-A53B8AD369B9}" presName="textRect" presStyleLbl="revTx" presStyleIdx="2" presStyleCnt="4" custScaleX="113500">
        <dgm:presLayoutVars>
          <dgm:chMax val="1"/>
          <dgm:chPref val="1"/>
        </dgm:presLayoutVars>
      </dgm:prSet>
      <dgm:spPr/>
    </dgm:pt>
    <dgm:pt modelId="{7726F795-C891-4E65-A63A-9596B89033D3}" type="pres">
      <dgm:prSet presAssocID="{0C0949A8-480C-4C8A-BB19-AD95BE8C9C29}" presName="sibTrans" presStyleCnt="0"/>
      <dgm:spPr/>
    </dgm:pt>
    <dgm:pt modelId="{26DB41AE-0055-4179-8148-25EA1D66C25F}" type="pres">
      <dgm:prSet presAssocID="{C36D31C3-E4AD-4E7D-92C1-20446C26995E}" presName="compNode" presStyleCnt="0"/>
      <dgm:spPr/>
    </dgm:pt>
    <dgm:pt modelId="{D118655C-A57E-40BE-9DFB-6452947AD47F}" type="pres">
      <dgm:prSet presAssocID="{C36D31C3-E4AD-4E7D-92C1-20446C26995E}" presName="iconBgRect" presStyleLbl="bgShp" presStyleIdx="3" presStyleCnt="4"/>
      <dgm:spPr/>
    </dgm:pt>
    <dgm:pt modelId="{9B93B066-0BA8-4A4F-B5EA-51FAFB00CFD3}" type="pres">
      <dgm:prSet presAssocID="{C36D31C3-E4AD-4E7D-92C1-20446C26995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F3DC4D63-01EE-4D56-832F-180BF0FB54F1}" type="pres">
      <dgm:prSet presAssocID="{C36D31C3-E4AD-4E7D-92C1-20446C26995E}" presName="spaceRect" presStyleCnt="0"/>
      <dgm:spPr/>
    </dgm:pt>
    <dgm:pt modelId="{4256F47B-3726-4B64-87FF-E153670B0E57}" type="pres">
      <dgm:prSet presAssocID="{C36D31C3-E4AD-4E7D-92C1-20446C26995E}" presName="textRect" presStyleLbl="revTx" presStyleIdx="3" presStyleCnt="4">
        <dgm:presLayoutVars>
          <dgm:chMax val="1"/>
          <dgm:chPref val="1"/>
        </dgm:presLayoutVars>
      </dgm:prSet>
      <dgm:spPr/>
    </dgm:pt>
  </dgm:ptLst>
  <dgm:cxnLst>
    <dgm:cxn modelId="{69593C5B-219E-4D20-A6DD-6D9A6B4DB332}" type="presOf" srcId="{1DFD04E2-5BD6-4773-8F11-2EEA9D0940B6}" destId="{6B659B86-E04A-42E6-913B-7156CE2E9818}" srcOrd="0" destOrd="0" presId="urn:microsoft.com/office/officeart/2018/5/layout/IconCircleLabelList"/>
    <dgm:cxn modelId="{1D488C4B-0796-451E-9575-778A0730B105}" srcId="{1DFD04E2-5BD6-4773-8F11-2EEA9D0940B6}" destId="{F4673613-D699-4BBF-9624-772C265FB58F}" srcOrd="1" destOrd="0" parTransId="{2A97EBFB-302A-4E97-8013-5DC89B6611E6}" sibTransId="{7782B302-11D3-4DA4-8252-B59D8F769AF2}"/>
    <dgm:cxn modelId="{6BE2C48F-9ED1-41C9-894C-AF7E0169A20B}" type="presOf" srcId="{F4673613-D699-4BBF-9624-772C265FB58F}" destId="{BF4406E7-E315-4D0F-AB57-E894369D2F2C}" srcOrd="0" destOrd="0" presId="urn:microsoft.com/office/officeart/2018/5/layout/IconCircleLabelList"/>
    <dgm:cxn modelId="{17C40B96-F194-4B39-9B8C-12E3E2F12530}" type="presOf" srcId="{E1312437-F0F3-442F-A469-A53B8AD369B9}" destId="{F8C9DF83-9CDD-498C-948E-A84D07BF626A}" srcOrd="0" destOrd="0" presId="urn:microsoft.com/office/officeart/2018/5/layout/IconCircleLabelList"/>
    <dgm:cxn modelId="{23E16798-2E2D-489F-A2FA-2807038EC9F0}" srcId="{1DFD04E2-5BD6-4773-8F11-2EEA9D0940B6}" destId="{E60023AF-B0F4-4E1F-BFA0-02707B6E5A46}" srcOrd="0" destOrd="0" parTransId="{9CF2DBD2-40B4-42FD-9020-124965D1539C}" sibTransId="{D179D9A4-41B3-4510-9F46-1AD92C02B156}"/>
    <dgm:cxn modelId="{D083B9BD-6480-4618-B17C-0C3203864DC6}" type="presOf" srcId="{E60023AF-B0F4-4E1F-BFA0-02707B6E5A46}" destId="{5D05FDCB-DAC5-46FB-BA63-1C229D1F3375}" srcOrd="0" destOrd="0" presId="urn:microsoft.com/office/officeart/2018/5/layout/IconCircleLabelList"/>
    <dgm:cxn modelId="{D9E125E3-1690-4052-BF51-BD5B3F790E37}" srcId="{1DFD04E2-5BD6-4773-8F11-2EEA9D0940B6}" destId="{E1312437-F0F3-442F-A469-A53B8AD369B9}" srcOrd="2" destOrd="0" parTransId="{83927BB7-2A30-418D-A215-37C536BF413E}" sibTransId="{0C0949A8-480C-4C8A-BB19-AD95BE8C9C29}"/>
    <dgm:cxn modelId="{764F18E4-171D-4DDD-8824-4154B39F3C99}" srcId="{1DFD04E2-5BD6-4773-8F11-2EEA9D0940B6}" destId="{C36D31C3-E4AD-4E7D-92C1-20446C26995E}" srcOrd="3" destOrd="0" parTransId="{AFD21D5C-31FC-49C5-AE2B-14CE4DAF8D31}" sibTransId="{FB62BE83-DE27-4297-916D-E957A6045626}"/>
    <dgm:cxn modelId="{47A8DDE6-CEB3-406B-9020-86027ECDBB79}" type="presOf" srcId="{C36D31C3-E4AD-4E7D-92C1-20446C26995E}" destId="{4256F47B-3726-4B64-87FF-E153670B0E57}" srcOrd="0" destOrd="0" presId="urn:microsoft.com/office/officeart/2018/5/layout/IconCircleLabelList"/>
    <dgm:cxn modelId="{EA89AF3F-B6E2-4493-8017-A556E14E1BF0}" type="presParOf" srcId="{6B659B86-E04A-42E6-913B-7156CE2E9818}" destId="{AD31D7B4-566D-4E4D-B8F8-513AE726AA54}" srcOrd="0" destOrd="0" presId="urn:microsoft.com/office/officeart/2018/5/layout/IconCircleLabelList"/>
    <dgm:cxn modelId="{63C2AB6D-8775-4C5B-A7BB-38A60049DB85}" type="presParOf" srcId="{AD31D7B4-566D-4E4D-B8F8-513AE726AA54}" destId="{0C054B1A-03FD-44BF-A9E7-F0CC3779CB8B}" srcOrd="0" destOrd="0" presId="urn:microsoft.com/office/officeart/2018/5/layout/IconCircleLabelList"/>
    <dgm:cxn modelId="{37F4AE50-C32C-4977-9468-4DA7A848C674}" type="presParOf" srcId="{AD31D7B4-566D-4E4D-B8F8-513AE726AA54}" destId="{9EA19341-78E6-44EA-9FC5-AB3A6D567AD9}" srcOrd="1" destOrd="0" presId="urn:microsoft.com/office/officeart/2018/5/layout/IconCircleLabelList"/>
    <dgm:cxn modelId="{C0A356C8-8788-47A7-A47F-47DDCE8F42D3}" type="presParOf" srcId="{AD31D7B4-566D-4E4D-B8F8-513AE726AA54}" destId="{C960F616-3C59-4518-BB1B-0DCBF0AF3532}" srcOrd="2" destOrd="0" presId="urn:microsoft.com/office/officeart/2018/5/layout/IconCircleLabelList"/>
    <dgm:cxn modelId="{AD906774-41ED-4DC3-9DBC-21EC1EA82F76}" type="presParOf" srcId="{AD31D7B4-566D-4E4D-B8F8-513AE726AA54}" destId="{5D05FDCB-DAC5-46FB-BA63-1C229D1F3375}" srcOrd="3" destOrd="0" presId="urn:microsoft.com/office/officeart/2018/5/layout/IconCircleLabelList"/>
    <dgm:cxn modelId="{C15070CC-3941-4874-A7FB-5542FD759503}" type="presParOf" srcId="{6B659B86-E04A-42E6-913B-7156CE2E9818}" destId="{427D528B-5520-47BF-8DBF-9B251B7EB383}" srcOrd="1" destOrd="0" presId="urn:microsoft.com/office/officeart/2018/5/layout/IconCircleLabelList"/>
    <dgm:cxn modelId="{2494AF22-1467-41F8-9639-F7717E0109F3}" type="presParOf" srcId="{6B659B86-E04A-42E6-913B-7156CE2E9818}" destId="{CE99FB6A-E215-4733-B518-13968B3D0B74}" srcOrd="2" destOrd="0" presId="urn:microsoft.com/office/officeart/2018/5/layout/IconCircleLabelList"/>
    <dgm:cxn modelId="{89CD4CA4-1CFE-4880-98F7-3E6668AD6079}" type="presParOf" srcId="{CE99FB6A-E215-4733-B518-13968B3D0B74}" destId="{0B635923-262F-4EA9-9925-F62F23E3B94A}" srcOrd="0" destOrd="0" presId="urn:microsoft.com/office/officeart/2018/5/layout/IconCircleLabelList"/>
    <dgm:cxn modelId="{AE321DEC-9E7A-453F-A5A2-8BF86E45A32E}" type="presParOf" srcId="{CE99FB6A-E215-4733-B518-13968B3D0B74}" destId="{0ED7FC7E-CAA2-4D46-B247-37BAECAF270E}" srcOrd="1" destOrd="0" presId="urn:microsoft.com/office/officeart/2018/5/layout/IconCircleLabelList"/>
    <dgm:cxn modelId="{53D7CF37-DE54-447C-BCDD-865149FD268D}" type="presParOf" srcId="{CE99FB6A-E215-4733-B518-13968B3D0B74}" destId="{B3A2F3B2-0947-4870-B980-5A1D1774015F}" srcOrd="2" destOrd="0" presId="urn:microsoft.com/office/officeart/2018/5/layout/IconCircleLabelList"/>
    <dgm:cxn modelId="{92AAA11B-AD23-4090-B788-DC7364666105}" type="presParOf" srcId="{CE99FB6A-E215-4733-B518-13968B3D0B74}" destId="{BF4406E7-E315-4D0F-AB57-E894369D2F2C}" srcOrd="3" destOrd="0" presId="urn:microsoft.com/office/officeart/2018/5/layout/IconCircleLabelList"/>
    <dgm:cxn modelId="{9E4A1C1E-47DB-44B3-8909-7D3E12A5514D}" type="presParOf" srcId="{6B659B86-E04A-42E6-913B-7156CE2E9818}" destId="{9049C93D-E057-4C02-93DA-FA951E7C9171}" srcOrd="3" destOrd="0" presId="urn:microsoft.com/office/officeart/2018/5/layout/IconCircleLabelList"/>
    <dgm:cxn modelId="{54996BA4-14D5-46A1-BFA6-91930AB3F6B8}" type="presParOf" srcId="{6B659B86-E04A-42E6-913B-7156CE2E9818}" destId="{FC0EDA09-F56F-4AF3-B57B-542E0DD0DABA}" srcOrd="4" destOrd="0" presId="urn:microsoft.com/office/officeart/2018/5/layout/IconCircleLabelList"/>
    <dgm:cxn modelId="{79B38203-F53D-42AD-84A1-4C7E5F329138}" type="presParOf" srcId="{FC0EDA09-F56F-4AF3-B57B-542E0DD0DABA}" destId="{BA313EA6-D349-4476-AB75-77C100141DC4}" srcOrd="0" destOrd="0" presId="urn:microsoft.com/office/officeart/2018/5/layout/IconCircleLabelList"/>
    <dgm:cxn modelId="{A040E806-2D9F-41F2-B674-FF382464FE3D}" type="presParOf" srcId="{FC0EDA09-F56F-4AF3-B57B-542E0DD0DABA}" destId="{55021487-32BC-4D9B-98D4-AE05E8AE4B3B}" srcOrd="1" destOrd="0" presId="urn:microsoft.com/office/officeart/2018/5/layout/IconCircleLabelList"/>
    <dgm:cxn modelId="{FC5633C3-BE7C-407E-BCE6-3CEB89175873}" type="presParOf" srcId="{FC0EDA09-F56F-4AF3-B57B-542E0DD0DABA}" destId="{830DF52D-4CA0-4D0F-AF54-A88AFA27C1E2}" srcOrd="2" destOrd="0" presId="urn:microsoft.com/office/officeart/2018/5/layout/IconCircleLabelList"/>
    <dgm:cxn modelId="{ED22E9B4-7C87-46B5-A88E-0E93E9E6723B}" type="presParOf" srcId="{FC0EDA09-F56F-4AF3-B57B-542E0DD0DABA}" destId="{F8C9DF83-9CDD-498C-948E-A84D07BF626A}" srcOrd="3" destOrd="0" presId="urn:microsoft.com/office/officeart/2018/5/layout/IconCircleLabelList"/>
    <dgm:cxn modelId="{C802E1EA-FF3C-49BE-AD01-28520A523DE1}" type="presParOf" srcId="{6B659B86-E04A-42E6-913B-7156CE2E9818}" destId="{7726F795-C891-4E65-A63A-9596B89033D3}" srcOrd="5" destOrd="0" presId="urn:microsoft.com/office/officeart/2018/5/layout/IconCircleLabelList"/>
    <dgm:cxn modelId="{D0C532AB-6B38-4B25-910B-EE9258215CD9}" type="presParOf" srcId="{6B659B86-E04A-42E6-913B-7156CE2E9818}" destId="{26DB41AE-0055-4179-8148-25EA1D66C25F}" srcOrd="6" destOrd="0" presId="urn:microsoft.com/office/officeart/2018/5/layout/IconCircleLabelList"/>
    <dgm:cxn modelId="{94901586-520C-4B51-AA0D-23EF4D50C5F6}" type="presParOf" srcId="{26DB41AE-0055-4179-8148-25EA1D66C25F}" destId="{D118655C-A57E-40BE-9DFB-6452947AD47F}" srcOrd="0" destOrd="0" presId="urn:microsoft.com/office/officeart/2018/5/layout/IconCircleLabelList"/>
    <dgm:cxn modelId="{D890F489-2BEF-452F-AF4B-467CCE00CB7A}" type="presParOf" srcId="{26DB41AE-0055-4179-8148-25EA1D66C25F}" destId="{9B93B066-0BA8-4A4F-B5EA-51FAFB00CFD3}" srcOrd="1" destOrd="0" presId="urn:microsoft.com/office/officeart/2018/5/layout/IconCircleLabelList"/>
    <dgm:cxn modelId="{76EA4ACE-0F13-4744-8230-F2BF3D388824}" type="presParOf" srcId="{26DB41AE-0055-4179-8148-25EA1D66C25F}" destId="{F3DC4D63-01EE-4D56-832F-180BF0FB54F1}" srcOrd="2" destOrd="0" presId="urn:microsoft.com/office/officeart/2018/5/layout/IconCircleLabelList"/>
    <dgm:cxn modelId="{1A9DDDF8-20C6-4E58-AD9F-B5C60297900E}" type="presParOf" srcId="{26DB41AE-0055-4179-8148-25EA1D66C25F}" destId="{4256F47B-3726-4B64-87FF-E153670B0E57}"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09766-8919-4212-9F50-C5ED25F74B9F}">
      <dsp:nvSpPr>
        <dsp:cNvPr id="0" name=""/>
        <dsp:cNvSpPr/>
      </dsp:nvSpPr>
      <dsp:spPr>
        <a:xfrm>
          <a:off x="829357" y="372826"/>
          <a:ext cx="1090223" cy="10902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D54C8-405A-4CA9-B944-0F5BF8B07109}">
      <dsp:nvSpPr>
        <dsp:cNvPr id="0" name=""/>
        <dsp:cNvSpPr/>
      </dsp:nvSpPr>
      <dsp:spPr>
        <a:xfrm>
          <a:off x="163109" y="1806350"/>
          <a:ext cx="2422717"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AU" sz="1800" kern="1200" dirty="0"/>
            <a:t>Ethics is complex, multifaceted and deeply grounded in philosophy.</a:t>
          </a:r>
          <a:endParaRPr lang="en-US" sz="1800" kern="1200" dirty="0"/>
        </a:p>
      </dsp:txBody>
      <dsp:txXfrm>
        <a:off x="163109" y="1806350"/>
        <a:ext cx="2422717" cy="855000"/>
      </dsp:txXfrm>
    </dsp:sp>
    <dsp:sp modelId="{C1C37FC3-CCD2-4267-8397-447FB3D91E43}">
      <dsp:nvSpPr>
        <dsp:cNvPr id="0" name=""/>
        <dsp:cNvSpPr/>
      </dsp:nvSpPr>
      <dsp:spPr>
        <a:xfrm>
          <a:off x="3676050" y="372826"/>
          <a:ext cx="1090223" cy="10902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57BEEC-1150-423A-A1CA-C5D7C1ACE676}">
      <dsp:nvSpPr>
        <dsp:cNvPr id="0" name=""/>
        <dsp:cNvSpPr/>
      </dsp:nvSpPr>
      <dsp:spPr>
        <a:xfrm>
          <a:off x="3009803" y="1806350"/>
          <a:ext cx="2422717"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AU" sz="1800" kern="1200" dirty="0"/>
            <a:t>It involves ethical decision making and moral responsibility</a:t>
          </a:r>
          <a:endParaRPr lang="en-US" sz="1800" kern="1200" dirty="0"/>
        </a:p>
      </dsp:txBody>
      <dsp:txXfrm>
        <a:off x="3009803" y="1806350"/>
        <a:ext cx="2422717" cy="855000"/>
      </dsp:txXfrm>
    </dsp:sp>
    <dsp:sp modelId="{4D77C2CF-FCB6-466E-BCDD-0BED238BD3C8}">
      <dsp:nvSpPr>
        <dsp:cNvPr id="0" name=""/>
        <dsp:cNvSpPr/>
      </dsp:nvSpPr>
      <dsp:spPr>
        <a:xfrm>
          <a:off x="6522744" y="372826"/>
          <a:ext cx="1090223" cy="10902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82639D-D496-4AD5-9762-014E1F80E714}">
      <dsp:nvSpPr>
        <dsp:cNvPr id="0" name=""/>
        <dsp:cNvSpPr/>
      </dsp:nvSpPr>
      <dsp:spPr>
        <a:xfrm>
          <a:off x="5856497" y="1806350"/>
          <a:ext cx="2422717"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AU" sz="1800" kern="1200" dirty="0"/>
            <a:t>Our intention is to make these aspects concrete, practical and relevant</a:t>
          </a:r>
          <a:endParaRPr lang="en-US" sz="1800" kern="1200" dirty="0"/>
        </a:p>
      </dsp:txBody>
      <dsp:txXfrm>
        <a:off x="5856497" y="1806350"/>
        <a:ext cx="2422717" cy="85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978EB-FBC6-448A-948A-42BA01466662}">
      <dsp:nvSpPr>
        <dsp:cNvPr id="0" name=""/>
        <dsp:cNvSpPr/>
      </dsp:nvSpPr>
      <dsp:spPr>
        <a:xfrm>
          <a:off x="1577340" y="1890"/>
          <a:ext cx="6309360" cy="8296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understand ethics and professionalism</a:t>
          </a:r>
        </a:p>
      </dsp:txBody>
      <dsp:txXfrm>
        <a:off x="1577340" y="1890"/>
        <a:ext cx="6309360" cy="829686"/>
      </dsp:txXfrm>
    </dsp:sp>
    <dsp:sp modelId="{DE983A48-FB77-42CA-A1B5-93EDB8435AF6}">
      <dsp:nvSpPr>
        <dsp:cNvPr id="0" name=""/>
        <dsp:cNvSpPr/>
      </dsp:nvSpPr>
      <dsp:spPr>
        <a:xfrm>
          <a:off x="0" y="1890"/>
          <a:ext cx="1577340" cy="8296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Understand</a:t>
          </a:r>
        </a:p>
      </dsp:txBody>
      <dsp:txXfrm>
        <a:off x="0" y="1890"/>
        <a:ext cx="1577340" cy="829686"/>
      </dsp:txXfrm>
    </dsp:sp>
    <dsp:sp modelId="{83DB96BC-A72C-4673-AC16-735CEB862B35}">
      <dsp:nvSpPr>
        <dsp:cNvPr id="0" name=""/>
        <dsp:cNvSpPr/>
      </dsp:nvSpPr>
      <dsp:spPr>
        <a:xfrm>
          <a:off x="1577340" y="881358"/>
          <a:ext cx="6309360" cy="8296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apply ethical thinking to your professional tasks</a:t>
          </a:r>
        </a:p>
      </dsp:txBody>
      <dsp:txXfrm>
        <a:off x="1577340" y="881358"/>
        <a:ext cx="6309360" cy="829686"/>
      </dsp:txXfrm>
    </dsp:sp>
    <dsp:sp modelId="{A5A39054-7F00-40D9-B87E-CCA49E7DD879}">
      <dsp:nvSpPr>
        <dsp:cNvPr id="0" name=""/>
        <dsp:cNvSpPr/>
      </dsp:nvSpPr>
      <dsp:spPr>
        <a:xfrm>
          <a:off x="0" y="881358"/>
          <a:ext cx="1577340" cy="8296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Apply</a:t>
          </a:r>
        </a:p>
      </dsp:txBody>
      <dsp:txXfrm>
        <a:off x="0" y="881358"/>
        <a:ext cx="1577340" cy="829686"/>
      </dsp:txXfrm>
    </dsp:sp>
    <dsp:sp modelId="{009BA6E3-E6F5-4928-A9F1-F0290251D1BD}">
      <dsp:nvSpPr>
        <dsp:cNvPr id="0" name=""/>
        <dsp:cNvSpPr/>
      </dsp:nvSpPr>
      <dsp:spPr>
        <a:xfrm>
          <a:off x="1577340" y="1760825"/>
          <a:ext cx="6309360" cy="8296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identify the ethical dimensions of your work</a:t>
          </a:r>
        </a:p>
      </dsp:txBody>
      <dsp:txXfrm>
        <a:off x="1577340" y="1760825"/>
        <a:ext cx="6309360" cy="829686"/>
      </dsp:txXfrm>
    </dsp:sp>
    <dsp:sp modelId="{7C3F57A8-6A8E-4EBA-85EF-3513B791FB51}">
      <dsp:nvSpPr>
        <dsp:cNvPr id="0" name=""/>
        <dsp:cNvSpPr/>
      </dsp:nvSpPr>
      <dsp:spPr>
        <a:xfrm>
          <a:off x="0" y="1760825"/>
          <a:ext cx="1577340" cy="8296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Identify</a:t>
          </a:r>
        </a:p>
      </dsp:txBody>
      <dsp:txXfrm>
        <a:off x="0" y="1760825"/>
        <a:ext cx="1577340" cy="829686"/>
      </dsp:txXfrm>
    </dsp:sp>
    <dsp:sp modelId="{D97DF0BB-D446-4F7A-A659-BCA04DF31A0A}">
      <dsp:nvSpPr>
        <dsp:cNvPr id="0" name=""/>
        <dsp:cNvSpPr/>
      </dsp:nvSpPr>
      <dsp:spPr>
        <a:xfrm>
          <a:off x="1577340" y="2640293"/>
          <a:ext cx="6309360" cy="8296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think deeply about becoming an ethical, reflexive professional</a:t>
          </a:r>
        </a:p>
      </dsp:txBody>
      <dsp:txXfrm>
        <a:off x="1577340" y="2640293"/>
        <a:ext cx="6309360" cy="829686"/>
      </dsp:txXfrm>
    </dsp:sp>
    <dsp:sp modelId="{A06A5D03-D001-425D-8719-C47EDBFAE669}">
      <dsp:nvSpPr>
        <dsp:cNvPr id="0" name=""/>
        <dsp:cNvSpPr/>
      </dsp:nvSpPr>
      <dsp:spPr>
        <a:xfrm>
          <a:off x="0" y="2640293"/>
          <a:ext cx="1577340" cy="8296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Think</a:t>
          </a:r>
        </a:p>
      </dsp:txBody>
      <dsp:txXfrm>
        <a:off x="0" y="2640293"/>
        <a:ext cx="1577340" cy="829686"/>
      </dsp:txXfrm>
    </dsp:sp>
    <dsp:sp modelId="{AD0AE1A5-0C8E-46DB-86A8-5336398B4109}">
      <dsp:nvSpPr>
        <dsp:cNvPr id="0" name=""/>
        <dsp:cNvSpPr/>
      </dsp:nvSpPr>
      <dsp:spPr>
        <a:xfrm>
          <a:off x="1577340" y="3519760"/>
          <a:ext cx="6309360" cy="8296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find out more about ethical guidelines, ethical codes, processes and heuristics to use in your professional lives </a:t>
          </a:r>
        </a:p>
      </dsp:txBody>
      <dsp:txXfrm>
        <a:off x="1577340" y="3519760"/>
        <a:ext cx="6309360" cy="829686"/>
      </dsp:txXfrm>
    </dsp:sp>
    <dsp:sp modelId="{EB5B08BD-C472-4DA0-AE3A-6C04D33A52BF}">
      <dsp:nvSpPr>
        <dsp:cNvPr id="0" name=""/>
        <dsp:cNvSpPr/>
      </dsp:nvSpPr>
      <dsp:spPr>
        <a:xfrm>
          <a:off x="0" y="3519760"/>
          <a:ext cx="1577340" cy="8296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Find out</a:t>
          </a:r>
        </a:p>
      </dsp:txBody>
      <dsp:txXfrm>
        <a:off x="0" y="3519760"/>
        <a:ext cx="1577340" cy="8296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54B1A-03FD-44BF-A9E7-F0CC3779CB8B}">
      <dsp:nvSpPr>
        <dsp:cNvPr id="0" name=""/>
        <dsp:cNvSpPr/>
      </dsp:nvSpPr>
      <dsp:spPr>
        <a:xfrm>
          <a:off x="441476" y="760938"/>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A19341-78E6-44EA-9FC5-AB3A6D567AD9}">
      <dsp:nvSpPr>
        <dsp:cNvPr id="0" name=""/>
        <dsp:cNvSpPr/>
      </dsp:nvSpPr>
      <dsp:spPr>
        <a:xfrm>
          <a:off x="675476" y="994938"/>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05FDCB-DAC5-46FB-BA63-1C229D1F3375}">
      <dsp:nvSpPr>
        <dsp:cNvPr id="0" name=""/>
        <dsp:cNvSpPr/>
      </dsp:nvSpPr>
      <dsp:spPr>
        <a:xfrm>
          <a:off x="90476" y="2200938"/>
          <a:ext cx="1800000" cy="1568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AU" sz="1400" kern="1200" dirty="0"/>
            <a:t>Understand the connection between professionalism and moral responsibility</a:t>
          </a:r>
          <a:r>
            <a:rPr lang="en-AU" sz="1100" kern="1200" dirty="0"/>
            <a:t>.</a:t>
          </a:r>
          <a:endParaRPr lang="en-US" sz="1100" kern="1200" dirty="0"/>
        </a:p>
      </dsp:txBody>
      <dsp:txXfrm>
        <a:off x="90476" y="2200938"/>
        <a:ext cx="1800000" cy="1568847"/>
      </dsp:txXfrm>
    </dsp:sp>
    <dsp:sp modelId="{0B635923-262F-4EA9-9925-F62F23E3B94A}">
      <dsp:nvSpPr>
        <dsp:cNvPr id="0" name=""/>
        <dsp:cNvSpPr/>
      </dsp:nvSpPr>
      <dsp:spPr>
        <a:xfrm>
          <a:off x="2556476" y="760938"/>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D7FC7E-CAA2-4D46-B247-37BAECAF270E}">
      <dsp:nvSpPr>
        <dsp:cNvPr id="0" name=""/>
        <dsp:cNvSpPr/>
      </dsp:nvSpPr>
      <dsp:spPr>
        <a:xfrm>
          <a:off x="2790476" y="994938"/>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4406E7-E315-4D0F-AB57-E894369D2F2C}">
      <dsp:nvSpPr>
        <dsp:cNvPr id="0" name=""/>
        <dsp:cNvSpPr/>
      </dsp:nvSpPr>
      <dsp:spPr>
        <a:xfrm>
          <a:off x="2205476" y="2200938"/>
          <a:ext cx="1800000" cy="1568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AU" sz="1400" kern="1200" dirty="0"/>
            <a:t>Differentiate between various ethical frameworks and identify which is best suited to you.</a:t>
          </a:r>
          <a:endParaRPr lang="en-US" sz="1400" kern="1200" dirty="0"/>
        </a:p>
      </dsp:txBody>
      <dsp:txXfrm>
        <a:off x="2205476" y="2200938"/>
        <a:ext cx="1800000" cy="1568847"/>
      </dsp:txXfrm>
    </dsp:sp>
    <dsp:sp modelId="{BA313EA6-D349-4476-AB75-77C100141DC4}">
      <dsp:nvSpPr>
        <dsp:cNvPr id="0" name=""/>
        <dsp:cNvSpPr/>
      </dsp:nvSpPr>
      <dsp:spPr>
        <a:xfrm>
          <a:off x="4792976" y="760938"/>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021487-32BC-4D9B-98D4-AE05E8AE4B3B}">
      <dsp:nvSpPr>
        <dsp:cNvPr id="0" name=""/>
        <dsp:cNvSpPr/>
      </dsp:nvSpPr>
      <dsp:spPr>
        <a:xfrm>
          <a:off x="5026976" y="994938"/>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C9DF83-9CDD-498C-948E-A84D07BF626A}">
      <dsp:nvSpPr>
        <dsp:cNvPr id="0" name=""/>
        <dsp:cNvSpPr/>
      </dsp:nvSpPr>
      <dsp:spPr>
        <a:xfrm>
          <a:off x="4320476" y="2200938"/>
          <a:ext cx="2043000" cy="1568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AU" sz="1400" kern="1200" dirty="0"/>
            <a:t>Identify different decision-making frameworks and ethical design approaches that are applicable to, and may be utilised in, your specific field.</a:t>
          </a:r>
          <a:endParaRPr lang="en-US" sz="1400" kern="1200" dirty="0"/>
        </a:p>
      </dsp:txBody>
      <dsp:txXfrm>
        <a:off x="4320476" y="2200938"/>
        <a:ext cx="2043000" cy="1568847"/>
      </dsp:txXfrm>
    </dsp:sp>
    <dsp:sp modelId="{D118655C-A57E-40BE-9DFB-6452947AD47F}">
      <dsp:nvSpPr>
        <dsp:cNvPr id="0" name=""/>
        <dsp:cNvSpPr/>
      </dsp:nvSpPr>
      <dsp:spPr>
        <a:xfrm>
          <a:off x="7029476" y="760938"/>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93B066-0BA8-4A4F-B5EA-51FAFB00CFD3}">
      <dsp:nvSpPr>
        <dsp:cNvPr id="0" name=""/>
        <dsp:cNvSpPr/>
      </dsp:nvSpPr>
      <dsp:spPr>
        <a:xfrm>
          <a:off x="7263476" y="994938"/>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56F47B-3726-4B64-87FF-E153670B0E57}">
      <dsp:nvSpPr>
        <dsp:cNvPr id="0" name=""/>
        <dsp:cNvSpPr/>
      </dsp:nvSpPr>
      <dsp:spPr>
        <a:xfrm>
          <a:off x="6678476" y="2200938"/>
          <a:ext cx="1800000" cy="1568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AU" sz="1400" kern="1200"/>
            <a:t>Understand how a professional code of ethics represents various ethical frameworks and codifies your moral obligation as a professional. </a:t>
          </a:r>
          <a:endParaRPr lang="en-US" sz="1400" kern="1200"/>
        </a:p>
      </dsp:txBody>
      <dsp:txXfrm>
        <a:off x="6678476" y="2200938"/>
        <a:ext cx="1800000" cy="156884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1"/>
          <p:cNvSpPr>
            <a:spLocks noGrp="1" noRot="1" noChangeAspect="1" noChangeArrowheads="1"/>
          </p:cNvSpPr>
          <p:nvPr>
            <p:ph type="sldImg"/>
          </p:nvPr>
        </p:nvSpPr>
        <p:spPr bwMode="auto">
          <a:xfrm>
            <a:off x="0" y="757238"/>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5122" name="Rectangle 2"/>
          <p:cNvSpPr>
            <a:spLocks noGrp="1" noChangeArrowheads="1"/>
          </p:cNvSpPr>
          <p:nvPr>
            <p:ph type="body"/>
          </p:nvPr>
        </p:nvSpPr>
        <p:spPr bwMode="auto">
          <a:xfrm>
            <a:off x="685479" y="4724760"/>
            <a:ext cx="5485440" cy="44734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noProof="0"/>
          </a:p>
        </p:txBody>
      </p:sp>
    </p:spTree>
    <p:extLst>
      <p:ext uri="{BB962C8B-B14F-4D97-AF65-F5344CB8AC3E}">
        <p14:creationId xmlns:p14="http://schemas.microsoft.com/office/powerpoint/2010/main" val="3797238036"/>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1"/>
          <p:cNvSpPr>
            <a:spLocks noGrp="1" noRot="1" noChangeAspect="1" noChangeArrowheads="1" noTextEdit="1"/>
          </p:cNvSpPr>
          <p:nvPr>
            <p:ph type="sldImg"/>
          </p:nvPr>
        </p:nvSpPr>
        <p:spPr>
          <a:xfrm>
            <a:off x="1709738" y="355600"/>
            <a:ext cx="3001962" cy="22510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1" name="Rectangle 2"/>
          <p:cNvSpPr>
            <a:spLocks noGrp="1" noChangeArrowheads="1"/>
          </p:cNvSpPr>
          <p:nvPr>
            <p:ph type="body" idx="1"/>
          </p:nvPr>
        </p:nvSpPr>
        <p:spPr>
          <a:xfrm>
            <a:off x="685480" y="2663740"/>
            <a:ext cx="5794546" cy="6997286"/>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Welcome to the final lecture, and well done on making it to the end.</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Important that beyond listening to the lectures that you do the exercises I provide and to do the readings. Even if you do not plan to write the ethics essay, as I have mentioned, professional practice ethics is not simply an academic exercise. </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Hopefully, you remember from the earlier lectures that our primary focus is applied ethics. We have done some of the normative work, looking at ethics frameworks and the conceptual tools, and then used them to consider real-world situations. And hopefully this will guide you as professional engineers. </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We have looked at the critical concept of duty of care and discussed how our code of ethics is an attempt to codify our moral obligations, helping reconcile the competing interests of doing your job to the best technical standards whilst fulfilling your moral obligation to the community. </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Importantly we have discussed that we must treat all persons as if they have inherent value, and we must not act purely from self or sectional interests. </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And hopefully at the end of this lecture there will be time to ask some questions about the course content, and also the essay. And we may be able to look more closely at some of the activities I have set. </a:t>
            </a:r>
          </a:p>
          <a:p>
            <a:pPr>
              <a:buFont typeface="Times New Roman" pitchFamily="16" charset="0"/>
              <a:buNone/>
              <a:defRPr/>
            </a:pPr>
            <a:endParaRPr lang="en-AU" altLang="en-US" sz="1100" dirty="0"/>
          </a:p>
        </p:txBody>
      </p:sp>
    </p:spTree>
    <p:extLst>
      <p:ext uri="{BB962C8B-B14F-4D97-AF65-F5344CB8AC3E}">
        <p14:creationId xmlns:p14="http://schemas.microsoft.com/office/powerpoint/2010/main" val="373424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1" baseline="0" dirty="0">
              <a:latin typeface="Times New Roman" pitchFamily="18" charset="0"/>
            </a:endParaRPr>
          </a:p>
          <a:p>
            <a:pPr marL="0" lvl="2" indent="0">
              <a:buFont typeface="Arial" charset="0"/>
              <a:buNone/>
              <a:defRPr/>
            </a:pPr>
            <a:endParaRPr lang="en-US" altLang="en-US" sz="1400" b="1" baseline="0" dirty="0">
              <a:latin typeface="Times New Roman" pitchFamily="18" charset="0"/>
            </a:endParaRPr>
          </a:p>
          <a:p>
            <a:pPr marL="0" lvl="2" indent="0">
              <a:buFont typeface="Arial" charset="0"/>
              <a:buNone/>
              <a:defRPr/>
            </a:pPr>
            <a:endParaRPr lang="en-US" altLang="en-US" sz="1400" b="1" baseline="0" dirty="0">
              <a:latin typeface="Times New Roman" pitchFamily="18" charset="0"/>
            </a:endParaRPr>
          </a:p>
          <a:p>
            <a:pPr marL="0" lvl="2" indent="0">
              <a:buFont typeface="Arial" charset="0"/>
              <a:buNone/>
              <a:defRPr/>
            </a:pPr>
            <a:endParaRPr lang="en-US" altLang="en-US" sz="1400" b="1" baseline="0" dirty="0">
              <a:latin typeface="Times New Roman" pitchFamily="18" charset="0"/>
            </a:endParaRPr>
          </a:p>
        </p:txBody>
      </p:sp>
    </p:spTree>
    <p:extLst>
      <p:ext uri="{BB962C8B-B14F-4D97-AF65-F5344CB8AC3E}">
        <p14:creationId xmlns:p14="http://schemas.microsoft.com/office/powerpoint/2010/main" val="488803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aseline="0" dirty="0">
              <a:latin typeface="Times New Roman" pitchFamily="18" charset="0"/>
            </a:endParaRPr>
          </a:p>
        </p:txBody>
      </p:sp>
    </p:spTree>
    <p:extLst>
      <p:ext uri="{BB962C8B-B14F-4D97-AF65-F5344CB8AC3E}">
        <p14:creationId xmlns:p14="http://schemas.microsoft.com/office/powerpoint/2010/main" val="2289905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0" dirty="0">
              <a:latin typeface="Times New Roman" pitchFamily="18" charset="0"/>
            </a:endParaRPr>
          </a:p>
        </p:txBody>
      </p:sp>
    </p:spTree>
    <p:extLst>
      <p:ext uri="{BB962C8B-B14F-4D97-AF65-F5344CB8AC3E}">
        <p14:creationId xmlns:p14="http://schemas.microsoft.com/office/powerpoint/2010/main" val="3108097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dirty="0">
              <a:latin typeface="Times New Roman" pitchFamily="18" charset="0"/>
            </a:endParaRPr>
          </a:p>
        </p:txBody>
      </p:sp>
    </p:spTree>
    <p:extLst>
      <p:ext uri="{BB962C8B-B14F-4D97-AF65-F5344CB8AC3E}">
        <p14:creationId xmlns:p14="http://schemas.microsoft.com/office/powerpoint/2010/main" val="2194244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0" dirty="0">
              <a:latin typeface="Times New Roman" pitchFamily="18" charset="0"/>
            </a:endParaRPr>
          </a:p>
        </p:txBody>
      </p:sp>
    </p:spTree>
    <p:extLst>
      <p:ext uri="{BB962C8B-B14F-4D97-AF65-F5344CB8AC3E}">
        <p14:creationId xmlns:p14="http://schemas.microsoft.com/office/powerpoint/2010/main" val="99525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1" baseline="0" dirty="0">
              <a:latin typeface="Times New Roman" pitchFamily="18" charset="0"/>
            </a:endParaRPr>
          </a:p>
        </p:txBody>
      </p:sp>
    </p:spTree>
    <p:extLst>
      <p:ext uri="{BB962C8B-B14F-4D97-AF65-F5344CB8AC3E}">
        <p14:creationId xmlns:p14="http://schemas.microsoft.com/office/powerpoint/2010/main" val="527343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64B63FA-C0AC-5140-B2A8-494E62676424}"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charset="0"/>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AU" sz="1200" b="0" i="0" u="none" strike="noStrike" kern="1200" cap="none" spc="0" normalizeH="0" baseline="0" noProof="0">
              <a:ln>
                <a:noFill/>
              </a:ln>
              <a:solidFill>
                <a:srgbClr val="000000"/>
              </a:solidFill>
              <a:effectLst/>
              <a:uLnTx/>
              <a:uFillTx/>
              <a:latin typeface="Arial" charset="0"/>
              <a:ea typeface="ＭＳ Ｐゴシック" charset="0"/>
              <a:cs typeface="Arial" charset="0"/>
            </a:endParaRPr>
          </a:p>
        </p:txBody>
      </p:sp>
    </p:spTree>
    <p:extLst>
      <p:ext uri="{BB962C8B-B14F-4D97-AF65-F5344CB8AC3E}">
        <p14:creationId xmlns:p14="http://schemas.microsoft.com/office/powerpoint/2010/main" val="4115681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p:cNvSpPr>
            <a:spLocks noGrp="1" noRot="1" noChangeAspect="1" noChangeArrowheads="1" noTextEdit="1"/>
          </p:cNvSpPr>
          <p:nvPr>
            <p:ph type="sldImg"/>
          </p:nvPr>
        </p:nvSpPr>
        <p:spPr>
          <a:xfrm>
            <a:off x="2282825" y="265113"/>
            <a:ext cx="2444750" cy="1833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1" name="Rectangle 2"/>
          <p:cNvSpPr>
            <a:spLocks noGrp="1" noChangeArrowheads="1"/>
          </p:cNvSpPr>
          <p:nvPr>
            <p:ph type="body" idx="1"/>
          </p:nvPr>
        </p:nvSpPr>
        <p:spPr>
          <a:xfrm>
            <a:off x="0" y="2288231"/>
            <a:ext cx="7010400" cy="6876645"/>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panose="020B0604020202020204" pitchFamily="34" charset="0"/>
              <a:buNone/>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653409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
          <p:cNvSpPr>
            <a:spLocks noGrp="1" noRot="1" noChangeAspect="1" noChangeArrowheads="1" noTextEdit="1"/>
          </p:cNvSpPr>
          <p:nvPr>
            <p:ph type="sldImg"/>
          </p:nvPr>
        </p:nvSpPr>
        <p:spPr>
          <a:xfrm>
            <a:off x="2282825" y="265113"/>
            <a:ext cx="2444750" cy="1833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9" name="Rectangle 2"/>
          <p:cNvSpPr>
            <a:spLocks noGrp="1" noChangeArrowheads="1"/>
          </p:cNvSpPr>
          <p:nvPr>
            <p:ph type="body" idx="1"/>
          </p:nvPr>
        </p:nvSpPr>
        <p:spPr>
          <a:xfrm>
            <a:off x="0" y="2288231"/>
            <a:ext cx="7010400" cy="6876645"/>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panose="020B0604020202020204" pitchFamily="34" charset="0"/>
              <a:buNone/>
            </a:pPr>
            <a:r>
              <a:rPr lang="en-US" altLang="en-US" dirty="0">
                <a:latin typeface="Times New Roman" panose="02020603050405020304" pitchFamily="18" charset="0"/>
              </a:rPr>
              <a:t>Moral and non-moral factors: </a:t>
            </a:r>
          </a:p>
          <a:p>
            <a:pPr marL="0" lvl="2" indent="0">
              <a:buFont typeface="Arial" panose="020B0604020202020204" pitchFamily="34" charset="0"/>
              <a:buNone/>
            </a:pPr>
            <a:r>
              <a:rPr lang="en-US" altLang="en-US" dirty="0">
                <a:latin typeface="Times New Roman" panose="02020603050405020304" pitchFamily="18" charset="0"/>
              </a:rPr>
              <a:t>Moral Factors are factors that make the right kind of "ought claims" (for example, in the lectures I discussed how legal ought claims differed to ethical ought claims, and both differed to prudential (self-interest) ought claims. Moral considerations have a universal nature, that is, they extend beyond sectional interests and our own values and promote the importance of the wellbeing of others. Moral factors in the Ford case may include decisions about safety and vehicle owners/occupants were informed about the changes to car (both should have been informed by the universal claim of ethics, but ultimately they were diminished by sectional interests). Non-moral factors include those that had commercial/sectional/personal interest at the core (e.g. design decisions made based on cost/time). Cost and time in this instance were non-moral factors that should not have determined the final outcome.</a:t>
            </a: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r>
              <a:rPr lang="en-US" altLang="en-US" dirty="0">
                <a:latin typeface="Times New Roman" panose="02020603050405020304" pitchFamily="18" charset="0"/>
              </a:rPr>
              <a:t>Simply meeting design standards is not an adequate defense if you are aware of foreseeable risk. As discussed in the lectures. Meeting the technical requirements of a design brief is not the same as fulfilling your duty of care.</a:t>
            </a: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r>
              <a:rPr lang="en-US" altLang="en-US" dirty="0">
                <a:latin typeface="Times New Roman" panose="02020603050405020304" pitchFamily="18" charset="0"/>
              </a:rPr>
              <a:t>The occupants of the vehicles did not have enough information to make an informed decision about the safety of their transport. How do you think the drivers and passengers (and public) would have responded if they were given all the appropriate information?</a:t>
            </a: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r>
              <a:rPr lang="en-US" altLang="en-US" dirty="0">
                <a:latin typeface="Times New Roman" panose="02020603050405020304" pitchFamily="18" charset="0"/>
              </a:rPr>
              <a:t>The case studies we looked at in the lectures all raised issues about our ethical responsibilities and spotlighted the consequences that may arise when we mistakenly believe our professional duty absolves us of our ethical responsibilities. Or when we advance prudential reasons ahead of our moral obligations. In the Pinto case we see the cost of </a:t>
            </a:r>
            <a:r>
              <a:rPr lang="en-US" altLang="en-US" dirty="0" err="1">
                <a:latin typeface="Times New Roman" panose="02020603050405020304" pitchFamily="18" charset="0"/>
              </a:rPr>
              <a:t>prioritising</a:t>
            </a:r>
            <a:r>
              <a:rPr lang="en-US" altLang="en-US" dirty="0">
                <a:latin typeface="Times New Roman" panose="02020603050405020304" pitchFamily="18" charset="0"/>
              </a:rPr>
              <a:t> design goals (or means) ahead of ethical considerations.</a:t>
            </a:r>
          </a:p>
          <a:p>
            <a:pPr marL="0" lvl="2" indent="0">
              <a:buFont typeface="Arial" panose="020B0604020202020204" pitchFamily="34" charset="0"/>
              <a:buNone/>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07506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B39B77-74FA-F810-B92C-09325DB2B809}"/>
            </a:ext>
          </a:extLst>
        </p:cNvPr>
        <p:cNvGrpSpPr/>
        <p:nvPr/>
      </p:nvGrpSpPr>
      <p:grpSpPr>
        <a:xfrm>
          <a:off x="0" y="0"/>
          <a:ext cx="0" cy="0"/>
          <a:chOff x="0" y="0"/>
          <a:chExt cx="0" cy="0"/>
        </a:xfrm>
      </p:grpSpPr>
      <p:sp>
        <p:nvSpPr>
          <p:cNvPr id="29698" name="Rectangle 1">
            <a:extLst>
              <a:ext uri="{FF2B5EF4-FFF2-40B4-BE49-F238E27FC236}">
                <a16:creationId xmlns:a16="http://schemas.microsoft.com/office/drawing/2014/main" id="{2981F476-CE37-9912-FB4A-C6E28820453A}"/>
              </a:ext>
            </a:extLst>
          </p:cNvPr>
          <p:cNvSpPr>
            <a:spLocks noGrp="1" noRot="1" noChangeAspect="1" noChangeArrowheads="1" noTextEdit="1"/>
          </p:cNvSpPr>
          <p:nvPr>
            <p:ph type="sldImg"/>
          </p:nvPr>
        </p:nvSpPr>
        <p:spPr>
          <a:xfrm>
            <a:off x="2282825" y="265113"/>
            <a:ext cx="2444750" cy="1833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9" name="Rectangle 2">
            <a:extLst>
              <a:ext uri="{FF2B5EF4-FFF2-40B4-BE49-F238E27FC236}">
                <a16:creationId xmlns:a16="http://schemas.microsoft.com/office/drawing/2014/main" id="{4DDBA8A1-C9DE-7A0F-F6B5-74C18C6025F3}"/>
              </a:ext>
            </a:extLst>
          </p:cNvPr>
          <p:cNvSpPr>
            <a:spLocks noGrp="1" noChangeArrowheads="1"/>
          </p:cNvSpPr>
          <p:nvPr>
            <p:ph type="body" idx="1"/>
          </p:nvPr>
        </p:nvSpPr>
        <p:spPr>
          <a:xfrm>
            <a:off x="0" y="2288231"/>
            <a:ext cx="7010400" cy="6876645"/>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panose="020B0604020202020204" pitchFamily="34" charset="0"/>
              <a:buNone/>
            </a:pPr>
            <a:r>
              <a:rPr lang="en-US" altLang="en-US" b="1" dirty="0">
                <a:latin typeface="Times New Roman" panose="02020603050405020304" pitchFamily="18" charset="0"/>
              </a:rPr>
              <a:t>Moral and non-moral factors</a:t>
            </a:r>
            <a:r>
              <a:rPr lang="en-US" altLang="en-US" dirty="0">
                <a:latin typeface="Times New Roman" panose="02020603050405020304" pitchFamily="18" charset="0"/>
              </a:rPr>
              <a:t>: </a:t>
            </a:r>
          </a:p>
          <a:p>
            <a:pPr marL="0" lvl="2" indent="0">
              <a:buFont typeface="Arial" panose="020B0604020202020204" pitchFamily="34" charset="0"/>
              <a:buNone/>
            </a:pPr>
            <a:r>
              <a:rPr lang="en-US" altLang="en-US" b="1" dirty="0">
                <a:latin typeface="Times New Roman" panose="02020603050405020304" pitchFamily="18" charset="0"/>
              </a:rPr>
              <a:t>Moral Factors</a:t>
            </a:r>
            <a:r>
              <a:rPr lang="en-US" altLang="en-US" dirty="0">
                <a:latin typeface="Times New Roman" panose="02020603050405020304" pitchFamily="18" charset="0"/>
              </a:rPr>
              <a:t> are factors that make the right kind of "ought claims" (for example, in the lectures I discussed how legal ought claims differed to ethical ought claims, and both differed to prudential (self-interest) ought claims. Moral considerations have a universal nature, that is, they extend beyond sectional interests and our own values and promote the importance of the wellbeing of others. Moral factors in the Ford case may include decisions about safety and vehicle owners/occupants were informed about the changes to car (both should have been informed by the universal claim of ethics, but ultimately they were diminished by sectional interests). </a:t>
            </a:r>
            <a:r>
              <a:rPr lang="en-US" altLang="en-US" b="1" dirty="0">
                <a:solidFill>
                  <a:schemeClr val="tx1"/>
                </a:solidFill>
                <a:latin typeface="Times New Roman" panose="02020603050405020304" pitchFamily="18" charset="0"/>
              </a:rPr>
              <a:t>Non-moral factors </a:t>
            </a:r>
            <a:r>
              <a:rPr lang="en-US" altLang="en-US" dirty="0">
                <a:latin typeface="Times New Roman" panose="02020603050405020304" pitchFamily="18" charset="0"/>
              </a:rPr>
              <a:t>include those that had commercial/sectional/personal interest at the core (e.g. design decisions made based on cost/time). Cost and time in this instance were non-moral factors that should not have determined the final outcome.</a:t>
            </a: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r>
              <a:rPr lang="en-US" altLang="en-US" dirty="0">
                <a:latin typeface="Times New Roman" panose="02020603050405020304" pitchFamily="18" charset="0"/>
              </a:rPr>
              <a:t>Simply meeting design standards is not an adequate defense if you are aware of foreseeable risk. As discussed in the lectures. Meeting the technical requirements of a design brief is not the same as fulfilling your duty of care.</a:t>
            </a: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r>
              <a:rPr lang="en-US" altLang="en-US" dirty="0">
                <a:latin typeface="Times New Roman" panose="02020603050405020304" pitchFamily="18" charset="0"/>
              </a:rPr>
              <a:t>The occupants of the vehicles did not have enough information to make an informed decision about the safety of their transport. How do you think the drivers and passengers (and public) would have responded if they were given all the appropriate information?</a:t>
            </a:r>
          </a:p>
          <a:p>
            <a:pPr marL="0" lvl="2" indent="0">
              <a:buFont typeface="Arial" panose="020B0604020202020204" pitchFamily="34" charset="0"/>
              <a:buNone/>
            </a:pPr>
            <a:endParaRPr lang="en-US" altLang="en-US" dirty="0">
              <a:latin typeface="Times New Roman" panose="02020603050405020304" pitchFamily="18" charset="0"/>
            </a:endParaRPr>
          </a:p>
          <a:p>
            <a:pPr marL="0" lvl="2" indent="0">
              <a:buFont typeface="Arial" panose="020B0604020202020204" pitchFamily="34" charset="0"/>
              <a:buNone/>
            </a:pPr>
            <a:r>
              <a:rPr lang="en-US" altLang="en-US" dirty="0">
                <a:latin typeface="Times New Roman" panose="02020603050405020304" pitchFamily="18" charset="0"/>
              </a:rPr>
              <a:t>The case studies we looked at in the lectures all raised issues about our ethical responsibilities and spotlighted the consequences that may arise when we mistakenly believe our professional duty absolves us of our ethical responsibilities. Or when we advance prudential reasons ahead of our moral obligations. In the Pinto case we see the cost of </a:t>
            </a:r>
            <a:r>
              <a:rPr lang="en-US" altLang="en-US" dirty="0" err="1">
                <a:latin typeface="Times New Roman" panose="02020603050405020304" pitchFamily="18" charset="0"/>
              </a:rPr>
              <a:t>prioritising</a:t>
            </a:r>
            <a:r>
              <a:rPr lang="en-US" altLang="en-US" dirty="0">
                <a:latin typeface="Times New Roman" panose="02020603050405020304" pitchFamily="18" charset="0"/>
              </a:rPr>
              <a:t> design goals (or means) ahead of ethical considerations.</a:t>
            </a:r>
          </a:p>
        </p:txBody>
      </p:sp>
    </p:spTree>
    <p:extLst>
      <p:ext uri="{BB962C8B-B14F-4D97-AF65-F5344CB8AC3E}">
        <p14:creationId xmlns:p14="http://schemas.microsoft.com/office/powerpoint/2010/main" val="1447727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476672" y="2448048"/>
            <a:ext cx="6381328"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dirty="0">
              <a:latin typeface="Times New Roman" pitchFamily="18" charset="0"/>
            </a:endParaRPr>
          </a:p>
        </p:txBody>
      </p:sp>
    </p:spTree>
    <p:extLst>
      <p:ext uri="{BB962C8B-B14F-4D97-AF65-F5344CB8AC3E}">
        <p14:creationId xmlns:p14="http://schemas.microsoft.com/office/powerpoint/2010/main" val="856897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403334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ACB2BB1-30A9-7144-B950-9030FC0EF588}"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charset="0"/>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AU" sz="1200" b="0" i="0" u="none" strike="noStrike" kern="1200" cap="none" spc="0" normalizeH="0" baseline="0" noProof="0">
              <a:ln>
                <a:noFill/>
              </a:ln>
              <a:solidFill>
                <a:srgbClr val="000000"/>
              </a:solidFill>
              <a:effectLst/>
              <a:uLnTx/>
              <a:uFillTx/>
              <a:latin typeface="Arial" charset="0"/>
              <a:ea typeface="ＭＳ Ｐゴシック" charset="0"/>
              <a:cs typeface="Arial" charset="0"/>
            </a:endParaRPr>
          </a:p>
        </p:txBody>
      </p:sp>
    </p:spTree>
    <p:extLst>
      <p:ext uri="{BB962C8B-B14F-4D97-AF65-F5344CB8AC3E}">
        <p14:creationId xmlns:p14="http://schemas.microsoft.com/office/powerpoint/2010/main" val="1209577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AU" dirty="0"/>
              <a:t>Ethics is constitutive of Professionalism</a:t>
            </a:r>
          </a:p>
          <a:p>
            <a:r>
              <a:rPr lang="en-AU" dirty="0"/>
              <a:t>Ethical impact assessment, purpose statements etcetera</a:t>
            </a:r>
          </a:p>
          <a:p>
            <a:r>
              <a:rPr lang="en-AU" dirty="0"/>
              <a:t>Ethical dimensions? Make right kind of ought claims; are universal…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B63FA-C0AC-5140-B2A8-494E62676424}" type="slidenum">
              <a:rPr kumimoji="0" lang="en-AU" sz="1200" b="0" i="0" u="none" strike="noStrike" kern="1200" cap="none" spc="0" normalizeH="0" baseline="0" noProof="0" smtClean="0">
                <a:ln>
                  <a:noFill/>
                </a:ln>
                <a:solidFill>
                  <a:prstClr val="black"/>
                </a:solidFill>
                <a:effectLst/>
                <a:uLnTx/>
                <a:uFillTx/>
                <a:latin typeface="Calibri"/>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a:ea typeface="ＭＳ Ｐゴシック" charset="0"/>
              <a:cs typeface="Arial" charset="0"/>
            </a:endParaRPr>
          </a:p>
        </p:txBody>
      </p:sp>
    </p:spTree>
    <p:extLst>
      <p:ext uri="{BB962C8B-B14F-4D97-AF65-F5344CB8AC3E}">
        <p14:creationId xmlns:p14="http://schemas.microsoft.com/office/powerpoint/2010/main" val="693006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B63FA-C0AC-5140-B2A8-494E62676424}" type="slidenum">
              <a:rPr kumimoji="0" lang="en-AU" sz="1200" b="0" i="0" u="none" strike="noStrike" kern="1200" cap="none" spc="0" normalizeH="0" baseline="0" noProof="0" smtClean="0">
                <a:ln>
                  <a:noFill/>
                </a:ln>
                <a:solidFill>
                  <a:prstClr val="black"/>
                </a:solidFill>
                <a:effectLst/>
                <a:uLnTx/>
                <a:uFillTx/>
                <a:latin typeface="Calibri"/>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a:ea typeface="ＭＳ Ｐゴシック" charset="0"/>
              <a:cs typeface="Arial" charset="0"/>
            </a:endParaRPr>
          </a:p>
        </p:txBody>
      </p:sp>
    </p:spTree>
    <p:extLst>
      <p:ext uri="{BB962C8B-B14F-4D97-AF65-F5344CB8AC3E}">
        <p14:creationId xmlns:p14="http://schemas.microsoft.com/office/powerpoint/2010/main" val="87043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21:notes"/>
          <p:cNvSpPr>
            <a:spLocks noGrp="1" noRot="1" noChangeAspect="1"/>
          </p:cNvSpPr>
          <p:nvPr>
            <p:ph type="sldImg" idx="2"/>
          </p:nvPr>
        </p:nvSpPr>
        <p:spPr>
          <a:xfrm>
            <a:off x="725488" y="811213"/>
            <a:ext cx="5407025" cy="40560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1" name="Google Shape;701;p21:notes"/>
          <p:cNvSpPr txBox="1">
            <a:spLocks noGrp="1"/>
          </p:cNvSpPr>
          <p:nvPr>
            <p:ph type="body" idx="1"/>
          </p:nvPr>
        </p:nvSpPr>
        <p:spPr>
          <a:xfrm>
            <a:off x="685800" y="5138391"/>
            <a:ext cx="5486400" cy="2922852"/>
          </a:xfrm>
          <a:prstGeom prst="rect">
            <a:avLst/>
          </a:prstGeom>
          <a:noFill/>
          <a:ln>
            <a:noFill/>
          </a:ln>
        </p:spPr>
        <p:txBody>
          <a:bodyPr spcFirstLastPara="1" wrap="square" lIns="91425" tIns="45700" rIns="91425" bIns="45700" anchor="t" anchorCtr="0">
            <a:noAutofit/>
          </a:bodyPr>
          <a:lstStyle/>
          <a:p>
            <a:pPr algn="l"/>
            <a:endParaRPr dirty="0"/>
          </a:p>
        </p:txBody>
      </p:sp>
      <p:sp>
        <p:nvSpPr>
          <p:cNvPr id="702" name="Google Shape;702;p21:notes"/>
          <p:cNvSpPr txBox="1">
            <a:spLocks noGrp="1"/>
          </p:cNvSpPr>
          <p:nvPr>
            <p:ph type="hdr" idx="3"/>
          </p:nvPr>
        </p:nvSpPr>
        <p:spPr>
          <a:xfrm>
            <a:off x="0" y="0"/>
            <a:ext cx="2971800" cy="540883"/>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Calibri"/>
                <a:ea typeface="+mn-ea"/>
                <a:cs typeface="Calibri"/>
                <a:sym typeface="Calibri"/>
              </a:rPr>
              <a:t>MUM Ethics Workshop - February 2018</a:t>
            </a:r>
            <a:endParaRPr kumimoji="0" sz="1200" b="0" i="0" u="none" strike="noStrike" kern="0" cap="none" spc="0" normalizeH="0" baseline="0" noProof="0">
              <a:ln>
                <a:noFill/>
              </a:ln>
              <a:solidFill>
                <a:srgbClr val="000000"/>
              </a:solidFill>
              <a:effectLst/>
              <a:uLnTx/>
              <a:uFillTx/>
              <a:latin typeface="Calibri"/>
              <a:ea typeface="+mn-ea"/>
              <a:cs typeface="Calibri"/>
              <a:sym typeface="Calibri"/>
            </a:endParaRPr>
          </a:p>
        </p:txBody>
      </p:sp>
      <p:sp>
        <p:nvSpPr>
          <p:cNvPr id="703" name="Google Shape;703;p21:notes"/>
          <p:cNvSpPr txBox="1">
            <a:spLocks noGrp="1"/>
          </p:cNvSpPr>
          <p:nvPr>
            <p:ph type="sldNum" idx="12"/>
          </p:nvPr>
        </p:nvSpPr>
        <p:spPr>
          <a:xfrm>
            <a:off x="3884613" y="10274903"/>
            <a:ext cx="2971800" cy="540883"/>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474303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ACB2BB1-30A9-7144-B950-9030FC0EF588}"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charset="0"/>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AU" sz="1200" b="0" i="0" u="none" strike="noStrike" kern="1200" cap="none" spc="0" normalizeH="0" baseline="0" noProof="0">
              <a:ln>
                <a:noFill/>
              </a:ln>
              <a:solidFill>
                <a:srgbClr val="000000"/>
              </a:solidFill>
              <a:effectLst/>
              <a:uLnTx/>
              <a:uFillTx/>
              <a:latin typeface="Arial" charset="0"/>
              <a:ea typeface="ＭＳ Ｐゴシック" charset="0"/>
              <a:cs typeface="Arial" charset="0"/>
            </a:endParaRPr>
          </a:p>
        </p:txBody>
      </p:sp>
    </p:spTree>
    <p:extLst>
      <p:ext uri="{BB962C8B-B14F-4D97-AF65-F5344CB8AC3E}">
        <p14:creationId xmlns:p14="http://schemas.microsoft.com/office/powerpoint/2010/main" val="2585032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xfrm>
            <a:off x="3884613" y="9377317"/>
            <a:ext cx="2971800" cy="493633"/>
          </a:xfrm>
          <a:prstGeom prst="rect">
            <a:avLst/>
          </a:prstGeom>
          <a:noFill/>
        </p:spPr>
        <p:txBody>
          <a:bodyPr/>
          <a:lstStyle/>
          <a:p>
            <a:pPr marL="0" marR="0" lvl="0" indent="0" algn="l" defTabSz="449263" rtl="0" eaLnBrk="0" fontAlgn="base" latinLnBrk="0" hangingPunct="0">
              <a:lnSpc>
                <a:spcPct val="100000"/>
              </a:lnSpc>
              <a:spcBef>
                <a:spcPct val="0"/>
              </a:spcBef>
              <a:spcAft>
                <a:spcPct val="0"/>
              </a:spcAft>
              <a:buClrTx/>
              <a:buSzTx/>
              <a:buFontTx/>
              <a:buNone/>
              <a:tabLst/>
              <a:defRPr/>
            </a:pPr>
            <a:fld id="{F5977E5C-B016-064F-8D5D-564D023CDD0F}" type="slidenum">
              <a:rPr kumimoji="0" lang="en-AU" sz="1800" b="0" i="0" u="none" strike="noStrike" kern="1200" cap="none" spc="0" normalizeH="0" baseline="0" noProof="0">
                <a:ln>
                  <a:noFill/>
                </a:ln>
                <a:solidFill>
                  <a:srgbClr val="FFFFFF"/>
                </a:solidFill>
                <a:effectLst/>
                <a:uLnTx/>
                <a:uFillTx/>
                <a:latin typeface="Arial" pitchFamily="1" charset="0"/>
                <a:ea typeface="Microsoft YaHei" panose="020B0503020204020204" pitchFamily="34" charset="-122"/>
                <a:cs typeface="+mn-cs"/>
              </a:rPr>
              <a:pPr marL="0" marR="0" lvl="0" indent="0" algn="l" defTabSz="449263" rtl="0" eaLnBrk="0" fontAlgn="base" latinLnBrk="0" hangingPunct="0">
                <a:lnSpc>
                  <a:spcPct val="100000"/>
                </a:lnSpc>
                <a:spcBef>
                  <a:spcPct val="0"/>
                </a:spcBef>
                <a:spcAft>
                  <a:spcPct val="0"/>
                </a:spcAft>
                <a:buClrTx/>
                <a:buSzTx/>
                <a:buFontTx/>
                <a:buNone/>
                <a:tabLst/>
                <a:defRPr/>
              </a:pPr>
              <a:t>19</a:t>
            </a:fld>
            <a:endParaRPr kumimoji="0" lang="en-AU" sz="1800" b="0" i="0" u="none" strike="noStrike" kern="1200" cap="none" spc="0" normalizeH="0" baseline="0" noProof="0">
              <a:ln>
                <a:noFill/>
              </a:ln>
              <a:solidFill>
                <a:srgbClr val="FFFFFF"/>
              </a:solidFill>
              <a:effectLst/>
              <a:uLnTx/>
              <a:uFillTx/>
              <a:latin typeface="Arial" pitchFamily="1" charset="0"/>
              <a:ea typeface="Microsoft YaHei" panose="020B0503020204020204" pitchFamily="34" charset="-122"/>
              <a:cs typeface="+mn-cs"/>
            </a:endParaRPr>
          </a:p>
        </p:txBody>
      </p:sp>
      <p:sp>
        <p:nvSpPr>
          <p:cNvPr id="37891" name="Rectangle 2"/>
          <p:cNvSpPr>
            <a:spLocks noGrp="1" noRot="1" noChangeAspect="1" noChangeArrowheads="1" noTextEdit="1"/>
          </p:cNvSpPr>
          <p:nvPr>
            <p:ph type="sldImg"/>
          </p:nvPr>
        </p:nvSpPr>
        <p:spPr>
          <a:ln/>
        </p:spPr>
      </p:sp>
      <p:sp>
        <p:nvSpPr>
          <p:cNvPr id="2" name="Notes Placeholder 1"/>
          <p:cNvSpPr>
            <a:spLocks noGrp="1"/>
          </p:cNvSpPr>
          <p:nvPr>
            <p:ph type="body" idx="1"/>
          </p:nvPr>
        </p:nvSpPr>
        <p:spPr/>
        <p:txBody>
          <a:bodyPr/>
          <a:lstStyle/>
          <a:p>
            <a:r>
              <a:rPr lang="en-AU" dirty="0"/>
              <a:t>Explain</a:t>
            </a:r>
            <a:r>
              <a:rPr lang="en-AU" baseline="0" dirty="0"/>
              <a:t> the idea of the social contract for professionals and researchers.</a:t>
            </a:r>
          </a:p>
          <a:p>
            <a:endParaRPr lang="en-AU" baseline="0" dirty="0"/>
          </a:p>
          <a:p>
            <a:r>
              <a:rPr lang="en-AU" baseline="0" dirty="0"/>
              <a:t>Your loyalty is to your community, not your employer.</a:t>
            </a:r>
          </a:p>
          <a:p>
            <a:endParaRPr lang="en-US" dirty="0"/>
          </a:p>
        </p:txBody>
      </p:sp>
    </p:spTree>
    <p:extLst>
      <p:ext uri="{BB962C8B-B14F-4D97-AF65-F5344CB8AC3E}">
        <p14:creationId xmlns:p14="http://schemas.microsoft.com/office/powerpoint/2010/main" val="21503941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
          <p:cNvSpPr>
            <a:spLocks noGrp="1" noRot="1" noChangeAspect="1" noChangeArrowheads="1" noTextEdit="1"/>
          </p:cNvSpPr>
          <p:nvPr>
            <p:ph type="sldImg"/>
          </p:nvPr>
        </p:nvSpPr>
        <p:spPr>
          <a:xfrm>
            <a:off x="1408113" y="355600"/>
            <a:ext cx="3824287" cy="2868613"/>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1" name="Rectangle 2"/>
          <p:cNvSpPr>
            <a:spLocks noGrp="1" noChangeArrowheads="1"/>
          </p:cNvSpPr>
          <p:nvPr>
            <p:ph type="body" idx="1"/>
          </p:nvPr>
        </p:nvSpPr>
        <p:spPr>
          <a:xfrm>
            <a:off x="305904" y="3385733"/>
            <a:ext cx="6407953" cy="6348447"/>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buFont typeface="Times New Roman" pitchFamily="16" charset="0"/>
              <a:buNone/>
              <a:defRPr/>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93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
          <p:cNvSpPr>
            <a:spLocks noGrp="1" noRot="1" noChangeAspect="1" noChangeArrowheads="1" noTextEdit="1"/>
          </p:cNvSpPr>
          <p:nvPr>
            <p:ph type="sldImg"/>
          </p:nvPr>
        </p:nvSpPr>
        <p:spPr>
          <a:xfrm>
            <a:off x="1820863" y="498475"/>
            <a:ext cx="3360737" cy="252095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5" name="Rectangle 2"/>
          <p:cNvSpPr>
            <a:spLocks noGrp="1" noChangeArrowheads="1"/>
          </p:cNvSpPr>
          <p:nvPr>
            <p:ph type="body" idx="1"/>
          </p:nvPr>
        </p:nvSpPr>
        <p:spPr>
          <a:xfrm>
            <a:off x="687085" y="3289836"/>
            <a:ext cx="5694243" cy="6235532"/>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lstStyle/>
          <a:p>
            <a:r>
              <a:rPr lang="en-US" altLang="en-US" sz="1400" dirty="0">
                <a:latin typeface="Times New Roman" panose="02020603050405020304" pitchFamily="18" charset="0"/>
              </a:rPr>
              <a:t>Moral philosophy is couched in “ought” claims: That is, “you should do x”</a:t>
            </a:r>
          </a:p>
          <a:p>
            <a:endParaRPr lang="en-US" altLang="en-US" sz="1400" dirty="0">
              <a:latin typeface="Times New Roman" panose="02020603050405020304" pitchFamily="18" charset="0"/>
            </a:endParaRPr>
          </a:p>
          <a:p>
            <a:r>
              <a:rPr lang="en-US" altLang="en-US" sz="1400" dirty="0">
                <a:latin typeface="Times New Roman" panose="02020603050405020304" pitchFamily="18" charset="0"/>
              </a:rPr>
              <a:t>In ethics, it is important to distinguish MORAL OUGHT CLAIMS, from other kinds of ought claims. </a:t>
            </a:r>
          </a:p>
          <a:p>
            <a:r>
              <a:rPr lang="en-US" altLang="en-US" sz="1400" dirty="0">
                <a:latin typeface="Times New Roman" panose="02020603050405020304" pitchFamily="18" charset="0"/>
              </a:rPr>
              <a:t>	</a:t>
            </a:r>
          </a:p>
          <a:p>
            <a:r>
              <a:rPr lang="en-US" altLang="en-US" sz="1400" dirty="0">
                <a:latin typeface="Times New Roman" panose="02020603050405020304" pitchFamily="18" charset="0"/>
              </a:rPr>
              <a:t>One way to do this is to contrast moral ought-claims with different kinds of ought-claims: </a:t>
            </a:r>
          </a:p>
          <a:p>
            <a:endParaRPr lang="en-US" altLang="en-US" sz="1400" dirty="0">
              <a:latin typeface="Times New Roman" panose="02020603050405020304" pitchFamily="18" charset="0"/>
            </a:endParaRPr>
          </a:p>
          <a:p>
            <a:r>
              <a:rPr lang="en-US" altLang="en-US" sz="1400" dirty="0">
                <a:latin typeface="Times New Roman" panose="02020603050405020304" pitchFamily="18" charset="0"/>
              </a:rPr>
              <a:t>Two we will quickly look at are self-interest, and legal ought claims. These typically make prescriptive claims, but are not morally prescriptive.</a:t>
            </a:r>
          </a:p>
          <a:p>
            <a:endParaRPr lang="en-US" altLang="en-US" sz="1400" dirty="0">
              <a:latin typeface="Times New Roman" panose="02020603050405020304" pitchFamily="18" charset="0"/>
            </a:endParaRPr>
          </a:p>
          <a:p>
            <a:r>
              <a:rPr lang="en-US" altLang="en-US" sz="1400" dirty="0">
                <a:latin typeface="Times New Roman" panose="02020603050405020304" pitchFamily="18" charset="0"/>
              </a:rPr>
              <a:t>First, self-interest is about what is personally beneficial, but not morally always the right thing to do.</a:t>
            </a:r>
          </a:p>
          <a:p>
            <a:endParaRPr lang="en-US" altLang="en-US" sz="1400" dirty="0">
              <a:latin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rPr>
              <a:t>Second, while </a:t>
            </a:r>
            <a:r>
              <a:rPr kumimoji="0" lang="en-US"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rPr>
              <a:t>the law often captures moral standards</a:t>
            </a: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rPr>
              <a:t>, legal &amp; moral ought-claims aren’t always the same. Sometimes the morally right thing to do is to break the law! (unjust laws) </a:t>
            </a:r>
          </a:p>
          <a:p>
            <a:pPr marL="0" marR="0" lvl="0" indent="0" algn="l" defTabSz="914400" rtl="0" eaLnBrk="0" fontAlgn="base" latinLnBrk="0" hangingPunct="0">
              <a:lnSpc>
                <a:spcPct val="90000"/>
              </a:lnSpc>
              <a:spcBef>
                <a:spcPct val="30000"/>
              </a:spcBef>
              <a:spcAft>
                <a:spcPct val="0"/>
              </a:spcAft>
              <a:buClrTx/>
              <a:buSzTx/>
              <a:buFontTx/>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rPr>
              <a:t>The classic example is slavery, which historically was legally allowed, but not ethically permissible. </a:t>
            </a:r>
          </a:p>
          <a:p>
            <a:pPr marL="0" marR="0" lvl="0" indent="0" algn="l" defTabSz="914400" rtl="0" eaLnBrk="0" fontAlgn="base" latinLnBrk="0" hangingPunct="0">
              <a:lnSpc>
                <a:spcPct val="90000"/>
              </a:lnSpc>
              <a:spcBef>
                <a:spcPct val="30000"/>
              </a:spcBef>
              <a:spcAft>
                <a:spcPct val="0"/>
              </a:spcAft>
              <a:buClrTx/>
              <a:buSzTx/>
              <a:buFontTx/>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charset="0"/>
                <a:cs typeface="Arial" charset="0"/>
              </a:rPr>
              <a:t>If you are asked to justify an action from an ethical perspective an appeal to self interest or the legality of the activity will not be adequate. </a:t>
            </a:r>
          </a:p>
          <a:p>
            <a:endParaRPr lang="en-US" altLang="en-US" sz="1400" dirty="0">
              <a:latin typeface="Times New Roman" panose="02020603050405020304" pitchFamily="18" charset="0"/>
            </a:endParaRPr>
          </a:p>
          <a:p>
            <a:endParaRPr lang="en-US" altLang="en-US" sz="1400" dirty="0">
              <a:latin typeface="Times New Roman" panose="02020603050405020304" pitchFamily="18" charset="0"/>
            </a:endParaRPr>
          </a:p>
        </p:txBody>
      </p:sp>
    </p:spTree>
    <p:extLst>
      <p:ext uri="{BB962C8B-B14F-4D97-AF65-F5344CB8AC3E}">
        <p14:creationId xmlns:p14="http://schemas.microsoft.com/office/powerpoint/2010/main" val="712893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
          <p:cNvSpPr>
            <a:spLocks noGrp="1" noRot="1" noChangeAspect="1" noChangeArrowheads="1" noTextEdit="1"/>
          </p:cNvSpPr>
          <p:nvPr>
            <p:ph type="sldImg"/>
          </p:nvPr>
        </p:nvSpPr>
        <p:spPr>
          <a:xfrm>
            <a:off x="1633538" y="352425"/>
            <a:ext cx="3373437" cy="2532063"/>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1" name="Rectangle 2"/>
          <p:cNvSpPr>
            <a:spLocks noGrp="1" noChangeArrowheads="1"/>
          </p:cNvSpPr>
          <p:nvPr>
            <p:ph type="body" idx="1"/>
          </p:nvPr>
        </p:nvSpPr>
        <p:spPr>
          <a:xfrm>
            <a:off x="305907" y="2956621"/>
            <a:ext cx="6407953" cy="6706088"/>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So, what is ethics really about? What does it mean to conduct yourself morally?</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endParaRPr kumimoji="0" lang="en-AU"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Who here considers themselves to be a moral person?</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Why? What does it mean to be moral?  How do you know?</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endParaRPr kumimoji="0" lang="en-AU"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Most of us rely on our moral intuitions… Ethical theories help us overcome the shortcomings of “intuition”. </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endParaRPr kumimoji="0" lang="en-AU" sz="13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sz="13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Ethics is </a:t>
            </a:r>
            <a:r>
              <a:rPr kumimoji="0" lang="en-AU"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a:t>
            </a:r>
            <a:r>
              <a:rPr kumimoji="0" lang="en-AU" sz="13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conceptual toolkit </a:t>
            </a:r>
            <a:r>
              <a:rPr kumimoji="0" lang="en-AU"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we use when trying to figure out what we </a:t>
            </a:r>
            <a:r>
              <a:rPr kumimoji="0" lang="en-AU"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ought (morally speaking ) to do </a:t>
            </a:r>
            <a:r>
              <a:rPr kumimoji="0" lang="en-AU"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 any given case.</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endPar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It is the part of practical reasoning concerned with good, bad, right, wrong, duties, rights, etcetera.</a:t>
            </a:r>
          </a:p>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So, ethics is about </a:t>
            </a:r>
            <a:r>
              <a:rPr kumimoji="0" lang="en-AU" altLang="en-US" sz="13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how</a:t>
            </a:r>
            <a:r>
              <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we ought to behave. And </a:t>
            </a:r>
            <a:r>
              <a:rPr kumimoji="0" lang="en-AU" altLang="en-US" sz="13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why. </a:t>
            </a:r>
            <a:r>
              <a:rPr kumimoji="0" lang="en-US"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a:t>
            </a:r>
            <a:r>
              <a:rPr kumimoji="0" lang="en-US" altLang="en-US"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WHY</a:t>
            </a:r>
            <a:r>
              <a:rPr kumimoji="0" lang="en-US"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part is crucial here:</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US"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We want a </a:t>
            </a:r>
            <a:r>
              <a:rPr kumimoji="0" lang="en-US" altLang="en-US"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guide</a:t>
            </a:r>
            <a:r>
              <a:rPr kumimoji="0" lang="en-US"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for our actions based on the </a:t>
            </a:r>
            <a:r>
              <a:rPr kumimoji="0" lang="en-US" altLang="en-US"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best</a:t>
            </a:r>
            <a:r>
              <a:rPr kumimoji="0" lang="en-US"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possible reasons, we want our actions to be right or wrong for </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US"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3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non-arbitrary</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US" altLang="en-US" sz="13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and properly compelling reasons</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Ethical theories add consistency and clarity to our moral reasoning.</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AU" altLang="en-US" sz="13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Contemplating our ethical theories should "educate our sensibilities" about possible attitudes and practical behaviours. </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AU" altLang="en-US" sz="13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AU" altLang="en-US" sz="1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We need to make explicit our assumptions and fundamental ethical principles. Transparency in our decision-making process is crucial to allow others (and ourselves) to make critical assessments.</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AU"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AU"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r>
              <a:rPr kumimoji="0" lang="en-AU"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Watch this series by Dan Halliday, and ethicist and friend from UoM.</a:t>
            </a: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AU"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85750" indent="-285750">
              <a:spcBef>
                <a:spcPct val="0"/>
              </a:spcBef>
              <a:buFont typeface="Arial" panose="020B0604020202020204" pitchFamily="34" charset="0"/>
              <a:buChar char="•"/>
              <a:defRPr/>
            </a:pPr>
            <a:endParaRPr lang="en-AU" altLang="en-US" sz="1400" noProof="0" dirty="0">
              <a:latin typeface="Times New Roman" panose="02020603050405020304" pitchFamily="18" charset="0"/>
              <a:cs typeface="Times New Roman" panose="02020603050405020304" pitchFamily="18" charset="0"/>
            </a:endParaRPr>
          </a:p>
          <a:p>
            <a:pPr>
              <a:spcBef>
                <a:spcPct val="0"/>
              </a:spcBef>
              <a:buFont typeface="Times New Roman" pitchFamily="16" charset="0"/>
              <a:buNone/>
              <a:defRPr/>
            </a:pPr>
            <a:endParaRPr lang="en-AU" altLang="en-US" sz="1400" noProof="0" dirty="0">
              <a:latin typeface="Times New Roman" panose="02020603050405020304" pitchFamily="18" charset="0"/>
              <a:cs typeface="Times New Roman" panose="02020603050405020304" pitchFamily="18" charset="0"/>
            </a:endParaRPr>
          </a:p>
          <a:p>
            <a:pPr>
              <a:spcBef>
                <a:spcPct val="0"/>
              </a:spcBef>
              <a:buFont typeface="Times New Roman" pitchFamily="16" charset="0"/>
              <a:buNone/>
              <a:defRPr/>
            </a:pPr>
            <a:endParaRPr lang="en-AU" altLang="en-US" sz="1400" noProof="0" dirty="0">
              <a:latin typeface="Times New Roman" panose="02020603050405020304" pitchFamily="18" charset="0"/>
              <a:cs typeface="Times New Roman" panose="02020603050405020304" pitchFamily="18" charset="0"/>
            </a:endParaRPr>
          </a:p>
          <a:p>
            <a:pPr>
              <a:buFont typeface="Times New Roman" pitchFamily="16" charset="0"/>
              <a:buNone/>
              <a:defRPr/>
            </a:pPr>
            <a:endParaRPr lang="en-AU" altLang="en-US" noProof="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942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a:spLocks noGrp="1" noRot="1" noChangeAspect="1"/>
          </p:cNvSpPr>
          <p:nvPr>
            <p:ph type="sldImg" idx="2"/>
          </p:nvPr>
        </p:nvSpPr>
        <p:spPr>
          <a:xfrm>
            <a:off x="1147763" y="1233488"/>
            <a:ext cx="4440237"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9: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400" dirty="0"/>
              <a:t>Our focus - whether on the agent, the act or the outcomes, roughly aligns with ethical frameworks, which we will talk more about shortly.</a:t>
            </a:r>
            <a:endParaRPr sz="1400"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Clr>
                <a:schemeClr val="dk1"/>
              </a:buClr>
              <a:buSzPts val="1200"/>
              <a:buFont typeface="Arial"/>
              <a:buNone/>
            </a:pPr>
            <a:endParaRPr dirty="0"/>
          </a:p>
        </p:txBody>
      </p:sp>
      <p:sp>
        <p:nvSpPr>
          <p:cNvPr id="195" name="Google Shape;195;p9: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a:xfrm>
            <a:off x="942975" y="757238"/>
            <a:ext cx="4972050" cy="3729037"/>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85480" y="4724759"/>
            <a:ext cx="5487041" cy="4936267"/>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49263" rtl="0" eaLnBrk="1" fontAlgn="base" latinLnBrk="0" hangingPunct="1">
              <a:lnSpc>
                <a:spcPct val="100000"/>
              </a:lnSpc>
              <a:spcBef>
                <a:spcPct val="30000"/>
              </a:spcBef>
              <a:spcAft>
                <a:spcPct val="0"/>
              </a:spcAft>
              <a:buClr>
                <a:srgbClr val="000000"/>
              </a:buClr>
              <a:buSzPct val="100000"/>
              <a:buFont typeface="Times New Roman" pitchFamily="16" charset="0"/>
              <a:buNone/>
              <a:tabLst/>
              <a:defRPr/>
            </a:pPr>
            <a:r>
              <a:rPr kumimoji="0" lang="en-AU" altLang="en-US" sz="1400" b="0" i="0" u="none" strike="noStrike" kern="1200" cap="none" spc="0" normalizeH="0" baseline="0" noProof="0" dirty="0">
                <a:ln>
                  <a:noFill/>
                </a:ln>
                <a:solidFill>
                  <a:srgbClr val="000000"/>
                </a:solidFill>
                <a:effectLst/>
                <a:uLnTx/>
                <a:uFillTx/>
                <a:latin typeface="Times New Roman" pitchFamily="16" charset="0"/>
                <a:ea typeface="+mn-ea"/>
                <a:cs typeface="Arial" charset="0"/>
              </a:rPr>
              <a:t>As mentioned in an earlier slide, these ethical theories are traditionally distinct in theoretical terms, but as we’ll see, in practice we often base our decisions on a combination of factors.</a:t>
            </a:r>
          </a:p>
          <a:p>
            <a:pPr marL="0" lvl="2" indent="0">
              <a:defRPr/>
            </a:pPr>
            <a:endParaRPr lang="en-AU" b="1" dirty="0"/>
          </a:p>
        </p:txBody>
      </p:sp>
    </p:spTree>
    <p:extLst>
      <p:ext uri="{BB962C8B-B14F-4D97-AF65-F5344CB8AC3E}">
        <p14:creationId xmlns:p14="http://schemas.microsoft.com/office/powerpoint/2010/main" val="3351318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a:xfrm>
            <a:off x="1268413" y="750888"/>
            <a:ext cx="4629150" cy="34718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85483" y="4690070"/>
            <a:ext cx="5487041" cy="4900023"/>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2"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lang="en-AU" sz="1200" dirty="0"/>
              <a:t>A few things you should be aware of:</a:t>
            </a:r>
          </a:p>
          <a:p>
            <a:pPr marL="0" marR="0" lvl="2"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lang="en-AU" sz="1200" dirty="0"/>
          </a:p>
          <a:p>
            <a:pPr marL="0" marR="0" lvl="2"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lang="en-AU" sz="1200" dirty="0"/>
              <a:t>Professional code of ethics: An attempt to codify our moral obligations (normative), to formalise our ethical responsibilities in professional environments. They infer duty and obligation. </a:t>
            </a:r>
          </a:p>
          <a:p>
            <a:pPr marL="0" lvl="2" indent="0">
              <a:defRPr/>
            </a:pPr>
            <a:endParaRPr lang="en-US" dirty="0"/>
          </a:p>
          <a:p>
            <a:pPr marL="0" lvl="2" indent="0">
              <a:defRPr/>
            </a:pPr>
            <a:r>
              <a:rPr lang="en-US" dirty="0"/>
              <a:t>The notion of a duty of care is central to many codes of professional ethics. </a:t>
            </a:r>
          </a:p>
          <a:p>
            <a:pPr marL="0" lvl="2" indent="0">
              <a:defRPr/>
            </a:pPr>
            <a:endParaRPr lang="en-AU" dirty="0"/>
          </a:p>
          <a:p>
            <a:pPr marL="0" lvl="2" indent="0">
              <a:defRPr/>
            </a:pPr>
            <a:r>
              <a:rPr lang="en-AU" dirty="0"/>
              <a:t>The dominant approach to professional ethics</a:t>
            </a:r>
            <a:r>
              <a:rPr lang="en-AU" baseline="0" dirty="0"/>
              <a:t> is Principlism. </a:t>
            </a:r>
            <a:r>
              <a:rPr lang="en-AU" dirty="0"/>
              <a:t>Principles derived from normative theories</a:t>
            </a:r>
            <a:r>
              <a:rPr lang="en-AU" baseline="0" dirty="0"/>
              <a:t> but not aligned with any single approach. Typically pluralistic, and this is important for institutional decision making and community adoption. </a:t>
            </a:r>
          </a:p>
          <a:p>
            <a:pPr marL="0" lvl="2" indent="0">
              <a:defRPr/>
            </a:pPr>
            <a:endParaRPr lang="en-AU" baseline="0" dirty="0"/>
          </a:p>
          <a:p>
            <a:pPr marL="0" lvl="2" indent="0">
              <a:defRPr/>
            </a:pPr>
            <a:endParaRPr lang="en-AU" baseline="0" dirty="0"/>
          </a:p>
        </p:txBody>
      </p:sp>
    </p:spTree>
    <p:extLst>
      <p:ext uri="{BB962C8B-B14F-4D97-AF65-F5344CB8AC3E}">
        <p14:creationId xmlns:p14="http://schemas.microsoft.com/office/powerpoint/2010/main" val="40911950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p:cNvSpPr>
            <a:spLocks noGrp="1" noRot="1" noChangeAspect="1" noChangeArrowheads="1" noTextEdit="1"/>
          </p:cNvSpPr>
          <p:nvPr>
            <p:ph type="sldImg"/>
          </p:nvPr>
        </p:nvSpPr>
        <p:spPr>
          <a:xfrm>
            <a:off x="2201863" y="428625"/>
            <a:ext cx="2532062" cy="189865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9" name="Rectangle 2"/>
          <p:cNvSpPr>
            <a:spLocks noGrp="1" noChangeArrowheads="1"/>
          </p:cNvSpPr>
          <p:nvPr>
            <p:ph type="body" idx="1"/>
          </p:nvPr>
        </p:nvSpPr>
        <p:spPr>
          <a:xfrm>
            <a:off x="685481" y="2520615"/>
            <a:ext cx="6012362" cy="7356692"/>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400" dirty="0"/>
          </a:p>
        </p:txBody>
      </p:sp>
    </p:spTree>
    <p:extLst>
      <p:ext uri="{BB962C8B-B14F-4D97-AF65-F5344CB8AC3E}">
        <p14:creationId xmlns:p14="http://schemas.microsoft.com/office/powerpoint/2010/main" val="3779216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
          <p:cNvSpPr>
            <a:spLocks noGrp="1" noRot="1" noChangeAspect="1" noChangeArrowheads="1" noTextEdit="1"/>
          </p:cNvSpPr>
          <p:nvPr>
            <p:ph type="sldImg"/>
          </p:nvPr>
        </p:nvSpPr>
        <p:spPr>
          <a:xfrm>
            <a:off x="1544638" y="428625"/>
            <a:ext cx="3768725" cy="28273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85480" y="3602014"/>
            <a:ext cx="5487041" cy="6059013"/>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buFont typeface="Times New Roman" pitchFamily="16" charset="0"/>
              <a:buNone/>
              <a:defRPr/>
            </a:pPr>
            <a:endParaRPr lang="en-AU" altLang="en-US" dirty="0"/>
          </a:p>
        </p:txBody>
      </p:sp>
    </p:spTree>
    <p:extLst>
      <p:ext uri="{BB962C8B-B14F-4D97-AF65-F5344CB8AC3E}">
        <p14:creationId xmlns:p14="http://schemas.microsoft.com/office/powerpoint/2010/main" val="3686538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
          <p:cNvSpPr>
            <a:spLocks noGrp="1" noRot="1" noChangeAspect="1" noChangeArrowheads="1" noTextEdit="1"/>
          </p:cNvSpPr>
          <p:nvPr>
            <p:ph type="sldImg"/>
          </p:nvPr>
        </p:nvSpPr>
        <p:spPr>
          <a:xfrm>
            <a:off x="1833563" y="355600"/>
            <a:ext cx="3190875" cy="239395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85480" y="2881611"/>
            <a:ext cx="5487041" cy="6779416"/>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buFont typeface="Times New Roman" pitchFamily="16" charset="0"/>
              <a:buNone/>
              <a:defRPr/>
            </a:pPr>
            <a:endParaRPr lang="en-US" altLang="en-US" dirty="0"/>
          </a:p>
        </p:txBody>
      </p:sp>
    </p:spTree>
    <p:extLst>
      <p:ext uri="{BB962C8B-B14F-4D97-AF65-F5344CB8AC3E}">
        <p14:creationId xmlns:p14="http://schemas.microsoft.com/office/powerpoint/2010/main" val="26955326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a:xfrm>
            <a:off x="942975" y="757238"/>
            <a:ext cx="4972050" cy="3729037"/>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85480" y="4724759"/>
            <a:ext cx="5487041" cy="4936267"/>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defRPr/>
            </a:pPr>
            <a:endParaRPr lang="en-AU" dirty="0"/>
          </a:p>
          <a:p>
            <a:pPr marL="0" lvl="2" indent="0">
              <a:defRPr/>
            </a:pPr>
            <a:endParaRPr lang="en-AU" sz="1400" b="1" dirty="0"/>
          </a:p>
        </p:txBody>
      </p:sp>
    </p:spTree>
    <p:extLst>
      <p:ext uri="{BB962C8B-B14F-4D97-AF65-F5344CB8AC3E}">
        <p14:creationId xmlns:p14="http://schemas.microsoft.com/office/powerpoint/2010/main" val="32438663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
          <p:cNvSpPr>
            <a:spLocks noGrp="1" noRot="1" noChangeAspect="1" noChangeArrowheads="1" noTextEdit="1"/>
          </p:cNvSpPr>
          <p:nvPr>
            <p:ph type="sldImg"/>
          </p:nvPr>
        </p:nvSpPr>
        <p:spPr>
          <a:xfrm>
            <a:off x="1793875" y="212725"/>
            <a:ext cx="3209925" cy="24082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79451" y="2823808"/>
            <a:ext cx="5438775" cy="6890028"/>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905938" lvl="2" indent="0">
              <a:defRPr/>
            </a:pPr>
            <a:endParaRPr lang="en-AU" dirty="0"/>
          </a:p>
        </p:txBody>
      </p:sp>
    </p:spTree>
    <p:extLst>
      <p:ext uri="{BB962C8B-B14F-4D97-AF65-F5344CB8AC3E}">
        <p14:creationId xmlns:p14="http://schemas.microsoft.com/office/powerpoint/2010/main" val="39740735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160339" y="2448048"/>
            <a:ext cx="6697662"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defRPr/>
            </a:pPr>
            <a:endParaRPr lang="en-US" altLang="en-US" sz="1400" dirty="0"/>
          </a:p>
        </p:txBody>
      </p:sp>
    </p:spTree>
    <p:extLst>
      <p:ext uri="{BB962C8B-B14F-4D97-AF65-F5344CB8AC3E}">
        <p14:creationId xmlns:p14="http://schemas.microsoft.com/office/powerpoint/2010/main" val="20612523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r>
              <a:rPr lang="en-US" altLang="en-US" sz="1400" dirty="0">
                <a:latin typeface="Times New Roman" pitchFamily="18" charset="0"/>
              </a:rPr>
              <a:t>Reference slide.</a:t>
            </a:r>
          </a:p>
          <a:p>
            <a:pPr marL="0" lvl="2" indent="0">
              <a:buFont typeface="Arial" charset="0"/>
              <a:buNone/>
              <a:defRPr/>
            </a:pPr>
            <a:endParaRPr lang="en-US" altLang="en-US" sz="1400" dirty="0">
              <a:latin typeface="Times New Roman" pitchFamily="18" charset="0"/>
            </a:endParaRPr>
          </a:p>
          <a:p>
            <a:pPr marL="0" lvl="2" indent="0">
              <a:buFont typeface="Arial" charset="0"/>
              <a:buNone/>
              <a:defRPr/>
            </a:pPr>
            <a:r>
              <a:rPr lang="en-US" altLang="en-US" sz="1400" dirty="0">
                <a:latin typeface="Times New Roman" pitchFamily="18" charset="0"/>
              </a:rPr>
              <a:t>With Willy Just we contrasted professional duties with social justice and considered how a code of ethics might bridge the gap.</a:t>
            </a:r>
          </a:p>
          <a:p>
            <a:pPr marL="0" lvl="2" indent="0">
              <a:buFont typeface="Arial" charset="0"/>
              <a:buNone/>
              <a:defRPr/>
            </a:pPr>
            <a:endParaRPr lang="en-US" altLang="en-US" sz="1400" dirty="0">
              <a:latin typeface="Times New Roman" pitchFamily="18" charset="0"/>
            </a:endParaRPr>
          </a:p>
          <a:p>
            <a:pPr marL="0" lvl="2" indent="0">
              <a:buFont typeface="Arial" charset="0"/>
              <a:buNone/>
              <a:defRPr/>
            </a:pPr>
            <a:r>
              <a:rPr lang="en-US" altLang="en-US" sz="1400" dirty="0">
                <a:latin typeface="Times New Roman" pitchFamily="18" charset="0"/>
              </a:rPr>
              <a:t>We considered multiple ways to justify the </a:t>
            </a:r>
            <a:r>
              <a:rPr lang="en-US" altLang="en-US" sz="1400" dirty="0" err="1">
                <a:latin typeface="Times New Roman" pitchFamily="18" charset="0"/>
              </a:rPr>
              <a:t>behaviour</a:t>
            </a:r>
            <a:r>
              <a:rPr lang="en-US" altLang="en-US" sz="1400" dirty="0">
                <a:latin typeface="Times New Roman" pitchFamily="18" charset="0"/>
              </a:rPr>
              <a:t> but we could not produce an ethical defense.</a:t>
            </a:r>
          </a:p>
          <a:p>
            <a:pPr marL="0" lvl="2" indent="0">
              <a:buFont typeface="Arial" charset="0"/>
              <a:buNone/>
              <a:defRPr/>
            </a:pPr>
            <a:endParaRPr lang="en-US" altLang="en-US" sz="1400" dirty="0">
              <a:latin typeface="Times New Roman" pitchFamily="18" charset="0"/>
            </a:endParaRPr>
          </a:p>
          <a:p>
            <a:pPr marL="0" lvl="2" indent="0">
              <a:buFont typeface="Arial" charset="0"/>
              <a:buNone/>
              <a:defRPr/>
            </a:pPr>
            <a:r>
              <a:rPr lang="en-US" altLang="en-US" sz="1400" dirty="0">
                <a:latin typeface="Times New Roman" pitchFamily="18" charset="0"/>
              </a:rPr>
              <a:t>Then we contemplated the Pinto case and contrasted commercial and moral imperatives. We spoke about the risk utility test and compared technical standards with moral standards. </a:t>
            </a:r>
          </a:p>
          <a:p>
            <a:pPr marL="0" lvl="2" indent="0">
              <a:buFont typeface="Arial" charset="0"/>
              <a:buNone/>
              <a:defRPr/>
            </a:pPr>
            <a:endParaRPr lang="en-US" altLang="en-US" sz="1400" dirty="0">
              <a:latin typeface="Times New Roman" pitchFamily="18" charset="0"/>
            </a:endParaRPr>
          </a:p>
          <a:p>
            <a:pPr marL="0" lvl="2" indent="0">
              <a:buFont typeface="Arial" charset="0"/>
              <a:buNone/>
              <a:defRPr/>
            </a:pPr>
            <a:r>
              <a:rPr lang="en-US" altLang="en-US" sz="1400" dirty="0">
                <a:latin typeface="Times New Roman" pitchFamily="18" charset="0"/>
              </a:rPr>
              <a:t>Consider the Ford engineers</a:t>
            </a:r>
          </a:p>
          <a:p>
            <a:pPr marL="0" lvl="2" indent="0">
              <a:buFont typeface="Arial" charset="0"/>
              <a:buNone/>
              <a:defRPr/>
            </a:pPr>
            <a:r>
              <a:rPr lang="en-US" altLang="en-US" sz="1400" dirty="0">
                <a:latin typeface="Times New Roman" pitchFamily="18" charset="0"/>
              </a:rPr>
              <a:t>Given the sort of things they were complicit in – the rushed production schedule, the compromising of safety for the sake of other product objectives, etc. –  it seems hard to resist the thought that they failed to live up to their duty of care.</a:t>
            </a:r>
          </a:p>
          <a:p>
            <a:pPr marL="0" lvl="2" indent="0">
              <a:buFont typeface="Arial" charset="0"/>
              <a:buNone/>
              <a:defRPr/>
            </a:pPr>
            <a:endParaRPr lang="en-US" altLang="en-US" sz="1400" dirty="0">
              <a:latin typeface="Times New Roman" pitchFamily="18" charset="0"/>
            </a:endParaRPr>
          </a:p>
          <a:p>
            <a:pPr marL="0" lvl="2" indent="0">
              <a:buFont typeface="Arial" charset="0"/>
              <a:buNone/>
              <a:defRPr/>
            </a:pPr>
            <a:r>
              <a:rPr lang="en-US" altLang="en-US" sz="1400" dirty="0">
                <a:latin typeface="Times New Roman" pitchFamily="18" charset="0"/>
              </a:rPr>
              <a:t>A tougher situation for the Shuttle engineers, but surely at a minimum the astronauts deserved to know the issues with he shuttle so they could make an informed decision. </a:t>
            </a:r>
          </a:p>
          <a:p>
            <a:pPr marL="0" lvl="2" indent="0">
              <a:buFont typeface="Arial" charset="0"/>
              <a:buNone/>
              <a:defRPr/>
            </a:pPr>
            <a:endParaRPr lang="en-US" altLang="en-US" sz="1400" dirty="0">
              <a:latin typeface="Times New Roman" pitchFamily="18" charset="0"/>
            </a:endParaRPr>
          </a:p>
          <a:p>
            <a:pPr marL="0" lvl="2" indent="0">
              <a:buFont typeface="Arial" charset="0"/>
              <a:buNone/>
              <a:defRPr/>
            </a:pPr>
            <a:r>
              <a:rPr lang="en-US" altLang="en-US" sz="1400" dirty="0">
                <a:latin typeface="Times New Roman" pitchFamily="18" charset="0"/>
              </a:rPr>
              <a:t>And perhaps if the engineers at Boeing had done a professional ethics course and learned about the Pinto and Shuttle, we would not have had the Max 737 disaster. </a:t>
            </a:r>
          </a:p>
          <a:p>
            <a:pPr marL="0" lvl="2" indent="0">
              <a:buFont typeface="Arial" charset="0"/>
              <a:buNone/>
              <a:defRPr/>
            </a:pPr>
            <a:endParaRPr lang="en-US" altLang="en-US" dirty="0">
              <a:latin typeface="Times New Roman" pitchFamily="18" charset="0"/>
            </a:endParaRPr>
          </a:p>
        </p:txBody>
      </p:sp>
    </p:spTree>
    <p:extLst>
      <p:ext uri="{BB962C8B-B14F-4D97-AF65-F5344CB8AC3E}">
        <p14:creationId xmlns:p14="http://schemas.microsoft.com/office/powerpoint/2010/main" val="6824345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85725" y="2448048"/>
            <a:ext cx="677227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defRPr/>
            </a:pPr>
            <a:endParaRPr lang="en-US" altLang="en-US" dirty="0"/>
          </a:p>
        </p:txBody>
      </p:sp>
    </p:spTree>
    <p:extLst>
      <p:ext uri="{BB962C8B-B14F-4D97-AF65-F5344CB8AC3E}">
        <p14:creationId xmlns:p14="http://schemas.microsoft.com/office/powerpoint/2010/main" val="3340198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7" name="Rectangle 2"/>
          <p:cNvSpPr>
            <a:spLocks noGrp="1" noChangeArrowheads="1"/>
          </p:cNvSpPr>
          <p:nvPr>
            <p:ph type="body" idx="1"/>
          </p:nvPr>
        </p:nvSpPr>
        <p:spPr>
          <a:xfrm>
            <a:off x="306388" y="2448048"/>
            <a:ext cx="6551612" cy="7356930"/>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panose="020B0604020202020204" pitchFamily="34" charset="0"/>
              <a:buNone/>
            </a:pPr>
            <a:r>
              <a:rPr lang="en-US" altLang="en-US" sz="1400" dirty="0">
                <a:latin typeface="Times New Roman" panose="02020603050405020304" pitchFamily="18" charset="0"/>
              </a:rPr>
              <a:t>Whistle blowing (read slide)</a:t>
            </a:r>
          </a:p>
          <a:p>
            <a:pPr marL="0" lvl="2" indent="0">
              <a:buFont typeface="Arial" panose="020B0604020202020204" pitchFamily="34" charset="0"/>
              <a:buNone/>
            </a:pPr>
            <a:endParaRPr lang="en-US" altLang="en-US" sz="1400" dirty="0">
              <a:latin typeface="Times New Roman" panose="02020603050405020304" pitchFamily="18" charset="0"/>
            </a:endParaRPr>
          </a:p>
          <a:p>
            <a:pPr marL="0" lvl="2" indent="0">
              <a:buFont typeface="Arial" panose="020B0604020202020204" pitchFamily="34" charset="0"/>
              <a:buNone/>
            </a:pPr>
            <a:r>
              <a:rPr lang="en-US" altLang="en-US" sz="1400" dirty="0">
                <a:latin typeface="Times New Roman" panose="02020603050405020304" pitchFamily="18" charset="0"/>
              </a:rPr>
              <a:t>We do not need to put the interests of our employer ahead of the well being of our community and the public good. This is made explicit in our code of ethics, which attempt to codify our duty of care and moral obligations. They bridge the gap between our moral obligations and non-moral job specifications.</a:t>
            </a:r>
          </a:p>
          <a:p>
            <a:pPr marL="0" lvl="2" indent="0">
              <a:buFont typeface="Arial" panose="020B0604020202020204" pitchFamily="34" charset="0"/>
              <a:buNone/>
            </a:pPr>
            <a:endParaRPr lang="en-US" altLang="en-US" sz="1400" dirty="0">
              <a:latin typeface="Times New Roman" panose="02020603050405020304" pitchFamily="18" charset="0"/>
            </a:endParaRPr>
          </a:p>
          <a:p>
            <a:pPr marL="0" lvl="2" indent="0">
              <a:buFont typeface="Arial" panose="020B0604020202020204" pitchFamily="34" charset="0"/>
              <a:buNone/>
            </a:pPr>
            <a:r>
              <a:rPr lang="en-US" altLang="en-US" sz="1400" dirty="0">
                <a:latin typeface="Times New Roman" panose="02020603050405020304" pitchFamily="18" charset="0"/>
              </a:rPr>
              <a:t>Looking at some relevant tenets of engineering codes we note here that tenet 1 of </a:t>
            </a:r>
            <a:r>
              <a:rPr lang="en-US" altLang="en-US" sz="1400" b="1" dirty="0">
                <a:latin typeface="Times New Roman" panose="02020603050405020304" pitchFamily="18" charset="0"/>
              </a:rPr>
              <a:t>Consult Australia </a:t>
            </a:r>
            <a:r>
              <a:rPr lang="en-US" altLang="en-US" sz="1400" dirty="0">
                <a:latin typeface="Times New Roman" panose="02020603050405020304" pitchFamily="18" charset="0"/>
              </a:rPr>
              <a:t>and 4.2 of </a:t>
            </a:r>
            <a:r>
              <a:rPr lang="en-US" altLang="en-US" sz="1400" b="1" dirty="0">
                <a:latin typeface="Times New Roman" panose="02020603050405020304" pitchFamily="18" charset="0"/>
              </a:rPr>
              <a:t>Engineers Australia </a:t>
            </a:r>
            <a:r>
              <a:rPr lang="en-US" altLang="en-US" sz="1400" dirty="0">
                <a:latin typeface="Times New Roman" panose="02020603050405020304" pitchFamily="18" charset="0"/>
              </a:rPr>
              <a:t>most closely correlates to the central ethical and legal notion of an engineer’s ‘Duty of Care’.</a:t>
            </a:r>
          </a:p>
          <a:p>
            <a:pPr marL="0" lvl="2" indent="0">
              <a:buFont typeface="Arial" panose="020B0604020202020204" pitchFamily="34" charset="0"/>
              <a:buNone/>
            </a:pPr>
            <a:endParaRPr lang="en-US" altLang="en-US" sz="1400" dirty="0">
              <a:latin typeface="Times New Roman" panose="02020603050405020304" pitchFamily="18" charset="0"/>
            </a:endParaRPr>
          </a:p>
          <a:p>
            <a:pPr marL="0" lvl="2" indent="0">
              <a:buFont typeface="Arial" panose="020B0604020202020204" pitchFamily="34" charset="0"/>
              <a:buNone/>
            </a:pPr>
            <a:r>
              <a:rPr lang="en-US" altLang="en-US" sz="1400" dirty="0">
                <a:latin typeface="Times New Roman" panose="02020603050405020304" pitchFamily="18" charset="0"/>
              </a:rPr>
              <a:t>	</a:t>
            </a:r>
            <a:r>
              <a:rPr lang="en-US" altLang="en-US" sz="1400" b="1" dirty="0">
                <a:latin typeface="Times New Roman" panose="02020603050405020304" pitchFamily="18" charset="0"/>
              </a:rPr>
              <a:t>The duty of care requires that individual persons should take care not to act in ways which any reasonable person could foresee might harm others.  Do not use a legal definition of this concept when discussing ethics. </a:t>
            </a:r>
          </a:p>
          <a:p>
            <a:pPr marL="0" lvl="2" indent="0">
              <a:buFont typeface="Arial" panose="020B0604020202020204" pitchFamily="34" charset="0"/>
              <a:buNone/>
            </a:pPr>
            <a:endParaRPr lang="en-US" altLang="en-US" sz="1400" dirty="0">
              <a:latin typeface="Times New Roman" panose="02020603050405020304" pitchFamily="18" charset="0"/>
            </a:endParaRPr>
          </a:p>
          <a:p>
            <a:pPr marL="0" lvl="2" indent="0">
              <a:buFont typeface="Arial" panose="020B0604020202020204" pitchFamily="34" charset="0"/>
              <a:buNone/>
            </a:pPr>
            <a:r>
              <a:rPr lang="en-US" altLang="en-US" sz="1400" dirty="0">
                <a:latin typeface="Times New Roman" panose="02020603050405020304" pitchFamily="18" charset="0"/>
              </a:rPr>
              <a:t>And tenet 9 hints at our responsibilities around whistleblowing and ethical design and in the case studies we considered it suggests the engineers should have refused the assigned work and, possibly, blown the whistle.</a:t>
            </a:r>
          </a:p>
          <a:p>
            <a:pPr marL="0" lvl="2" indent="0">
              <a:buFont typeface="Arial" panose="020B0604020202020204" pitchFamily="34" charset="0"/>
              <a:buNone/>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34051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a:xfrm>
            <a:off x="962025" y="750888"/>
            <a:ext cx="4933950" cy="370205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Rectangle 2"/>
          <p:cNvSpPr>
            <a:spLocks noGrp="1" noChangeArrowheads="1"/>
          </p:cNvSpPr>
          <p:nvPr>
            <p:ph type="body" idx="1"/>
          </p:nvPr>
        </p:nvSpPr>
        <p:spPr>
          <a:xfrm>
            <a:off x="685483" y="4690070"/>
            <a:ext cx="5487041" cy="4900023"/>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kumimoji="0" lang="en-US" sz="1200" b="0" i="0" u="none" strike="noStrike" kern="1200" cap="none" spc="0" normalizeH="0" baseline="0" noProof="0" dirty="0">
                <a:ln>
                  <a:noFill/>
                </a:ln>
                <a:solidFill>
                  <a:srgbClr val="000000"/>
                </a:solidFill>
                <a:effectLst/>
                <a:uLnTx/>
                <a:uFillTx/>
                <a:latin typeface="Times New Roman" pitchFamily="16" charset="0"/>
                <a:ea typeface="+mn-ea"/>
                <a:cs typeface="+mn-cs"/>
              </a:rPr>
              <a:t>A key concept associated with professional ethics is responsibility. And I am trying to shift your thinking away from the negative idea of responsibility as liability toward positive responsibility where we consider how our actions impact others. This requires us to fulfill 4 conditions:</a:t>
            </a:r>
            <a:endParaRPr kumimoji="0" lang="en-AU" sz="1200" b="0" i="0" u="none" strike="noStrike" kern="1200" cap="none" spc="0" normalizeH="0" baseline="0" noProof="0" dirty="0">
              <a:ln>
                <a:noFill/>
              </a:ln>
              <a:solidFill>
                <a:srgbClr val="000000"/>
              </a:solidFill>
              <a:effectLst/>
              <a:uLnTx/>
              <a:uFillTx/>
              <a:latin typeface="Times New Roman" pitchFamily="16" charset="0"/>
              <a:ea typeface="+mn-ea"/>
              <a:cs typeface="+mn-cs"/>
            </a:endParaRPr>
          </a:p>
          <a:p>
            <a:pPr marL="0" marR="0" lvl="2"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endParaRPr kumimoji="0" lang="en-US" altLang="en-US" sz="1400" b="0" i="0" u="none" strike="noStrike" kern="1200" cap="none" spc="0" normalizeH="0" baseline="0" noProof="0" dirty="0">
              <a:ln>
                <a:noFill/>
              </a:ln>
              <a:solidFill>
                <a:srgbClr val="000000"/>
              </a:solidFill>
              <a:effectLst/>
              <a:uLnTx/>
              <a:uFillTx/>
              <a:latin typeface="Times New Roman" pitchFamily="16" charset="0"/>
              <a:ea typeface="+mn-ea"/>
              <a:cs typeface="+mn-cs"/>
            </a:endParaRPr>
          </a:p>
        </p:txBody>
      </p:sp>
    </p:spTree>
    <p:extLst>
      <p:ext uri="{BB962C8B-B14F-4D97-AF65-F5344CB8AC3E}">
        <p14:creationId xmlns:p14="http://schemas.microsoft.com/office/powerpoint/2010/main" val="763456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3:notes"/>
          <p:cNvSpPr>
            <a:spLocks noGrp="1" noRot="1" noChangeAspect="1"/>
          </p:cNvSpPr>
          <p:nvPr>
            <p:ph type="sldImg" idx="2"/>
          </p:nvPr>
        </p:nvSpPr>
        <p:spPr>
          <a:xfrm>
            <a:off x="1147763" y="1233488"/>
            <a:ext cx="4440237"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23: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a:buNone/>
            </a:pPr>
            <a:r>
              <a:rPr lang="en-US" dirty="0"/>
              <a:t>See this reading.</a:t>
            </a:r>
          </a:p>
          <a:p>
            <a:pPr marL="0" lvl="0" indent="0" algn="l" rtl="0">
              <a:lnSpc>
                <a:spcPct val="100000"/>
              </a:lnSpc>
              <a:spcBef>
                <a:spcPts val="0"/>
              </a:spcBef>
              <a:spcAft>
                <a:spcPts val="0"/>
              </a:spcAft>
              <a:buClr>
                <a:schemeClr val="dk1"/>
              </a:buClr>
              <a:buSzPts val="1200"/>
              <a:buFont typeface="Arial"/>
              <a:buNone/>
            </a:pPr>
            <a:endParaRPr lang="en-US" dirty="0"/>
          </a:p>
          <a:p>
            <a:pPr marL="0" lvl="0" indent="0" algn="l" rtl="0">
              <a:lnSpc>
                <a:spcPct val="100000"/>
              </a:lnSpc>
              <a:spcBef>
                <a:spcPts val="0"/>
              </a:spcBef>
              <a:spcAft>
                <a:spcPts val="0"/>
              </a:spcAft>
              <a:buClr>
                <a:schemeClr val="dk1"/>
              </a:buClr>
              <a:buSzPts val="1200"/>
              <a:buFont typeface="Arial"/>
              <a:buNone/>
            </a:pPr>
            <a:r>
              <a:rPr lang="en-US" dirty="0"/>
              <a:t>An ethical design is the best version of something.</a:t>
            </a:r>
            <a:endParaRPr dirty="0"/>
          </a:p>
        </p:txBody>
      </p:sp>
      <p:sp>
        <p:nvSpPr>
          <p:cNvPr id="441" name="Google Shape;441;p23: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marR="0" lvl="0" indent="0" algn="r" defTabSz="449263" rtl="0" eaLnBrk="0" fontAlgn="base" latinLnBrk="0" hangingPunct="0">
              <a:lnSpc>
                <a:spcPct val="100000"/>
              </a:lnSpc>
              <a:spcBef>
                <a:spcPts val="0"/>
              </a:spcBef>
              <a:spcAft>
                <a:spcPts val="0"/>
              </a:spcAft>
              <a:buClrTx/>
              <a:buSzPts val="1400"/>
              <a:buFontTx/>
              <a:buNone/>
              <a:tabLst/>
              <a:defRPr/>
            </a:pPr>
            <a:fld id="{00000000-1234-1234-1234-123412341234}" type="slidenum">
              <a:rPr kumimoji="0" lang="en-US" sz="1800" b="0" i="0" u="none" strike="noStrike" kern="1200" cap="none" spc="0" normalizeH="0" baseline="0" noProof="0">
                <a:ln>
                  <a:noFill/>
                </a:ln>
                <a:solidFill>
                  <a:srgbClr val="FFFFFF"/>
                </a:solidFill>
                <a:effectLst/>
                <a:uLnTx/>
                <a:uFillTx/>
                <a:latin typeface="Georgia" panose="02040502050405020303" pitchFamily="18" charset="0"/>
                <a:ea typeface="Microsoft YaHei" panose="020B0503020204020204" pitchFamily="34" charset="-122"/>
                <a:cs typeface="+mn-cs"/>
              </a:rPr>
              <a:pPr marL="0" marR="0" lvl="0" indent="0" algn="r" defTabSz="449263" rtl="0" eaLnBrk="0" fontAlgn="base" latinLnBrk="0" hangingPunct="0">
                <a:lnSpc>
                  <a:spcPct val="100000"/>
                </a:lnSpc>
                <a:spcBef>
                  <a:spcPts val="0"/>
                </a:spcBef>
                <a:spcAft>
                  <a:spcPts val="0"/>
                </a:spcAft>
                <a:buClrTx/>
                <a:buSzPts val="1400"/>
                <a:buFontTx/>
                <a:buNone/>
                <a:tabLst/>
                <a:defRPr/>
              </a:pPr>
              <a:t>36</a:t>
            </a:fld>
            <a:endParaRPr kumimoji="0" sz="1800" b="0" i="0" u="none" strike="noStrike" kern="1200" cap="none" spc="0" normalizeH="0" baseline="0" noProof="0">
              <a:ln>
                <a:noFill/>
              </a:ln>
              <a:solidFill>
                <a:srgbClr val="FFFFFF"/>
              </a:solidFill>
              <a:effectLst/>
              <a:uLnTx/>
              <a:uFillTx/>
              <a:latin typeface="Georgia" panose="02040502050405020303" pitchFamily="18" charset="0"/>
              <a:ea typeface="Microsoft YaHei" panose="020B0503020204020204" pitchFamily="34"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notes"/>
          <p:cNvSpPr txBox="1">
            <a:spLocks noGrp="1"/>
          </p:cNvSpPr>
          <p:nvPr>
            <p:ph type="sldNum" idx="12"/>
          </p:nvPr>
        </p:nvSpPr>
        <p:spPr>
          <a:xfrm>
            <a:off x="3884613" y="9377317"/>
            <a:ext cx="2971800" cy="493633"/>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fld id="{00000000-1234-1234-1234-123412341234}" type="slidenum">
              <a:rPr kumimoji="0" lang="en-AU" sz="1800" b="0" i="0" u="none" strike="noStrike" kern="1200" cap="none" spc="0" normalizeH="0" baseline="0" noProof="0">
                <a:ln>
                  <a:noFill/>
                </a:ln>
                <a:solidFill>
                  <a:srgbClr val="FFFFFF"/>
                </a:solidFill>
                <a:effectLst/>
                <a:uLnTx/>
                <a:uFillTx/>
                <a:latin typeface="Arial"/>
                <a:ea typeface="Arial"/>
                <a:cs typeface="Arial"/>
                <a:sym typeface="Arial"/>
              </a:rPr>
              <a:pPr marL="0" marR="0" lvl="0" indent="0" algn="l" defTabSz="914400" rtl="0" eaLnBrk="1" fontAlgn="base" latinLnBrk="0" hangingPunct="1">
                <a:lnSpc>
                  <a:spcPct val="100000"/>
                </a:lnSpc>
                <a:spcBef>
                  <a:spcPts val="0"/>
                </a:spcBef>
                <a:spcAft>
                  <a:spcPts val="0"/>
                </a:spcAft>
                <a:buClrTx/>
                <a:buSzTx/>
                <a:buFontTx/>
                <a:buNone/>
                <a:tabLst/>
                <a:defRPr/>
              </a:pPr>
              <a:t>37</a:t>
            </a:fld>
            <a:endParaRPr kumimoji="0" sz="18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91" name="Google Shape;291;p3:notes"/>
          <p:cNvSpPr>
            <a:spLocks noGrp="1" noRot="1" noChangeAspect="1"/>
          </p:cNvSpPr>
          <p:nvPr>
            <p:ph type="sldImg" idx="2"/>
          </p:nvPr>
        </p:nvSpPr>
        <p:spPr>
          <a:xfrm>
            <a:off x="0" y="75723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3:notes"/>
          <p:cNvSpPr txBox="1">
            <a:spLocks noGrp="1"/>
          </p:cNvSpPr>
          <p:nvPr>
            <p:ph type="body" idx="1"/>
          </p:nvPr>
        </p:nvSpPr>
        <p:spPr>
          <a:xfrm>
            <a:off x="685479" y="4724760"/>
            <a:ext cx="5485440" cy="4473492"/>
          </a:xfrm>
          <a:prstGeom prst="rect">
            <a:avLst/>
          </a:prstGeom>
          <a:noFill/>
          <a:ln>
            <a:noFill/>
          </a:ln>
        </p:spPr>
        <p:txBody>
          <a:bodyPr spcFirstLastPara="1" wrap="square" lIns="0" tIns="0" rIns="0" bIns="0" anchor="t" anchorCtr="0">
            <a:noAutofit/>
          </a:bodyPr>
          <a:lstStyle/>
          <a:p>
            <a:pPr marL="0" lvl="0" indent="0" algn="l" rtl="0">
              <a:spcBef>
                <a:spcPts val="42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p:txBody>
      </p:sp>
    </p:spTree>
    <p:extLst>
      <p:ext uri="{BB962C8B-B14F-4D97-AF65-F5344CB8AC3E}">
        <p14:creationId xmlns:p14="http://schemas.microsoft.com/office/powerpoint/2010/main" val="5686844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a:spLocks noGrp="1" noRot="1" noChangeAspect="1"/>
          </p:cNvSpPr>
          <p:nvPr>
            <p:ph type="sldImg" idx="2"/>
          </p:nvPr>
        </p:nvSpPr>
        <p:spPr>
          <a:xfrm>
            <a:off x="1147763" y="1233488"/>
            <a:ext cx="4440237"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14: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400" dirty="0"/>
              <a:t>Read Slide</a:t>
            </a:r>
          </a:p>
          <a:p>
            <a:pPr marL="0" lvl="0" indent="0" algn="l" rtl="0">
              <a:lnSpc>
                <a:spcPct val="100000"/>
              </a:lnSpc>
              <a:spcBef>
                <a:spcPts val="0"/>
              </a:spcBef>
              <a:spcAft>
                <a:spcPts val="0"/>
              </a:spcAft>
              <a:buSzPts val="1400"/>
              <a:buNone/>
            </a:pPr>
            <a:endParaRPr lang="en-US" sz="1400" dirty="0"/>
          </a:p>
          <a:p>
            <a:pPr marL="0" lvl="0" indent="0" algn="l" rtl="0">
              <a:lnSpc>
                <a:spcPct val="100000"/>
              </a:lnSpc>
              <a:spcBef>
                <a:spcPts val="0"/>
              </a:spcBef>
              <a:spcAft>
                <a:spcPts val="0"/>
              </a:spcAft>
              <a:buSzPts val="1400"/>
              <a:buNone/>
            </a:pPr>
            <a:r>
              <a:rPr lang="en-US" sz="1400" dirty="0"/>
              <a:t>Only technologies that serve just goals through acceptable means are ethical.</a:t>
            </a:r>
          </a:p>
          <a:p>
            <a:pPr marL="0" lvl="0" indent="0" algn="l" rtl="0">
              <a:lnSpc>
                <a:spcPct val="100000"/>
              </a:lnSpc>
              <a:spcBef>
                <a:spcPts val="0"/>
              </a:spcBef>
              <a:spcAft>
                <a:spcPts val="0"/>
              </a:spcAft>
              <a:buSzPts val="1400"/>
              <a:buNone/>
            </a:pPr>
            <a:endParaRPr lang="en-US" sz="1400" dirty="0"/>
          </a:p>
          <a:p>
            <a:pPr marL="0" lvl="0" indent="0" algn="l" rtl="0">
              <a:lnSpc>
                <a:spcPct val="100000"/>
              </a:lnSpc>
              <a:spcBef>
                <a:spcPts val="0"/>
              </a:spcBef>
              <a:spcAft>
                <a:spcPts val="0"/>
              </a:spcAft>
              <a:buSzPts val="1400"/>
              <a:buNone/>
            </a:pPr>
            <a:r>
              <a:rPr lang="en-US" sz="1400" dirty="0"/>
              <a:t>Broadly speaking, there are 3 key things to consider in ethical design.</a:t>
            </a:r>
          </a:p>
          <a:p>
            <a:pPr marL="0" lvl="0" indent="0" algn="l" rtl="0">
              <a:lnSpc>
                <a:spcPct val="100000"/>
              </a:lnSpc>
              <a:spcBef>
                <a:spcPts val="0"/>
              </a:spcBef>
              <a:spcAft>
                <a:spcPts val="0"/>
              </a:spcAft>
              <a:buSzPts val="1400"/>
              <a:buNone/>
            </a:pPr>
            <a:endParaRPr lang="en-US" sz="1400" dirty="0"/>
          </a:p>
          <a:p>
            <a:pPr marL="0" lvl="0" indent="0" algn="l" rtl="0">
              <a:lnSpc>
                <a:spcPct val="100000"/>
              </a:lnSpc>
              <a:spcBef>
                <a:spcPts val="0"/>
              </a:spcBef>
              <a:spcAft>
                <a:spcPts val="0"/>
              </a:spcAft>
              <a:buSzPts val="1400"/>
              <a:buNone/>
            </a:pPr>
            <a:r>
              <a:rPr lang="en-US" sz="1400" dirty="0"/>
              <a:t>The goals, Means, and ends. </a:t>
            </a:r>
            <a:endParaRPr sz="1400" dirty="0"/>
          </a:p>
        </p:txBody>
      </p:sp>
      <p:sp>
        <p:nvSpPr>
          <p:cNvPr id="287" name="Google Shape;287;p14: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marR="0" lvl="0" indent="0" algn="r" defTabSz="449263" rtl="0" eaLnBrk="0" fontAlgn="base" latinLnBrk="0" hangingPunct="0">
              <a:lnSpc>
                <a:spcPct val="100000"/>
              </a:lnSpc>
              <a:spcBef>
                <a:spcPts val="0"/>
              </a:spcBef>
              <a:spcAft>
                <a:spcPts val="0"/>
              </a:spcAft>
              <a:buClrTx/>
              <a:buSzPts val="1400"/>
              <a:buFontTx/>
              <a:buNone/>
              <a:tabLst/>
              <a:defRPr/>
            </a:pPr>
            <a:fld id="{00000000-1234-1234-1234-123412341234}" type="slidenum">
              <a:rPr kumimoji="0" lang="en-US" sz="1800" b="0" i="0" u="none" strike="noStrike" kern="1200" cap="none" spc="0" normalizeH="0" baseline="0" noProof="0">
                <a:ln>
                  <a:noFill/>
                </a:ln>
                <a:solidFill>
                  <a:srgbClr val="FFFFFF"/>
                </a:solidFill>
                <a:effectLst/>
                <a:uLnTx/>
                <a:uFillTx/>
                <a:latin typeface="Georgia" panose="02040502050405020303" pitchFamily="18" charset="0"/>
                <a:ea typeface="Microsoft YaHei" panose="020B0503020204020204" pitchFamily="34" charset="-122"/>
                <a:cs typeface="+mn-cs"/>
              </a:rPr>
              <a:pPr marL="0" marR="0" lvl="0" indent="0" algn="r" defTabSz="449263" rtl="0" eaLnBrk="0" fontAlgn="base" latinLnBrk="0" hangingPunct="0">
                <a:lnSpc>
                  <a:spcPct val="100000"/>
                </a:lnSpc>
                <a:spcBef>
                  <a:spcPts val="0"/>
                </a:spcBef>
                <a:spcAft>
                  <a:spcPts val="0"/>
                </a:spcAft>
                <a:buClrTx/>
                <a:buSzPts val="1400"/>
                <a:buFontTx/>
                <a:buNone/>
                <a:tabLst/>
                <a:defRPr/>
              </a:pPr>
              <a:t>38</a:t>
            </a:fld>
            <a:endParaRPr kumimoji="0" sz="1800" b="0" i="0" u="none" strike="noStrike" kern="1200" cap="none" spc="0" normalizeH="0" baseline="0" noProof="0">
              <a:ln>
                <a:noFill/>
              </a:ln>
              <a:solidFill>
                <a:srgbClr val="FFFFFF"/>
              </a:solidFill>
              <a:effectLst/>
              <a:uLnTx/>
              <a:uFillTx/>
              <a:latin typeface="Georgia" panose="02040502050405020303" pitchFamily="18" charset="0"/>
              <a:ea typeface="Microsoft YaHei" panose="020B0503020204020204" pitchFamily="34"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5:notes"/>
          <p:cNvSpPr>
            <a:spLocks noGrp="1" noRot="1" noChangeAspect="1"/>
          </p:cNvSpPr>
          <p:nvPr>
            <p:ph type="sldImg" idx="2"/>
          </p:nvPr>
        </p:nvSpPr>
        <p:spPr>
          <a:xfrm>
            <a:off x="1147763" y="1233488"/>
            <a:ext cx="4440237"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5: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dirty="0"/>
              <a:t>It is not enough to consider the intended effects; we must also be responsible for other foreseeable impacts. </a:t>
            </a:r>
            <a:endParaRPr dirty="0"/>
          </a:p>
          <a:p>
            <a:pPr marL="0" lvl="0" indent="0" algn="l" rtl="0">
              <a:lnSpc>
                <a:spcPct val="100000"/>
              </a:lnSpc>
              <a:spcBef>
                <a:spcPts val="0"/>
              </a:spcBef>
              <a:spcAft>
                <a:spcPts val="0"/>
              </a:spcAft>
              <a:buSzPts val="1400"/>
              <a:buNone/>
            </a:pPr>
            <a:endParaRPr dirty="0"/>
          </a:p>
        </p:txBody>
      </p:sp>
      <p:sp>
        <p:nvSpPr>
          <p:cNvPr id="303" name="Google Shape;303;p15: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marR="0" lvl="0" indent="0" algn="r" defTabSz="449263" rtl="0" eaLnBrk="0" fontAlgn="base" latinLnBrk="0" hangingPunct="0">
              <a:lnSpc>
                <a:spcPct val="100000"/>
              </a:lnSpc>
              <a:spcBef>
                <a:spcPts val="0"/>
              </a:spcBef>
              <a:spcAft>
                <a:spcPts val="0"/>
              </a:spcAft>
              <a:buClrTx/>
              <a:buSzPts val="1400"/>
              <a:buFontTx/>
              <a:buNone/>
              <a:tabLst/>
              <a:defRPr/>
            </a:pPr>
            <a:fld id="{00000000-1234-1234-1234-123412341234}" type="slidenum">
              <a:rPr kumimoji="0" lang="en-US" sz="1800" b="0" i="0" u="none" strike="noStrike" kern="1200" cap="none" spc="0" normalizeH="0" baseline="0" noProof="0">
                <a:ln>
                  <a:noFill/>
                </a:ln>
                <a:solidFill>
                  <a:srgbClr val="FFFFFF"/>
                </a:solidFill>
                <a:effectLst/>
                <a:uLnTx/>
                <a:uFillTx/>
                <a:latin typeface="Georgia" panose="02040502050405020303" pitchFamily="18" charset="0"/>
                <a:ea typeface="Microsoft YaHei" panose="020B0503020204020204" pitchFamily="34" charset="-122"/>
                <a:cs typeface="+mn-cs"/>
              </a:rPr>
              <a:pPr marL="0" marR="0" lvl="0" indent="0" algn="r" defTabSz="449263" rtl="0" eaLnBrk="0" fontAlgn="base" latinLnBrk="0" hangingPunct="0">
                <a:lnSpc>
                  <a:spcPct val="100000"/>
                </a:lnSpc>
                <a:spcBef>
                  <a:spcPts val="0"/>
                </a:spcBef>
                <a:spcAft>
                  <a:spcPts val="0"/>
                </a:spcAft>
                <a:buClrTx/>
                <a:buSzPts val="1400"/>
                <a:buFontTx/>
                <a:buNone/>
                <a:tabLst/>
                <a:defRPr/>
              </a:pPr>
              <a:t>39</a:t>
            </a:fld>
            <a:endParaRPr kumimoji="0" sz="1800" b="0" i="0" u="none" strike="noStrike" kern="1200" cap="none" spc="0" normalizeH="0" baseline="0" noProof="0">
              <a:ln>
                <a:noFill/>
              </a:ln>
              <a:solidFill>
                <a:srgbClr val="FFFFFF"/>
              </a:solidFill>
              <a:effectLst/>
              <a:uLnTx/>
              <a:uFillTx/>
              <a:latin typeface="Georgia" panose="02040502050405020303" pitchFamily="18" charset="0"/>
              <a:ea typeface="Microsoft YaHei" panose="020B0503020204020204" pitchFamily="34"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5" name="Rectangle 2"/>
          <p:cNvSpPr>
            <a:spLocks noGrp="1" noChangeArrowheads="1"/>
          </p:cNvSpPr>
          <p:nvPr>
            <p:ph type="body" idx="1"/>
          </p:nvPr>
        </p:nvSpPr>
        <p:spPr>
          <a:xfrm>
            <a:off x="160339" y="2448048"/>
            <a:ext cx="6537325" cy="7356930"/>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971815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5" name="Rectangle 2"/>
          <p:cNvSpPr>
            <a:spLocks noGrp="1" noChangeArrowheads="1"/>
          </p:cNvSpPr>
          <p:nvPr>
            <p:ph type="body" idx="1"/>
          </p:nvPr>
        </p:nvSpPr>
        <p:spPr>
          <a:xfrm>
            <a:off x="160339" y="2448048"/>
            <a:ext cx="6537325" cy="7356930"/>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760201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aseline="0" dirty="0">
              <a:latin typeface="Times New Roman" pitchFamily="18" charset="0"/>
            </a:endParaRPr>
          </a:p>
        </p:txBody>
      </p:sp>
    </p:spTree>
    <p:extLst>
      <p:ext uri="{BB962C8B-B14F-4D97-AF65-F5344CB8AC3E}">
        <p14:creationId xmlns:p14="http://schemas.microsoft.com/office/powerpoint/2010/main" val="22899058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a:spLocks noGrp="1" noRot="1" noChangeAspect="1" noChangeArrowheads="1" noTextEdit="1"/>
          </p:cNvSpPr>
          <p:nvPr>
            <p:ph type="sldImg"/>
          </p:nvPr>
        </p:nvSpPr>
        <p:spPr>
          <a:xfrm>
            <a:off x="2122488" y="284163"/>
            <a:ext cx="2613025" cy="19605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7" name="Rectangle 2"/>
          <p:cNvSpPr>
            <a:spLocks noGrp="1" noChangeArrowheads="1"/>
          </p:cNvSpPr>
          <p:nvPr>
            <p:ph type="body" idx="1"/>
          </p:nvPr>
        </p:nvSpPr>
        <p:spPr>
          <a:xfrm>
            <a:off x="160339" y="2448048"/>
            <a:ext cx="6537325" cy="7356930"/>
          </a:xfrm>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lvl="2" indent="0">
              <a:buFont typeface="Arial" charset="0"/>
              <a:buNone/>
              <a:defRPr/>
            </a:pPr>
            <a:endParaRPr lang="en-US" altLang="en-US" sz="1400" b="1" baseline="0" dirty="0">
              <a:latin typeface="Times New Roman" pitchFamily="18" charset="0"/>
            </a:endParaRPr>
          </a:p>
        </p:txBody>
      </p:sp>
    </p:spTree>
    <p:extLst>
      <p:ext uri="{BB962C8B-B14F-4D97-AF65-F5344CB8AC3E}">
        <p14:creationId xmlns:p14="http://schemas.microsoft.com/office/powerpoint/2010/main" val="1812935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7AA7-E36B-F66E-96AF-2EC0212A2DE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59ED1DEC-3E26-1519-FF37-FCADF85C773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1D1A371-EB01-8320-3F91-0331CDB725E1}"/>
              </a:ext>
            </a:extLst>
          </p:cNvPr>
          <p:cNvSpPr>
            <a:spLocks noGrp="1"/>
          </p:cNvSpPr>
          <p:nvPr>
            <p:ph type="dt" sz="half" idx="10"/>
          </p:nvPr>
        </p:nvSpPr>
        <p:spPr/>
        <p:txBody>
          <a:bodyPr/>
          <a:lstStyle/>
          <a:p>
            <a:pPr>
              <a:defRPr/>
            </a:pPr>
            <a:endParaRPr lang="en-AU" altLang="en-US"/>
          </a:p>
        </p:txBody>
      </p:sp>
      <p:sp>
        <p:nvSpPr>
          <p:cNvPr id="5" name="Footer Placeholder 4">
            <a:extLst>
              <a:ext uri="{FF2B5EF4-FFF2-40B4-BE49-F238E27FC236}">
                <a16:creationId xmlns:a16="http://schemas.microsoft.com/office/drawing/2014/main" id="{762A9695-730C-A767-71B8-0D92243BB46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FE280A9-EB52-D526-1885-F394991BE794}"/>
              </a:ext>
            </a:extLst>
          </p:cNvPr>
          <p:cNvSpPr>
            <a:spLocks noGrp="1"/>
          </p:cNvSpPr>
          <p:nvPr>
            <p:ph type="sldNum" sz="quarter" idx="12"/>
          </p:nvPr>
        </p:nvSpPr>
        <p:spPr/>
        <p:txBody>
          <a:bodyPr/>
          <a:lstStyle/>
          <a:p>
            <a:pPr>
              <a:defRPr/>
            </a:pPr>
            <a:fld id="{DB047327-2257-4BF7-8697-1BA1C7AC671F}" type="slidenum">
              <a:rPr lang="en-AU" altLang="en-US" smtClean="0"/>
              <a:pPr>
                <a:defRPr/>
              </a:pPr>
              <a:t>‹#›</a:t>
            </a:fld>
            <a:endParaRPr lang="en-AU" altLang="en-US"/>
          </a:p>
        </p:txBody>
      </p:sp>
    </p:spTree>
    <p:extLst>
      <p:ext uri="{BB962C8B-B14F-4D97-AF65-F5344CB8AC3E}">
        <p14:creationId xmlns:p14="http://schemas.microsoft.com/office/powerpoint/2010/main" val="2452096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FA70A-19DB-193A-697E-DBFFA7DB42F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6BDBCD1-0ECB-1E10-A6D0-F08CDCCF7D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CC8894C-3840-B239-FDF0-93F105E8B751}"/>
              </a:ext>
            </a:extLst>
          </p:cNvPr>
          <p:cNvSpPr>
            <a:spLocks noGrp="1"/>
          </p:cNvSpPr>
          <p:nvPr>
            <p:ph type="dt" sz="half" idx="10"/>
          </p:nvPr>
        </p:nvSpPr>
        <p:spPr/>
        <p:txBody>
          <a:bodyPr/>
          <a:lstStyle/>
          <a:p>
            <a:pPr>
              <a:defRPr/>
            </a:pPr>
            <a:endParaRPr lang="en-AU" altLang="en-US"/>
          </a:p>
        </p:txBody>
      </p:sp>
      <p:sp>
        <p:nvSpPr>
          <p:cNvPr id="5" name="Footer Placeholder 4">
            <a:extLst>
              <a:ext uri="{FF2B5EF4-FFF2-40B4-BE49-F238E27FC236}">
                <a16:creationId xmlns:a16="http://schemas.microsoft.com/office/drawing/2014/main" id="{F47F3C97-446F-1779-38D8-B5D61AFC614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F48F4F6-4075-29E3-63DB-6CEC8762D3AA}"/>
              </a:ext>
            </a:extLst>
          </p:cNvPr>
          <p:cNvSpPr>
            <a:spLocks noGrp="1"/>
          </p:cNvSpPr>
          <p:nvPr>
            <p:ph type="sldNum" sz="quarter" idx="12"/>
          </p:nvPr>
        </p:nvSpPr>
        <p:spPr/>
        <p:txBody>
          <a:body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3015946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CC170-77CD-8D6B-1506-6D040670479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31B3E990-CC9A-5782-7AAF-BC5CF629795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9EC5C7-1859-B382-9F87-C61D5FA42D42}"/>
              </a:ext>
            </a:extLst>
          </p:cNvPr>
          <p:cNvSpPr>
            <a:spLocks noGrp="1"/>
          </p:cNvSpPr>
          <p:nvPr>
            <p:ph type="dt" sz="half" idx="10"/>
          </p:nvPr>
        </p:nvSpPr>
        <p:spPr/>
        <p:txBody>
          <a:bodyPr/>
          <a:lstStyle/>
          <a:p>
            <a:pPr>
              <a:defRPr/>
            </a:pPr>
            <a:endParaRPr lang="en-AU" altLang="en-US"/>
          </a:p>
        </p:txBody>
      </p:sp>
      <p:sp>
        <p:nvSpPr>
          <p:cNvPr id="5" name="Footer Placeholder 4">
            <a:extLst>
              <a:ext uri="{FF2B5EF4-FFF2-40B4-BE49-F238E27FC236}">
                <a16:creationId xmlns:a16="http://schemas.microsoft.com/office/drawing/2014/main" id="{BCEB1CFF-AA14-FF17-AB87-4C8696ADA37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1C31294-8F4D-DCAC-7402-35A4BF74484D}"/>
              </a:ext>
            </a:extLst>
          </p:cNvPr>
          <p:cNvSpPr>
            <a:spLocks noGrp="1"/>
          </p:cNvSpPr>
          <p:nvPr>
            <p:ph type="sldNum" sz="quarter" idx="12"/>
          </p:nvPr>
        </p:nvSpPr>
        <p:spPr/>
        <p:txBody>
          <a:bodyPr/>
          <a:lstStyle/>
          <a:p>
            <a:pPr>
              <a:defRPr/>
            </a:pPr>
            <a:fld id="{531C6061-60C9-405D-8D01-32753D118E9C}" type="slidenum">
              <a:rPr lang="en-AU" altLang="en-US" smtClean="0"/>
              <a:pPr>
                <a:defRPr/>
              </a:pPr>
              <a:t>‹#›</a:t>
            </a:fld>
            <a:endParaRPr lang="en-AU" altLang="en-US"/>
          </a:p>
        </p:txBody>
      </p:sp>
    </p:spTree>
    <p:extLst>
      <p:ext uri="{BB962C8B-B14F-4D97-AF65-F5344CB8AC3E}">
        <p14:creationId xmlns:p14="http://schemas.microsoft.com/office/powerpoint/2010/main" val="1546670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D241-F670-B747-472A-3632F3E2C08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202D9F1-83A6-6FEF-3BB9-91F80397182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27DF54F-C374-0B4C-7293-9D59005DC11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4AC3AC1-B204-3C34-F938-0EA0AEED7DAF}"/>
              </a:ext>
            </a:extLst>
          </p:cNvPr>
          <p:cNvSpPr>
            <a:spLocks noGrp="1"/>
          </p:cNvSpPr>
          <p:nvPr>
            <p:ph type="dt" sz="half" idx="10"/>
          </p:nvPr>
        </p:nvSpPr>
        <p:spPr/>
        <p:txBody>
          <a:bodyPr/>
          <a:lstStyle/>
          <a:p>
            <a:pPr>
              <a:defRPr/>
            </a:pPr>
            <a:endParaRPr lang="en-AU" altLang="en-US"/>
          </a:p>
        </p:txBody>
      </p:sp>
      <p:sp>
        <p:nvSpPr>
          <p:cNvPr id="6" name="Footer Placeholder 5">
            <a:extLst>
              <a:ext uri="{FF2B5EF4-FFF2-40B4-BE49-F238E27FC236}">
                <a16:creationId xmlns:a16="http://schemas.microsoft.com/office/drawing/2014/main" id="{BEE75DF7-567F-DF12-75E5-9DE1F016CC0C}"/>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ACD95223-767A-C45D-2325-1B83F80A2E14}"/>
              </a:ext>
            </a:extLst>
          </p:cNvPr>
          <p:cNvSpPr>
            <a:spLocks noGrp="1"/>
          </p:cNvSpPr>
          <p:nvPr>
            <p:ph type="sldNum" sz="quarter" idx="12"/>
          </p:nvPr>
        </p:nvSpPr>
        <p:spPr/>
        <p:txBody>
          <a:body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3037750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70E8C-12CC-2618-E754-59067228E5EA}"/>
              </a:ext>
            </a:extLst>
          </p:cNvPr>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6F7FDF8-FEAB-5508-2B2D-28BAA27071F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C6414-10B2-72FF-81C9-8BACA4E5342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582ABC3-1A5C-8978-7148-E533792361B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88A20A5-F215-09BB-131D-CFC63B0CA5A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F0E43F2A-367B-BD9A-2791-34F82F50422E}"/>
              </a:ext>
            </a:extLst>
          </p:cNvPr>
          <p:cNvSpPr>
            <a:spLocks noGrp="1"/>
          </p:cNvSpPr>
          <p:nvPr>
            <p:ph type="dt" sz="half" idx="10"/>
          </p:nvPr>
        </p:nvSpPr>
        <p:spPr/>
        <p:txBody>
          <a:bodyPr/>
          <a:lstStyle/>
          <a:p>
            <a:pPr>
              <a:defRPr/>
            </a:pPr>
            <a:endParaRPr lang="en-AU" altLang="en-US"/>
          </a:p>
        </p:txBody>
      </p:sp>
      <p:sp>
        <p:nvSpPr>
          <p:cNvPr id="8" name="Footer Placeholder 7">
            <a:extLst>
              <a:ext uri="{FF2B5EF4-FFF2-40B4-BE49-F238E27FC236}">
                <a16:creationId xmlns:a16="http://schemas.microsoft.com/office/drawing/2014/main" id="{9DE5ECFE-983F-4526-2FE8-B9AB5A82A44D}"/>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6AC8E147-B163-1794-FA94-C6150EDB374F}"/>
              </a:ext>
            </a:extLst>
          </p:cNvPr>
          <p:cNvSpPr>
            <a:spLocks noGrp="1"/>
          </p:cNvSpPr>
          <p:nvPr>
            <p:ph type="sldNum" sz="quarter" idx="12"/>
          </p:nvPr>
        </p:nvSpPr>
        <p:spPr/>
        <p:txBody>
          <a:body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3390173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838A-48F6-BA99-10A9-70A698FB98A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10E8A33-D201-A613-B31F-0806BC654B21}"/>
              </a:ext>
            </a:extLst>
          </p:cNvPr>
          <p:cNvSpPr>
            <a:spLocks noGrp="1"/>
          </p:cNvSpPr>
          <p:nvPr>
            <p:ph type="dt" sz="half" idx="10"/>
          </p:nvPr>
        </p:nvSpPr>
        <p:spPr/>
        <p:txBody>
          <a:bodyPr/>
          <a:lstStyle/>
          <a:p>
            <a:pPr>
              <a:defRPr/>
            </a:pPr>
            <a:endParaRPr lang="en-AU" altLang="en-US"/>
          </a:p>
        </p:txBody>
      </p:sp>
      <p:sp>
        <p:nvSpPr>
          <p:cNvPr id="4" name="Footer Placeholder 3">
            <a:extLst>
              <a:ext uri="{FF2B5EF4-FFF2-40B4-BE49-F238E27FC236}">
                <a16:creationId xmlns:a16="http://schemas.microsoft.com/office/drawing/2014/main" id="{E3788EC1-7309-411F-FBE8-1971C592CE81}"/>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2415507A-6F72-5E25-8AA4-13C865FB6011}"/>
              </a:ext>
            </a:extLst>
          </p:cNvPr>
          <p:cNvSpPr>
            <a:spLocks noGrp="1"/>
          </p:cNvSpPr>
          <p:nvPr>
            <p:ph type="sldNum" sz="quarter" idx="12"/>
          </p:nvPr>
        </p:nvSpPr>
        <p:spPr/>
        <p:txBody>
          <a:bodyPr/>
          <a:lstStyle/>
          <a:p>
            <a:pPr>
              <a:defRPr/>
            </a:pPr>
            <a:fld id="{D698DA17-D9CF-421B-99DA-E6C161F80A1D}" type="slidenum">
              <a:rPr lang="en-AU" altLang="en-US" smtClean="0"/>
              <a:pPr>
                <a:defRPr/>
              </a:pPr>
              <a:t>‹#›</a:t>
            </a:fld>
            <a:endParaRPr lang="en-AU" altLang="en-US"/>
          </a:p>
        </p:txBody>
      </p:sp>
    </p:spTree>
    <p:extLst>
      <p:ext uri="{BB962C8B-B14F-4D97-AF65-F5344CB8AC3E}">
        <p14:creationId xmlns:p14="http://schemas.microsoft.com/office/powerpoint/2010/main" val="1700524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1FDF2-2D5E-A6DD-3D47-CD8705D82D59}"/>
              </a:ext>
            </a:extLst>
          </p:cNvPr>
          <p:cNvSpPr>
            <a:spLocks noGrp="1"/>
          </p:cNvSpPr>
          <p:nvPr>
            <p:ph type="dt" sz="half" idx="10"/>
          </p:nvPr>
        </p:nvSpPr>
        <p:spPr/>
        <p:txBody>
          <a:bodyPr/>
          <a:lstStyle/>
          <a:p>
            <a:pPr>
              <a:defRPr/>
            </a:pPr>
            <a:endParaRPr lang="en-AU" altLang="en-US"/>
          </a:p>
        </p:txBody>
      </p:sp>
      <p:sp>
        <p:nvSpPr>
          <p:cNvPr id="3" name="Footer Placeholder 2">
            <a:extLst>
              <a:ext uri="{FF2B5EF4-FFF2-40B4-BE49-F238E27FC236}">
                <a16:creationId xmlns:a16="http://schemas.microsoft.com/office/drawing/2014/main" id="{EF6378AC-8445-0465-B0F6-B6143AFB0166}"/>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1200F659-4F17-BB2C-8BA3-9A5D8629B054}"/>
              </a:ext>
            </a:extLst>
          </p:cNvPr>
          <p:cNvSpPr>
            <a:spLocks noGrp="1"/>
          </p:cNvSpPr>
          <p:nvPr>
            <p:ph type="sldNum" sz="quarter" idx="12"/>
          </p:nvPr>
        </p:nvSpPr>
        <p:spPr/>
        <p:txBody>
          <a:bodyPr/>
          <a:lstStyle/>
          <a:p>
            <a:pPr>
              <a:defRPr/>
            </a:pPr>
            <a:fld id="{8A098422-231F-4BE8-A884-ED03D6722153}" type="slidenum">
              <a:rPr lang="en-AU" altLang="en-US" smtClean="0"/>
              <a:pPr>
                <a:defRPr/>
              </a:pPr>
              <a:t>‹#›</a:t>
            </a:fld>
            <a:endParaRPr lang="en-AU" altLang="en-US"/>
          </a:p>
        </p:txBody>
      </p:sp>
    </p:spTree>
    <p:extLst>
      <p:ext uri="{BB962C8B-B14F-4D97-AF65-F5344CB8AC3E}">
        <p14:creationId xmlns:p14="http://schemas.microsoft.com/office/powerpoint/2010/main" val="2944175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D1516-7F59-C652-BD6F-5459DFB1AA8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707DDA5-895B-0F19-02D6-6C39A07CD6F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A63BB3A-BB4C-2A18-C5AA-4CCA06EB5B7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F7F50CF-B60E-3BBC-6526-0B9171C4CBE1}"/>
              </a:ext>
            </a:extLst>
          </p:cNvPr>
          <p:cNvSpPr>
            <a:spLocks noGrp="1"/>
          </p:cNvSpPr>
          <p:nvPr>
            <p:ph type="dt" sz="half" idx="10"/>
          </p:nvPr>
        </p:nvSpPr>
        <p:spPr/>
        <p:txBody>
          <a:bodyPr/>
          <a:lstStyle/>
          <a:p>
            <a:pPr>
              <a:defRPr/>
            </a:pPr>
            <a:endParaRPr lang="en-AU" altLang="en-US"/>
          </a:p>
        </p:txBody>
      </p:sp>
      <p:sp>
        <p:nvSpPr>
          <p:cNvPr id="6" name="Footer Placeholder 5">
            <a:extLst>
              <a:ext uri="{FF2B5EF4-FFF2-40B4-BE49-F238E27FC236}">
                <a16:creationId xmlns:a16="http://schemas.microsoft.com/office/drawing/2014/main" id="{C830BBAA-4394-6767-E9A1-F5B5AE2B39E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F665723B-DA22-F71D-C579-AB8A4D6DD443}"/>
              </a:ext>
            </a:extLst>
          </p:cNvPr>
          <p:cNvSpPr>
            <a:spLocks noGrp="1"/>
          </p:cNvSpPr>
          <p:nvPr>
            <p:ph type="sldNum" sz="quarter" idx="12"/>
          </p:nvPr>
        </p:nvSpPr>
        <p:spPr/>
        <p:txBody>
          <a:body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4053917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5BC9C-778B-C5D5-B1BD-5B248EAD442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56C6A2A-DFFF-1C98-C0DD-6135B86B2F0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4569E900-5816-1F7C-9480-67860F639AA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127ABD2-E1EB-8AA3-0743-7CCC5E3605C4}"/>
              </a:ext>
            </a:extLst>
          </p:cNvPr>
          <p:cNvSpPr>
            <a:spLocks noGrp="1"/>
          </p:cNvSpPr>
          <p:nvPr>
            <p:ph type="dt" sz="half" idx="10"/>
          </p:nvPr>
        </p:nvSpPr>
        <p:spPr/>
        <p:txBody>
          <a:bodyPr/>
          <a:lstStyle/>
          <a:p>
            <a:pPr>
              <a:defRPr/>
            </a:pPr>
            <a:endParaRPr lang="en-AU" altLang="en-US"/>
          </a:p>
        </p:txBody>
      </p:sp>
      <p:sp>
        <p:nvSpPr>
          <p:cNvPr id="6" name="Footer Placeholder 5">
            <a:extLst>
              <a:ext uri="{FF2B5EF4-FFF2-40B4-BE49-F238E27FC236}">
                <a16:creationId xmlns:a16="http://schemas.microsoft.com/office/drawing/2014/main" id="{B3AB7233-CB87-FD9C-B7C5-28B602D45BE0}"/>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9ED36F0A-A6D5-2D97-B897-36B5BA201F0B}"/>
              </a:ext>
            </a:extLst>
          </p:cNvPr>
          <p:cNvSpPr>
            <a:spLocks noGrp="1"/>
          </p:cNvSpPr>
          <p:nvPr>
            <p:ph type="sldNum" sz="quarter" idx="12"/>
          </p:nvPr>
        </p:nvSpPr>
        <p:spPr/>
        <p:txBody>
          <a:bodyPr/>
          <a:lstStyle/>
          <a:p>
            <a:pPr>
              <a:defRPr/>
            </a:pPr>
            <a:fld id="{7687FF56-AFA2-4D70-95FB-861A8CB628B2}" type="slidenum">
              <a:rPr lang="en-AU" altLang="en-US" smtClean="0"/>
              <a:pPr>
                <a:defRPr/>
              </a:pPr>
              <a:t>‹#›</a:t>
            </a:fld>
            <a:endParaRPr lang="en-AU" altLang="en-US"/>
          </a:p>
        </p:txBody>
      </p:sp>
    </p:spTree>
    <p:extLst>
      <p:ext uri="{BB962C8B-B14F-4D97-AF65-F5344CB8AC3E}">
        <p14:creationId xmlns:p14="http://schemas.microsoft.com/office/powerpoint/2010/main" val="126696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770F2-30E6-6648-0A23-EADADC088A0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D5CED19-5D90-9774-0598-FE4B632E45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04694AB-E779-4B02-A4F2-B89532478602}"/>
              </a:ext>
            </a:extLst>
          </p:cNvPr>
          <p:cNvSpPr>
            <a:spLocks noGrp="1"/>
          </p:cNvSpPr>
          <p:nvPr>
            <p:ph type="dt" sz="half" idx="10"/>
          </p:nvPr>
        </p:nvSpPr>
        <p:spPr/>
        <p:txBody>
          <a:bodyPr/>
          <a:lstStyle/>
          <a:p>
            <a:pPr>
              <a:defRPr/>
            </a:pPr>
            <a:endParaRPr lang="en-AU" altLang="en-US"/>
          </a:p>
        </p:txBody>
      </p:sp>
      <p:sp>
        <p:nvSpPr>
          <p:cNvPr id="5" name="Footer Placeholder 4">
            <a:extLst>
              <a:ext uri="{FF2B5EF4-FFF2-40B4-BE49-F238E27FC236}">
                <a16:creationId xmlns:a16="http://schemas.microsoft.com/office/drawing/2014/main" id="{BC888D72-F735-E9EF-DC2D-E5A879D582FC}"/>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2803895-CA4F-5DA8-BA2F-FE3AC3359C62}"/>
              </a:ext>
            </a:extLst>
          </p:cNvPr>
          <p:cNvSpPr>
            <a:spLocks noGrp="1"/>
          </p:cNvSpPr>
          <p:nvPr>
            <p:ph type="sldNum" sz="quarter" idx="12"/>
          </p:nvPr>
        </p:nvSpPr>
        <p:spPr/>
        <p:txBody>
          <a:body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2221875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4DF07-EC6A-DEB4-3623-912DAE9C8C7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404EAAC-8B00-A5AE-39FC-56C48E075FE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ADB8335-14D2-96F1-5879-663A4393A240}"/>
              </a:ext>
            </a:extLst>
          </p:cNvPr>
          <p:cNvSpPr>
            <a:spLocks noGrp="1"/>
          </p:cNvSpPr>
          <p:nvPr>
            <p:ph type="dt" sz="half" idx="10"/>
          </p:nvPr>
        </p:nvSpPr>
        <p:spPr/>
        <p:txBody>
          <a:bodyPr/>
          <a:lstStyle/>
          <a:p>
            <a:pPr>
              <a:defRPr/>
            </a:pPr>
            <a:endParaRPr lang="en-AU" altLang="en-US"/>
          </a:p>
        </p:txBody>
      </p:sp>
      <p:sp>
        <p:nvSpPr>
          <p:cNvPr id="5" name="Footer Placeholder 4">
            <a:extLst>
              <a:ext uri="{FF2B5EF4-FFF2-40B4-BE49-F238E27FC236}">
                <a16:creationId xmlns:a16="http://schemas.microsoft.com/office/drawing/2014/main" id="{0AA643C4-69E4-FDA7-A376-9FE55013BE4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5DC95B9-1013-C842-4D8C-F9530B9C8F6A}"/>
              </a:ext>
            </a:extLst>
          </p:cNvPr>
          <p:cNvSpPr>
            <a:spLocks noGrp="1"/>
          </p:cNvSpPr>
          <p:nvPr>
            <p:ph type="sldNum" sz="quarter" idx="12"/>
          </p:nvPr>
        </p:nvSpPr>
        <p:spPr/>
        <p:txBody>
          <a:body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3422995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B073-C8E8-188A-1D1F-3BF8BEE4FF9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BE51CE4B-0693-F319-3BA5-6DEE44E62E0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29418EA-1341-EE92-DF62-46B59AE2CD33}"/>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5" name="Footer Placeholder 4">
            <a:extLst>
              <a:ext uri="{FF2B5EF4-FFF2-40B4-BE49-F238E27FC236}">
                <a16:creationId xmlns:a16="http://schemas.microsoft.com/office/drawing/2014/main" id="{96C02190-7FEA-7AE5-EAB0-6BFF7023EFC6}"/>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6" name="Slide Number Placeholder 5">
            <a:extLst>
              <a:ext uri="{FF2B5EF4-FFF2-40B4-BE49-F238E27FC236}">
                <a16:creationId xmlns:a16="http://schemas.microsoft.com/office/drawing/2014/main" id="{DF2BACD3-0E0C-6CD8-5EDE-0721190D0B90}"/>
              </a:ext>
            </a:extLst>
          </p:cNvPr>
          <p:cNvSpPr>
            <a:spLocks noGrp="1"/>
          </p:cNvSpPr>
          <p:nvPr>
            <p:ph type="sldNum" sz="quarter" idx="12"/>
          </p:nvPr>
        </p:nvSpPr>
        <p:spPr/>
        <p:txBody>
          <a:bodyPr/>
          <a:lstStyle/>
          <a:p>
            <a:pPr>
              <a:defRPr/>
            </a:pPr>
            <a:fld id="{C06535FA-C773-4FFC-A3BC-140F395820A5}"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2478493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25ED-A40D-23A3-F026-8F3E97D805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82EE367-97C6-0C35-00D5-B8B88E3198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9FE7E7-F535-7E25-3B27-1F5DA9BAB3BC}"/>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5" name="Footer Placeholder 4">
            <a:extLst>
              <a:ext uri="{FF2B5EF4-FFF2-40B4-BE49-F238E27FC236}">
                <a16:creationId xmlns:a16="http://schemas.microsoft.com/office/drawing/2014/main" id="{5C3C51F4-211C-709B-2E6F-64C99B77F6A2}"/>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6" name="Slide Number Placeholder 5">
            <a:extLst>
              <a:ext uri="{FF2B5EF4-FFF2-40B4-BE49-F238E27FC236}">
                <a16:creationId xmlns:a16="http://schemas.microsoft.com/office/drawing/2014/main" id="{470F2A44-90CF-6383-72B9-DD0228A059E4}"/>
              </a:ext>
            </a:extLst>
          </p:cNvPr>
          <p:cNvSpPr>
            <a:spLocks noGrp="1"/>
          </p:cNvSpPr>
          <p:nvPr>
            <p:ph type="sldNum" sz="quarter" idx="12"/>
          </p:nvPr>
        </p:nvSpPr>
        <p:spPr/>
        <p:txBody>
          <a:bodyPr/>
          <a:lstStyle/>
          <a:p>
            <a:pPr>
              <a:defRPr/>
            </a:pPr>
            <a:fld id="{A517C363-2975-46E0-89CA-DCFD9B084D15}"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4063520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66A5E-8BFD-05B1-FF6C-FC81C8EE29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4DC44244-BFEF-1A8D-C8F7-CEA61790AF1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26E5FB-269B-73F2-4D80-0F228E9A1CF1}"/>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5" name="Footer Placeholder 4">
            <a:extLst>
              <a:ext uri="{FF2B5EF4-FFF2-40B4-BE49-F238E27FC236}">
                <a16:creationId xmlns:a16="http://schemas.microsoft.com/office/drawing/2014/main" id="{A4AC37B4-F166-21EB-54EC-74DB49885869}"/>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6" name="Slide Number Placeholder 5">
            <a:extLst>
              <a:ext uri="{FF2B5EF4-FFF2-40B4-BE49-F238E27FC236}">
                <a16:creationId xmlns:a16="http://schemas.microsoft.com/office/drawing/2014/main" id="{66CFAC2B-7EB7-6D7B-2460-BDDBB331CA41}"/>
              </a:ext>
            </a:extLst>
          </p:cNvPr>
          <p:cNvSpPr>
            <a:spLocks noGrp="1"/>
          </p:cNvSpPr>
          <p:nvPr>
            <p:ph type="sldNum" sz="quarter" idx="12"/>
          </p:nvPr>
        </p:nvSpPr>
        <p:spPr/>
        <p:txBody>
          <a:bodyPr/>
          <a:lstStyle/>
          <a:p>
            <a:pPr>
              <a:defRPr/>
            </a:pPr>
            <a:fld id="{4EFABD9F-4646-4AA9-BCBA-39A110563DC1}"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3702501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639C-A91E-0F1A-7B19-CFBB4527C2D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B64FB2A-6290-F1E2-D662-67847BD8D04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58BD2EB4-396A-DF3B-BB33-471709E175F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AEA63F4-7532-0E31-95DD-31196467C825}"/>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6" name="Footer Placeholder 5">
            <a:extLst>
              <a:ext uri="{FF2B5EF4-FFF2-40B4-BE49-F238E27FC236}">
                <a16:creationId xmlns:a16="http://schemas.microsoft.com/office/drawing/2014/main" id="{90FF889B-F690-EE44-3479-521CF8D9FDA2}"/>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7" name="Slide Number Placeholder 6">
            <a:extLst>
              <a:ext uri="{FF2B5EF4-FFF2-40B4-BE49-F238E27FC236}">
                <a16:creationId xmlns:a16="http://schemas.microsoft.com/office/drawing/2014/main" id="{8FC1D2FC-CBE3-7058-5344-8EF103AFF3A7}"/>
              </a:ext>
            </a:extLst>
          </p:cNvPr>
          <p:cNvSpPr>
            <a:spLocks noGrp="1"/>
          </p:cNvSpPr>
          <p:nvPr>
            <p:ph type="sldNum" sz="quarter" idx="12"/>
          </p:nvPr>
        </p:nvSpPr>
        <p:spPr/>
        <p:txBody>
          <a:bodyPr/>
          <a:lstStyle/>
          <a:p>
            <a:pPr>
              <a:defRPr/>
            </a:pPr>
            <a:fld id="{D249CE19-F9B9-408E-AD82-E24E86A248D7}"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79539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8A157-2163-5004-C7B2-BB080457E942}"/>
              </a:ext>
            </a:extLst>
          </p:cNvPr>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5A7AA60-3DD1-11C9-1D45-23472840ED1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CC7141F-EF29-D209-1281-F01857DBC55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0CE2319-AAE2-6ED9-238B-CE0F60F49C2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7EB06DB-719A-7D07-69D2-0426880C891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122B65A-3CA2-9377-EF8D-19A4ADA2F26F}"/>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8" name="Footer Placeholder 7">
            <a:extLst>
              <a:ext uri="{FF2B5EF4-FFF2-40B4-BE49-F238E27FC236}">
                <a16:creationId xmlns:a16="http://schemas.microsoft.com/office/drawing/2014/main" id="{F41734C9-7A4F-06B3-5D80-87A43FFF1163}"/>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9" name="Slide Number Placeholder 8">
            <a:extLst>
              <a:ext uri="{FF2B5EF4-FFF2-40B4-BE49-F238E27FC236}">
                <a16:creationId xmlns:a16="http://schemas.microsoft.com/office/drawing/2014/main" id="{6B52F498-A474-B255-BED0-EBA578005885}"/>
              </a:ext>
            </a:extLst>
          </p:cNvPr>
          <p:cNvSpPr>
            <a:spLocks noGrp="1"/>
          </p:cNvSpPr>
          <p:nvPr>
            <p:ph type="sldNum" sz="quarter" idx="12"/>
          </p:nvPr>
        </p:nvSpPr>
        <p:spPr/>
        <p:txBody>
          <a:bodyPr/>
          <a:lstStyle/>
          <a:p>
            <a:pPr>
              <a:defRPr/>
            </a:pPr>
            <a:fld id="{C6CB9F97-F2A6-46D1-BEF3-7174611E1C6B}"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3023845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356A1-1BAA-2DBF-C870-CFB25268302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2018769-6E60-F4B7-5228-9C2789434E32}"/>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4" name="Footer Placeholder 3">
            <a:extLst>
              <a:ext uri="{FF2B5EF4-FFF2-40B4-BE49-F238E27FC236}">
                <a16:creationId xmlns:a16="http://schemas.microsoft.com/office/drawing/2014/main" id="{517300B8-20FF-A7EB-8679-593E12D8F586}"/>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5" name="Slide Number Placeholder 4">
            <a:extLst>
              <a:ext uri="{FF2B5EF4-FFF2-40B4-BE49-F238E27FC236}">
                <a16:creationId xmlns:a16="http://schemas.microsoft.com/office/drawing/2014/main" id="{2BC02CE7-1AA7-8C9D-ADED-56B5F5DCDE12}"/>
              </a:ext>
            </a:extLst>
          </p:cNvPr>
          <p:cNvSpPr>
            <a:spLocks noGrp="1"/>
          </p:cNvSpPr>
          <p:nvPr>
            <p:ph type="sldNum" sz="quarter" idx="12"/>
          </p:nvPr>
        </p:nvSpPr>
        <p:spPr/>
        <p:txBody>
          <a:bodyPr/>
          <a:lstStyle/>
          <a:p>
            <a:pPr>
              <a:defRPr/>
            </a:pPr>
            <a:fld id="{8141E9CF-73A2-47F9-85E4-0D957158A723}"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38731219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32BD26-FFF5-CC49-5668-D9C900664E13}"/>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3" name="Footer Placeholder 2">
            <a:extLst>
              <a:ext uri="{FF2B5EF4-FFF2-40B4-BE49-F238E27FC236}">
                <a16:creationId xmlns:a16="http://schemas.microsoft.com/office/drawing/2014/main" id="{1833CBBA-C1DB-1AB2-5769-6C249B976756}"/>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4" name="Slide Number Placeholder 3">
            <a:extLst>
              <a:ext uri="{FF2B5EF4-FFF2-40B4-BE49-F238E27FC236}">
                <a16:creationId xmlns:a16="http://schemas.microsoft.com/office/drawing/2014/main" id="{26CB0860-28C1-D5AD-17FC-15CA8D7670E3}"/>
              </a:ext>
            </a:extLst>
          </p:cNvPr>
          <p:cNvSpPr>
            <a:spLocks noGrp="1"/>
          </p:cNvSpPr>
          <p:nvPr>
            <p:ph type="sldNum" sz="quarter" idx="12"/>
          </p:nvPr>
        </p:nvSpPr>
        <p:spPr/>
        <p:txBody>
          <a:bodyPr/>
          <a:lstStyle/>
          <a:p>
            <a:pPr>
              <a:defRPr/>
            </a:pPr>
            <a:fld id="{1A32A454-DF82-485A-BD55-55A3B3EA844B}"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5752060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750B-DCEC-61EA-C19B-7D79C986D31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47B8BCE-E092-FD09-3F30-FFB9555B66E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2CF88C7-297D-2C48-4880-3AE5EBD24DB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2E5E289-9E1E-5235-D616-DE1FB844EA3F}"/>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6" name="Footer Placeholder 5">
            <a:extLst>
              <a:ext uri="{FF2B5EF4-FFF2-40B4-BE49-F238E27FC236}">
                <a16:creationId xmlns:a16="http://schemas.microsoft.com/office/drawing/2014/main" id="{F0781D40-F693-17DC-CC04-05D96B1D8D9C}"/>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7" name="Slide Number Placeholder 6">
            <a:extLst>
              <a:ext uri="{FF2B5EF4-FFF2-40B4-BE49-F238E27FC236}">
                <a16:creationId xmlns:a16="http://schemas.microsoft.com/office/drawing/2014/main" id="{A8B4AB7B-0B30-A7B2-13F2-5D29F9BB0830}"/>
              </a:ext>
            </a:extLst>
          </p:cNvPr>
          <p:cNvSpPr>
            <a:spLocks noGrp="1"/>
          </p:cNvSpPr>
          <p:nvPr>
            <p:ph type="sldNum" sz="quarter" idx="12"/>
          </p:nvPr>
        </p:nvSpPr>
        <p:spPr/>
        <p:txBody>
          <a:bodyPr/>
          <a:lstStyle/>
          <a:p>
            <a:pPr>
              <a:defRPr/>
            </a:pPr>
            <a:fld id="{1CB889CA-2F36-45D7-BBC4-33B57C4F490C}"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3662962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E6B7-10E0-5A42-ED82-18702919885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D95392F-9424-4FB5-0058-312D14E4401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9CF48AA2-AC3A-7CE8-1B10-8F1BBFEABB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2B3F833-38B3-8E4F-E48B-6173FB4B7038}"/>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6" name="Footer Placeholder 5">
            <a:extLst>
              <a:ext uri="{FF2B5EF4-FFF2-40B4-BE49-F238E27FC236}">
                <a16:creationId xmlns:a16="http://schemas.microsoft.com/office/drawing/2014/main" id="{BE6C69CD-F5C9-814B-AC59-46F70D311884}"/>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7" name="Slide Number Placeholder 6">
            <a:extLst>
              <a:ext uri="{FF2B5EF4-FFF2-40B4-BE49-F238E27FC236}">
                <a16:creationId xmlns:a16="http://schemas.microsoft.com/office/drawing/2014/main" id="{00BCF80E-E278-F065-EF65-7C1F097F4A7E}"/>
              </a:ext>
            </a:extLst>
          </p:cNvPr>
          <p:cNvSpPr>
            <a:spLocks noGrp="1"/>
          </p:cNvSpPr>
          <p:nvPr>
            <p:ph type="sldNum" sz="quarter" idx="12"/>
          </p:nvPr>
        </p:nvSpPr>
        <p:spPr/>
        <p:txBody>
          <a:bodyPr/>
          <a:lstStyle/>
          <a:p>
            <a:pPr>
              <a:defRPr/>
            </a:pPr>
            <a:fld id="{39D4B8C4-482A-4B36-AE58-8B937562B32E}"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516445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80DD-70D0-2928-E54E-2A5526BCFDD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B9554D-D796-CFB8-482A-961B0CA62F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7703637-6596-8E49-CBBD-D2CAE813EF36}"/>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5" name="Footer Placeholder 4">
            <a:extLst>
              <a:ext uri="{FF2B5EF4-FFF2-40B4-BE49-F238E27FC236}">
                <a16:creationId xmlns:a16="http://schemas.microsoft.com/office/drawing/2014/main" id="{0DBA2CA2-C08A-816C-8B62-E5F2596375EF}"/>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6" name="Slide Number Placeholder 5">
            <a:extLst>
              <a:ext uri="{FF2B5EF4-FFF2-40B4-BE49-F238E27FC236}">
                <a16:creationId xmlns:a16="http://schemas.microsoft.com/office/drawing/2014/main" id="{5F519C4A-118C-09CE-6856-99AA506EADBC}"/>
              </a:ext>
            </a:extLst>
          </p:cNvPr>
          <p:cNvSpPr>
            <a:spLocks noGrp="1"/>
          </p:cNvSpPr>
          <p:nvPr>
            <p:ph type="sldNum" sz="quarter" idx="12"/>
          </p:nvPr>
        </p:nvSpPr>
        <p:spPr/>
        <p:txBody>
          <a:bodyPr/>
          <a:lstStyle/>
          <a:p>
            <a:pPr>
              <a:defRPr/>
            </a:pPr>
            <a:fld id="{7F5710F3-8BB4-42F4-B95E-7FEE35062CF0}"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2853703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B3B4F-6996-EA76-C19B-C06699A324D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CF5F160-F8C2-C275-3011-47CF24BD3A7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D2772A9-FC91-D270-2D22-7E8BB8E65146}"/>
              </a:ext>
            </a:extLst>
          </p:cNvPr>
          <p:cNvSpPr>
            <a:spLocks noGrp="1"/>
          </p:cNvSpPr>
          <p:nvPr>
            <p:ph type="dt" sz="half" idx="10"/>
          </p:nvPr>
        </p:nvSpPr>
        <p:spPr/>
        <p:txBody>
          <a:bodyPr/>
          <a:lstStyle/>
          <a:p>
            <a:pPr>
              <a:defRPr/>
            </a:pPr>
            <a:endParaRPr lang="en-AU" altLang="en-US">
              <a:solidFill>
                <a:prstClr val="white">
                  <a:tint val="75000"/>
                </a:prstClr>
              </a:solidFill>
            </a:endParaRPr>
          </a:p>
        </p:txBody>
      </p:sp>
      <p:sp>
        <p:nvSpPr>
          <p:cNvPr id="5" name="Footer Placeholder 4">
            <a:extLst>
              <a:ext uri="{FF2B5EF4-FFF2-40B4-BE49-F238E27FC236}">
                <a16:creationId xmlns:a16="http://schemas.microsoft.com/office/drawing/2014/main" id="{377D5070-6892-AA1E-7933-9888691DA9C8}"/>
              </a:ext>
            </a:extLst>
          </p:cNvPr>
          <p:cNvSpPr>
            <a:spLocks noGrp="1"/>
          </p:cNvSpPr>
          <p:nvPr>
            <p:ph type="ftr" sz="quarter" idx="11"/>
          </p:nvPr>
        </p:nvSpPr>
        <p:spPr/>
        <p:txBody>
          <a:bodyPr/>
          <a:lstStyle/>
          <a:p>
            <a:pPr>
              <a:defRPr/>
            </a:pPr>
            <a:endParaRPr lang="en-US">
              <a:solidFill>
                <a:prstClr val="white">
                  <a:tint val="75000"/>
                </a:prstClr>
              </a:solidFill>
            </a:endParaRPr>
          </a:p>
        </p:txBody>
      </p:sp>
      <p:sp>
        <p:nvSpPr>
          <p:cNvPr id="6" name="Slide Number Placeholder 5">
            <a:extLst>
              <a:ext uri="{FF2B5EF4-FFF2-40B4-BE49-F238E27FC236}">
                <a16:creationId xmlns:a16="http://schemas.microsoft.com/office/drawing/2014/main" id="{BEDDA7A9-447C-7D1E-7104-7BF506B00873}"/>
              </a:ext>
            </a:extLst>
          </p:cNvPr>
          <p:cNvSpPr>
            <a:spLocks noGrp="1"/>
          </p:cNvSpPr>
          <p:nvPr>
            <p:ph type="sldNum" sz="quarter" idx="12"/>
          </p:nvPr>
        </p:nvSpPr>
        <p:spPr/>
        <p:txBody>
          <a:bodyPr/>
          <a:lstStyle/>
          <a:p>
            <a:pPr>
              <a:defRPr/>
            </a:pPr>
            <a:fld id="{5C5D3EAC-DC78-444F-ABA3-6BE6E6501C16}"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4110809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8127F4-F86A-A49B-8C88-AE87FE75203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78A4321-DD17-658C-8964-58DCA7216B2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87575F0-6A8D-47FF-C10D-AF4C3BB9B04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altLang="en-US"/>
          </a:p>
        </p:txBody>
      </p:sp>
      <p:sp>
        <p:nvSpPr>
          <p:cNvPr id="5" name="Footer Placeholder 4">
            <a:extLst>
              <a:ext uri="{FF2B5EF4-FFF2-40B4-BE49-F238E27FC236}">
                <a16:creationId xmlns:a16="http://schemas.microsoft.com/office/drawing/2014/main" id="{D936DD98-50C6-3137-5FC1-436305BB39A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D0809C6E-302E-2E25-391A-124A77018BF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FCA59B4-4024-4409-A26D-435B7C52BA46}" type="slidenum">
              <a:rPr lang="en-AU" altLang="en-US" smtClean="0"/>
              <a:pPr>
                <a:defRPr/>
              </a:pPr>
              <a:t>‹#›</a:t>
            </a:fld>
            <a:endParaRPr lang="en-AU" altLang="en-US"/>
          </a:p>
        </p:txBody>
      </p:sp>
    </p:spTree>
    <p:extLst>
      <p:ext uri="{BB962C8B-B14F-4D97-AF65-F5344CB8AC3E}">
        <p14:creationId xmlns:p14="http://schemas.microsoft.com/office/powerpoint/2010/main" val="3903875136"/>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E7C65A-8482-23DB-A5BB-ACCC7339E79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358B7C0-8466-8C1D-76D7-E262C8D46F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7B08BDA-4278-F7F4-8987-8501BBD9458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altLang="en-US">
              <a:solidFill>
                <a:prstClr val="white">
                  <a:tint val="75000"/>
                </a:prstClr>
              </a:solidFill>
            </a:endParaRPr>
          </a:p>
        </p:txBody>
      </p:sp>
      <p:sp>
        <p:nvSpPr>
          <p:cNvPr id="5" name="Footer Placeholder 4">
            <a:extLst>
              <a:ext uri="{FF2B5EF4-FFF2-40B4-BE49-F238E27FC236}">
                <a16:creationId xmlns:a16="http://schemas.microsoft.com/office/drawing/2014/main" id="{DD444F62-9DF1-2DEA-13DE-3E3AF52E124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solidFill>
                <a:prstClr val="white">
                  <a:tint val="75000"/>
                </a:prstClr>
              </a:solidFill>
            </a:endParaRPr>
          </a:p>
        </p:txBody>
      </p:sp>
      <p:sp>
        <p:nvSpPr>
          <p:cNvPr id="6" name="Slide Number Placeholder 5">
            <a:extLst>
              <a:ext uri="{FF2B5EF4-FFF2-40B4-BE49-F238E27FC236}">
                <a16:creationId xmlns:a16="http://schemas.microsoft.com/office/drawing/2014/main" id="{FCC61AA5-2BF4-38C9-96EC-3B2DC5EB1ED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BB136FD-1BC5-4AF2-89EA-442A13B46BCE}" type="slidenum">
              <a:rPr lang="en-AU" altLang="en-US" smtClean="0">
                <a:solidFill>
                  <a:prstClr val="white">
                    <a:tint val="75000"/>
                  </a:prstClr>
                </a:solidFill>
              </a:rPr>
              <a:pPr>
                <a:defRPr/>
              </a:pPr>
              <a:t>‹#›</a:t>
            </a:fld>
            <a:endParaRPr lang="en-AU" altLang="en-US">
              <a:solidFill>
                <a:prstClr val="white">
                  <a:tint val="75000"/>
                </a:prstClr>
              </a:solidFill>
            </a:endParaRPr>
          </a:p>
        </p:txBody>
      </p:sp>
    </p:spTree>
    <p:extLst>
      <p:ext uri="{BB962C8B-B14F-4D97-AF65-F5344CB8AC3E}">
        <p14:creationId xmlns:p14="http://schemas.microsoft.com/office/powerpoint/2010/main" val="258245046"/>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7.jpeg"/><Relationship Id="rId7" Type="http://schemas.openxmlformats.org/officeDocument/2006/relationships/diagramColors" Target="../diagrams/colors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8.jpeg"/><Relationship Id="rId7" Type="http://schemas.openxmlformats.org/officeDocument/2006/relationships/diagramColors" Target="../diagrams/colors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7.xml.rels><?xml version="1.0" encoding="UTF-8" standalone="yes"?>
<Relationships xmlns="http://schemas.openxmlformats.org/package/2006/relationships"><Relationship Id="rId3" Type="http://schemas.openxmlformats.org/officeDocument/2006/relationships/hyperlink" Target="https://www.sienna-project.eu/robotic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slideplayer.com/slide/5960678/"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32.jp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1984189" y="3933056"/>
            <a:ext cx="5482952" cy="226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63500" eaLnBrk="0" hangingPunct="0">
              <a:spcBef>
                <a:spcPts val="300"/>
              </a:spcBef>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800">
                <a:solidFill>
                  <a:srgbClr val="000000"/>
                </a:solidFill>
                <a:latin typeface="Georgia" pitchFamily="18" charset="0"/>
                <a:ea typeface="Microsoft YaHei" charset="-122"/>
              </a:defRPr>
            </a:lvl1pPr>
            <a:lvl2pPr eaLnBrk="0" hangingPunct="0">
              <a:spcBef>
                <a:spcPts val="300"/>
              </a:spcBef>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600">
                <a:solidFill>
                  <a:srgbClr val="438086"/>
                </a:solidFill>
                <a:latin typeface="Georgia" pitchFamily="18" charset="0"/>
                <a:ea typeface="Microsoft YaHei" charset="-122"/>
              </a:defRPr>
            </a:lvl2pPr>
            <a:lvl3pPr eaLnBrk="0" hangingPunct="0">
              <a:spcBef>
                <a:spcPts val="300"/>
              </a:spcBef>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400">
                <a:solidFill>
                  <a:srgbClr val="53548A"/>
                </a:solidFill>
                <a:latin typeface="Georgia" pitchFamily="18" charset="0"/>
                <a:ea typeface="Microsoft YaHei" charset="-122"/>
              </a:defRPr>
            </a:lvl3pPr>
            <a:lvl4pPr eaLnBrk="0" hangingPunct="0">
              <a:spcBef>
                <a:spcPts val="300"/>
              </a:spcBef>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200">
                <a:solidFill>
                  <a:srgbClr val="53548A"/>
                </a:solidFill>
                <a:latin typeface="Georgia" pitchFamily="18" charset="0"/>
                <a:ea typeface="Microsoft YaHei" charset="-122"/>
              </a:defRPr>
            </a:lvl4pPr>
            <a:lvl5pPr eaLnBrk="0" hangingPunct="0">
              <a:spcBef>
                <a:spcPts val="300"/>
              </a:spcBef>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63500" algn="l"/>
                <a:tab pos="866775" algn="l"/>
                <a:tab pos="1781175" algn="l"/>
                <a:tab pos="2695575" algn="l"/>
                <a:tab pos="3609975" algn="l"/>
                <a:tab pos="4524375" algn="l"/>
                <a:tab pos="5438775" algn="l"/>
                <a:tab pos="6353175" algn="l"/>
                <a:tab pos="7267575" algn="l"/>
                <a:tab pos="8181975" algn="l"/>
                <a:tab pos="9096375" algn="l"/>
                <a:tab pos="10010775" algn="l"/>
              </a:tabLst>
              <a:defRPr sz="2000">
                <a:solidFill>
                  <a:srgbClr val="A04DA3"/>
                </a:solidFill>
                <a:latin typeface="Georgia" pitchFamily="18" charset="0"/>
                <a:ea typeface="Microsoft YaHei" charset="-122"/>
              </a:defRPr>
            </a:lvl9pPr>
          </a:lstStyle>
          <a:p>
            <a:pPr eaLnBrk="1" hangingPunct="1">
              <a:buSzPct val="100000"/>
              <a:defRPr/>
            </a:pPr>
            <a:r>
              <a:rPr lang="en-AU" altLang="en-US" sz="2400" b="1" i="1" cap="small" dirty="0">
                <a:solidFill>
                  <a:srgbClr val="424456"/>
                </a:solidFill>
                <a:cs typeface="Arial" charset="0"/>
              </a:rPr>
              <a:t>Professional Practice Ethics</a:t>
            </a:r>
          </a:p>
          <a:p>
            <a:pPr eaLnBrk="1" hangingPunct="1">
              <a:buSzPct val="100000"/>
              <a:defRPr/>
            </a:pPr>
            <a:r>
              <a:rPr lang="en-AU" altLang="en-US" sz="2400" cap="small" dirty="0">
                <a:solidFill>
                  <a:srgbClr val="424456"/>
                </a:solidFill>
                <a:cs typeface="Arial" charset="0"/>
              </a:rPr>
              <a:t>2026 Semester 2</a:t>
            </a:r>
          </a:p>
          <a:p>
            <a:pPr eaLnBrk="1" hangingPunct="1">
              <a:buSzPct val="100000"/>
              <a:defRPr/>
            </a:pPr>
            <a:r>
              <a:rPr lang="en-AU" altLang="en-US" sz="2400" cap="small" dirty="0">
                <a:solidFill>
                  <a:srgbClr val="424456"/>
                </a:solidFill>
                <a:cs typeface="Arial" charset="0"/>
              </a:rPr>
              <a:t>Final lecture and Q&amp;A</a:t>
            </a:r>
          </a:p>
          <a:p>
            <a:pPr eaLnBrk="1" hangingPunct="1">
              <a:buSzPct val="100000"/>
              <a:defRPr/>
            </a:pPr>
            <a:endParaRPr lang="en-AU" altLang="en-US" sz="2400" cap="small" dirty="0">
              <a:solidFill>
                <a:srgbClr val="424456"/>
              </a:solidFill>
              <a:cs typeface="Arial" charset="0"/>
            </a:endParaRPr>
          </a:p>
          <a:p>
            <a:pPr eaLnBrk="1" hangingPunct="1">
              <a:buSzPct val="100000"/>
              <a:defRPr/>
            </a:pPr>
            <a:r>
              <a:rPr lang="en-AU" altLang="en-US" sz="2400" cap="small" dirty="0">
                <a:solidFill>
                  <a:srgbClr val="424456"/>
                </a:solidFill>
                <a:cs typeface="Arial" charset="0"/>
              </a:rPr>
              <a:t>Dr Mark Howard</a:t>
            </a:r>
          </a:p>
          <a:p>
            <a:pPr eaLnBrk="1" hangingPunct="1">
              <a:buSzPct val="100000"/>
              <a:defRPr/>
            </a:pPr>
            <a:r>
              <a:rPr lang="en-AU" altLang="en-US" sz="2400" dirty="0">
                <a:solidFill>
                  <a:srgbClr val="424456"/>
                </a:solidFill>
                <a:cs typeface="Arial" charset="0"/>
              </a:rPr>
              <a:t>mark.howard@unimelb.edu.au</a:t>
            </a:r>
          </a:p>
        </p:txBody>
      </p:sp>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4067944" cy="290327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advTm="287718"/>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457200" y="0"/>
            <a:ext cx="8579296" cy="16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34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Designing the Future: Automated vehicles, Artificial Intelligence and Robotics</a:t>
            </a:r>
          </a:p>
        </p:txBody>
      </p:sp>
      <p:pic>
        <p:nvPicPr>
          <p:cNvPr id="3" name="Picture 2"/>
          <p:cNvPicPr>
            <a:picLocks noChangeAspect="1"/>
          </p:cNvPicPr>
          <p:nvPr/>
        </p:nvPicPr>
        <p:blipFill rotWithShape="1">
          <a:blip r:embed="rId3"/>
          <a:srcRect t="-5115" r="28329"/>
          <a:stretch/>
        </p:blipFill>
        <p:spPr>
          <a:xfrm>
            <a:off x="2987824" y="2909381"/>
            <a:ext cx="3516543" cy="2895067"/>
          </a:xfrm>
          <a:prstGeom prst="rect">
            <a:avLst/>
          </a:prstGeom>
        </p:spPr>
      </p:pic>
      <p:pic>
        <p:nvPicPr>
          <p:cNvPr id="2" name="Picture 1"/>
          <p:cNvPicPr>
            <a:picLocks noChangeAspect="1"/>
          </p:cNvPicPr>
          <p:nvPr/>
        </p:nvPicPr>
        <p:blipFill>
          <a:blip r:embed="rId4"/>
          <a:stretch>
            <a:fillRect/>
          </a:stretch>
        </p:blipFill>
        <p:spPr>
          <a:xfrm>
            <a:off x="251520" y="2348880"/>
            <a:ext cx="3396225" cy="1944216"/>
          </a:xfrm>
          <a:prstGeom prst="rect">
            <a:avLst/>
          </a:prstGeom>
        </p:spPr>
      </p:pic>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l="11849" b="9586"/>
          <a:stretch/>
        </p:blipFill>
        <p:spPr>
          <a:xfrm>
            <a:off x="6275529" y="4710131"/>
            <a:ext cx="2868471" cy="2147869"/>
          </a:xfrm>
          <a:prstGeom prst="rect">
            <a:avLst/>
          </a:prstGeom>
        </p:spPr>
      </p:pic>
    </p:spTree>
    <p:extLst>
      <p:ext uri="{BB962C8B-B14F-4D97-AF65-F5344CB8AC3E}">
        <p14:creationId xmlns:p14="http://schemas.microsoft.com/office/powerpoint/2010/main" val="49583172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457200" y="56253"/>
            <a:ext cx="4690864"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Automated Vehicles</a:t>
            </a:r>
          </a:p>
        </p:txBody>
      </p:sp>
      <p:sp>
        <p:nvSpPr>
          <p:cNvPr id="13315" name="Text Box 2"/>
          <p:cNvSpPr txBox="1">
            <a:spLocks noChangeArrowheads="1"/>
          </p:cNvSpPr>
          <p:nvPr/>
        </p:nvSpPr>
        <p:spPr bwMode="auto">
          <a:xfrm>
            <a:off x="457200" y="1052736"/>
            <a:ext cx="6347048" cy="5472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fontScale="92500" lnSpcReduction="100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Road traffic accidents (2017)</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1.25 million people killed every year in road traffic accidents</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The leading cause of death among people aged 15-29 years</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Costs governments approximately 3% of GDP</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Over 90% of all road traffic accidents are caused by human error and behaviour</a:t>
            </a:r>
          </a:p>
          <a:p>
            <a:pPr marL="1085850" marR="0" lvl="1" indent="-342900" algn="l" defTabSz="449263" rtl="0" eaLnBrk="1" fontAlgn="base" latinLnBrk="0" hangingPunct="1">
              <a:lnSpc>
                <a:spcPct val="100000"/>
              </a:lnSpc>
              <a:spcBef>
                <a:spcPts val="300"/>
              </a:spcBef>
              <a:spcAft>
                <a:spcPts val="6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Drink driving, inattention, speeding, drug use…</a:t>
            </a:r>
          </a:p>
          <a:p>
            <a:pPr marL="0" marR="0" lvl="0" indent="0" algn="l" defTabSz="449263" rtl="0" eaLnBrk="1" fontAlgn="base" latinLnBrk="0" hangingPunct="1">
              <a:lnSpc>
                <a:spcPct val="10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Autonomous vehicles (the future)</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Engineers tell us autonomous vehicles can do better, they will save lives</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At some point, they will become safer than human drivers</a:t>
            </a:r>
          </a:p>
          <a:p>
            <a:pPr marL="0" marR="0" lvl="0" indent="0" algn="l" defTabSz="449263" rtl="0" eaLnBrk="1" fontAlgn="base" latinLnBrk="0" hangingPunct="1">
              <a:lnSpc>
                <a:spcPct val="10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5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48" y="126570"/>
            <a:ext cx="2256680" cy="1502229"/>
          </a:xfrm>
          <a:prstGeom prst="rect">
            <a:avLst/>
          </a:prstGeom>
          <a:effectLst>
            <a:softEdge rad="88900"/>
          </a:effectLst>
        </p:spPr>
      </p:pic>
    </p:spTree>
    <p:extLst>
      <p:ext uri="{BB962C8B-B14F-4D97-AF65-F5344CB8AC3E}">
        <p14:creationId xmlns:p14="http://schemas.microsoft.com/office/powerpoint/2010/main" val="416752371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372007" y="-21275"/>
            <a:ext cx="8399986"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Automated Vehicles</a:t>
            </a:r>
          </a:p>
        </p:txBody>
      </p:sp>
      <p:sp>
        <p:nvSpPr>
          <p:cNvPr id="13315" name="Text Box 2"/>
          <p:cNvSpPr txBox="1">
            <a:spLocks noChangeArrowheads="1"/>
          </p:cNvSpPr>
          <p:nvPr/>
        </p:nvSpPr>
        <p:spPr bwMode="auto">
          <a:xfrm>
            <a:off x="215797" y="1036076"/>
            <a:ext cx="8712405" cy="3096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fontScale="925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449263" rtl="0" eaLnBrk="1" fontAlgn="base" latinLnBrk="0" hangingPunct="1">
              <a:lnSpc>
                <a:spcPct val="10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Crash Systems and the Trolley Problem</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How do you embed moral principles into a driverless vehicle?</a:t>
            </a:r>
          </a:p>
          <a:p>
            <a:pPr marL="1085850" marR="0" lvl="1"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Are utilitarian crash systems the only option to make the problem tractable?</a:t>
            </a:r>
          </a:p>
          <a:p>
            <a:pPr marL="1085850" marR="0" lvl="1"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This conclusion requires a willingness to trade-off the interests of different individuals of the sort that utilitarianism is notorious for and for which it has been roundly criticised</a:t>
            </a:r>
            <a:endPar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endParaRPr>
          </a:p>
          <a:p>
            <a:pPr marL="1085850" marR="0" lvl="1"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Situations of unavoidable harm</a:t>
            </a:r>
          </a:p>
          <a:p>
            <a:pPr marL="1085850" marR="0" lvl="1"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The trolley problem for crash system engineers. </a:t>
            </a:r>
            <a:endParaRPr kumimoji="0" lang="en-AU" altLang="en-US" sz="2400" b="1"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5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3648" y="4221088"/>
            <a:ext cx="5832648" cy="2448272"/>
          </a:xfrm>
          <a:prstGeom prst="rect">
            <a:avLst/>
          </a:prstGeom>
          <a:effectLst>
            <a:softEdge rad="63500"/>
          </a:effectLst>
        </p:spPr>
      </p:pic>
    </p:spTree>
    <p:custDataLst>
      <p:tags r:id="rId1"/>
    </p:custDataLst>
    <p:extLst>
      <p:ext uri="{BB962C8B-B14F-4D97-AF65-F5344CB8AC3E}">
        <p14:creationId xmlns:p14="http://schemas.microsoft.com/office/powerpoint/2010/main" val="140442737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201262" y="0"/>
            <a:ext cx="8399986"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Automated Vehicles</a:t>
            </a:r>
          </a:p>
        </p:txBody>
      </p:sp>
      <p:sp>
        <p:nvSpPr>
          <p:cNvPr id="13315" name="Text Box 2"/>
          <p:cNvSpPr txBox="1">
            <a:spLocks noChangeArrowheads="1"/>
          </p:cNvSpPr>
          <p:nvPr/>
        </p:nvSpPr>
        <p:spPr bwMode="auto">
          <a:xfrm>
            <a:off x="251519" y="836712"/>
            <a:ext cx="8712405" cy="4176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200" b="0" i="0" u="none" strike="noStrike" kern="1200" cap="none" spc="0" normalizeH="0" baseline="0" noProof="0" dirty="0">
              <a:ln>
                <a:noFill/>
              </a:ln>
              <a:solidFill>
                <a:prstClr val="white"/>
              </a:solidFill>
              <a:effectLst/>
              <a:uLnTx/>
              <a:uFillTx/>
              <a:latin typeface="Georgia" pitchFamily="18" charset="0"/>
              <a:ea typeface="Microsoft YaHei" charset="-122"/>
              <a:cs typeface="Arial" charset="0"/>
            </a:endParaRP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Limit the harm done</a:t>
            </a:r>
          </a:p>
          <a:p>
            <a:pPr marL="1085850" marR="0" lvl="1"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0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Self-sacrificing crash systems</a:t>
            </a:r>
          </a:p>
          <a:p>
            <a:pPr marL="1485900" marR="0" lvl="2"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2000" b="0" i="0" u="none" strike="noStrike" kern="1200" cap="none" spc="0" normalizeH="0" baseline="0" noProof="0" dirty="0">
                <a:ln>
                  <a:noFill/>
                </a:ln>
                <a:solidFill>
                  <a:prstClr val="black"/>
                </a:solidFill>
                <a:effectLst/>
                <a:uLnTx/>
                <a:uFillTx/>
                <a:latin typeface="Georgia" pitchFamily="18" charset="0"/>
                <a:ea typeface="Microsoft YaHei" charset="-122"/>
                <a:cs typeface="+mn-cs"/>
              </a:rPr>
              <a:t>We would be trading off their safety for benefits that will accrue to others. </a:t>
            </a:r>
          </a:p>
          <a:p>
            <a:pPr marL="1485900" marR="0" lvl="2"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2000" b="0" i="0" u="none" strike="noStrike" kern="1200" cap="none" spc="0" normalizeH="0" baseline="0" noProof="0" dirty="0">
                <a:ln>
                  <a:noFill/>
                </a:ln>
                <a:solidFill>
                  <a:prstClr val="black"/>
                </a:solidFill>
                <a:effectLst/>
                <a:uLnTx/>
                <a:uFillTx/>
                <a:latin typeface="Georgia" pitchFamily="18" charset="0"/>
                <a:ea typeface="Microsoft YaHei" charset="-122"/>
                <a:cs typeface="+mn-cs"/>
              </a:rPr>
              <a:t>If adequately informed would we still wish to travel in a driverless vehicle?</a:t>
            </a:r>
          </a:p>
          <a:p>
            <a:pPr marL="1485900" marR="0" lvl="2"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2000" b="0" i="0" u="none" strike="noStrike" kern="1200" cap="none" spc="0" normalizeH="0" baseline="0" noProof="0" dirty="0">
                <a:ln>
                  <a:noFill/>
                </a:ln>
                <a:solidFill>
                  <a:prstClr val="black"/>
                </a:solidFill>
                <a:effectLst/>
                <a:uLnTx/>
                <a:uFillTx/>
                <a:latin typeface="Georgia" pitchFamily="18" charset="0"/>
                <a:ea typeface="Microsoft YaHei" charset="-122"/>
                <a:cs typeface="+mn-cs"/>
              </a:rPr>
              <a:t>Serious implications of poor sensor design or cost cutting</a:t>
            </a:r>
          </a:p>
          <a:p>
            <a:pPr marL="1085850" marR="0" lvl="1"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0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Unfair discrimination?</a:t>
            </a:r>
          </a:p>
          <a:p>
            <a:pPr marL="1485900" marR="0" lvl="2"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000" b="0" i="0" u="none" strike="noStrike" kern="1200" cap="none" spc="0" normalizeH="0" baseline="0" noProof="0" dirty="0">
                <a:ln>
                  <a:noFill/>
                </a:ln>
                <a:solidFill>
                  <a:prstClr val="black"/>
                </a:solidFill>
                <a:effectLst/>
                <a:uLnTx/>
                <a:uFillTx/>
                <a:latin typeface="Georgia" pitchFamily="18" charset="0"/>
                <a:ea typeface="Microsoft YaHei" charset="-122"/>
                <a:cs typeface="+mn-cs"/>
              </a:rPr>
              <a:t>Helmeted or non-helmeted motorcyclists</a:t>
            </a:r>
          </a:p>
          <a:p>
            <a:pPr marL="1485900" marR="0" lvl="2" indent="-342900" algn="l" defTabSz="449263" rtl="0" eaLnBrk="1" fontAlgn="base" latinLnBrk="0" hangingPunct="1">
              <a:lnSpc>
                <a:spcPct val="10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000" b="0" i="0" u="none" strike="noStrike" kern="1200" cap="none" spc="0" normalizeH="0" baseline="0" noProof="0" dirty="0">
                <a:ln>
                  <a:noFill/>
                </a:ln>
                <a:solidFill>
                  <a:prstClr val="black"/>
                </a:solidFill>
                <a:effectLst/>
                <a:uLnTx/>
                <a:uFillTx/>
                <a:latin typeface="Georgia" pitchFamily="18" charset="0"/>
                <a:ea typeface="Microsoft YaHei" charset="-122"/>
                <a:cs typeface="+mn-cs"/>
              </a:rPr>
              <a:t>Grandmother or child (see Lin)</a:t>
            </a: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5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1" y="4869160"/>
            <a:ext cx="2460101" cy="1933221"/>
          </a:xfrm>
          <a:prstGeom prst="rect">
            <a:avLst/>
          </a:prstGeom>
          <a:effectLst>
            <a:softEdge rad="88900"/>
          </a:effectLst>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200953"/>
            <a:ext cx="2592288" cy="1657047"/>
          </a:xfrm>
          <a:prstGeom prst="rect">
            <a:avLst/>
          </a:prstGeom>
          <a:effectLst>
            <a:softEdge rad="88900"/>
          </a:effectLst>
        </p:spPr>
      </p:pic>
    </p:spTree>
    <p:extLst>
      <p:ext uri="{BB962C8B-B14F-4D97-AF65-F5344CB8AC3E}">
        <p14:creationId xmlns:p14="http://schemas.microsoft.com/office/powerpoint/2010/main" val="256375443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312799" y="113136"/>
            <a:ext cx="483488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Automated Vehicles</a:t>
            </a:r>
          </a:p>
        </p:txBody>
      </p:sp>
      <p:sp>
        <p:nvSpPr>
          <p:cNvPr id="13315" name="Text Box 2"/>
          <p:cNvSpPr txBox="1">
            <a:spLocks noChangeArrowheads="1"/>
          </p:cNvSpPr>
          <p:nvPr/>
        </p:nvSpPr>
        <p:spPr bwMode="auto">
          <a:xfrm>
            <a:off x="312799" y="2132856"/>
            <a:ext cx="6552728" cy="3960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449263" rtl="0" eaLnBrk="1" fontAlgn="base" latinLnBrk="0" hangingPunct="1">
              <a:lnSpc>
                <a:spcPct val="100000"/>
              </a:lnSpc>
              <a:spcBef>
                <a:spcPts val="300"/>
              </a:spcBef>
              <a:spcAft>
                <a:spcPts val="40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Automated vehicles and “Crash</a:t>
            </a:r>
          </a:p>
          <a:p>
            <a:pPr marL="0" marR="0" lvl="0" indent="0" algn="l" defTabSz="449263" rtl="0" eaLnBrk="1" fontAlgn="base" latinLnBrk="0" hangingPunct="1">
              <a:lnSpc>
                <a:spcPct val="100000"/>
              </a:lnSpc>
              <a:spcBef>
                <a:spcPts val="300"/>
              </a:spcBef>
              <a:spcAft>
                <a:spcPts val="40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Systems”</a:t>
            </a:r>
          </a:p>
          <a:p>
            <a:pPr marL="342900" marR="0" lvl="0" indent="-342900" algn="l" defTabSz="449263" rtl="0" eaLnBrk="1" fontAlgn="base" latinLnBrk="0" hangingPunct="1">
              <a:lnSpc>
                <a:spcPct val="100000"/>
              </a:lnSpc>
              <a:spcBef>
                <a:spcPts val="300"/>
              </a:spcBef>
              <a:spcAft>
                <a:spcPts val="4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3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Defining the algorithms that direct DV’s how to behave in crash scenarios is formidable</a:t>
            </a:r>
          </a:p>
          <a:p>
            <a:pPr marL="1085850" marR="0" lvl="1" indent="-342900" algn="l" defTabSz="449263" rtl="0" eaLnBrk="1" fontAlgn="base" latinLnBrk="0" hangingPunct="1">
              <a:lnSpc>
                <a:spcPct val="100000"/>
              </a:lnSpc>
              <a:spcBef>
                <a:spcPts val="300"/>
              </a:spcBef>
              <a:spcAft>
                <a:spcPts val="4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Being consistent (non-arbitrary)</a:t>
            </a:r>
          </a:p>
          <a:p>
            <a:pPr marL="1085850" marR="0" lvl="1" indent="-342900" algn="l" defTabSz="449263" rtl="0" eaLnBrk="1" fontAlgn="base" latinLnBrk="0" hangingPunct="1">
              <a:lnSpc>
                <a:spcPct val="100000"/>
              </a:lnSpc>
              <a:spcBef>
                <a:spcPts val="300"/>
              </a:spcBef>
              <a:spcAft>
                <a:spcPts val="4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Being acceptable to the public (properly compelling)</a:t>
            </a:r>
          </a:p>
          <a:p>
            <a:pPr marL="1085850" marR="0" lvl="1" indent="-342900" algn="l" defTabSz="449263" rtl="0" eaLnBrk="1" fontAlgn="base" latinLnBrk="0" hangingPunct="1">
              <a:lnSpc>
                <a:spcPct val="100000"/>
              </a:lnSpc>
              <a:spcBef>
                <a:spcPts val="300"/>
              </a:spcBef>
              <a:spcAft>
                <a:spcPts val="4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2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Remaining marketable</a:t>
            </a: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5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0192" y="-13186"/>
            <a:ext cx="2833871" cy="1768153"/>
          </a:xfrm>
          <a:prstGeom prst="rect">
            <a:avLst/>
          </a:prstGeom>
          <a:effectLst>
            <a:softEdge rad="88900"/>
          </a:effectLst>
        </p:spPr>
      </p:pic>
    </p:spTree>
    <p:extLst>
      <p:ext uri="{BB962C8B-B14F-4D97-AF65-F5344CB8AC3E}">
        <p14:creationId xmlns:p14="http://schemas.microsoft.com/office/powerpoint/2010/main" val="44059417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683568" y="8000"/>
            <a:ext cx="684076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Boeing Max 737</a:t>
            </a:r>
            <a:endParaRPr kumimoji="0" lang="en-AU" altLang="en-US" sz="40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endParaRPr>
          </a:p>
        </p:txBody>
      </p:sp>
      <p:sp>
        <p:nvSpPr>
          <p:cNvPr id="13315" name="Text Box 2"/>
          <p:cNvSpPr txBox="1">
            <a:spLocks noChangeArrowheads="1"/>
          </p:cNvSpPr>
          <p:nvPr/>
        </p:nvSpPr>
        <p:spPr bwMode="auto">
          <a:xfrm>
            <a:off x="683568" y="1052736"/>
            <a:ext cx="8064896" cy="5472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lnSpcReduction="100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914400" rtl="0" eaLnBrk="1" fontAlgn="auto" latinLnBrk="0" hangingPunct="1">
              <a:lnSpc>
                <a:spcPct val="100000"/>
              </a:lnSpc>
              <a:spcBef>
                <a:spcPts val="300"/>
              </a:spcBef>
              <a:spcAft>
                <a:spcPts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24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Commercial interest and good design</a:t>
            </a: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800" b="0" i="0" u="none" strike="noStrike" kern="1200" cap="none" spc="0" normalizeH="0" baseline="0" noProof="0" dirty="0">
              <a:ln>
                <a:noFill/>
              </a:ln>
              <a:solidFill>
                <a:prstClr val="white"/>
              </a:solidFill>
              <a:effectLst/>
              <a:uLnTx/>
              <a:uFillTx/>
              <a:latin typeface="Georgia" pitchFamily="18" charset="0"/>
              <a:ea typeface="Microsoft YaHei" charset="-122"/>
              <a:cs typeface="Arial" charset="0"/>
            </a:endParaRP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Boeing needed a fuel efficient and cost-effective alternative to maintain market share.</a:t>
            </a: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Limited design changes to avoid upgrades to assembly lines</a:t>
            </a: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New engine location risked causing the plane to tilt upwards and stall the plane. This risk was offset by installing the </a:t>
            </a:r>
            <a:r>
              <a:rPr kumimoji="0" 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Maneuvering Characteristics Augmentation System (MCAS). However, if the angle-of-attack sensor was faulty, the MCAS would cause the plane to nosedive.</a:t>
            </a:r>
            <a:endPar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endParaRP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Outsourced software design to save money </a:t>
            </a: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“workarounds” to avoid delaying flight testing</a:t>
            </a: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0" i="0" u="none" strike="noStrike" kern="1200" cap="none" spc="0" normalizeH="0" baseline="0" noProof="0" dirty="0">
                <a:ln>
                  <a:noFill/>
                </a:ln>
                <a:solidFill>
                  <a:prstClr val="black"/>
                </a:solidFill>
                <a:effectLst/>
                <a:uLnTx/>
                <a:uFillTx/>
                <a:latin typeface="Georgia" pitchFamily="18" charset="0"/>
                <a:ea typeface="Microsoft YaHei" charset="-122"/>
                <a:cs typeface="Arial" charset="0"/>
              </a:rPr>
              <a:t>Violated the principle of redundancy in design</a:t>
            </a: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800" b="0" i="0" u="none" strike="noStrike" kern="1200" cap="none" spc="0" normalizeH="0" baseline="0" noProof="0" dirty="0">
              <a:ln>
                <a:noFill/>
              </a:ln>
              <a:solidFill>
                <a:prstClr val="white"/>
              </a:solidFill>
              <a:effectLst/>
              <a:uLnTx/>
              <a:uFillTx/>
              <a:latin typeface="Georgia" pitchFamily="18" charset="0"/>
              <a:ea typeface="Microsoft YaHei" charset="-122"/>
              <a:cs typeface="Arial" charset="0"/>
            </a:endParaRPr>
          </a:p>
          <a:p>
            <a:pPr marL="827088" marR="0" lvl="1" indent="0" algn="l" defTabSz="914400" rtl="0" eaLnBrk="1" fontAlgn="auto" latinLnBrk="0" hangingPunct="1">
              <a:lnSpc>
                <a:spcPct val="100000"/>
              </a:lnSpc>
              <a:spcBef>
                <a:spcPts val="300"/>
              </a:spcBef>
              <a:spcAft>
                <a:spcPts val="90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1" i="0" u="none" strike="noStrike" kern="1200" cap="none" spc="0" normalizeH="0" baseline="0" noProof="0" dirty="0">
                <a:ln>
                  <a:noFill/>
                </a:ln>
                <a:solidFill>
                  <a:srgbClr val="C00000"/>
                </a:solidFill>
                <a:effectLst/>
                <a:uLnTx/>
                <a:uFillTx/>
                <a:latin typeface="Georgia" pitchFamily="18" charset="0"/>
                <a:ea typeface="Microsoft YaHei" charset="-122"/>
                <a:cs typeface="Arial" charset="0"/>
              </a:rPr>
              <a:t>The Ford Pinto with wings?? Or a low flying Challenger??</a:t>
            </a:r>
          </a:p>
          <a:p>
            <a:pPr marL="0" marR="0" lvl="0" indent="0" algn="l" defTabSz="914400" rtl="0" eaLnBrk="1" fontAlgn="auto" latinLnBrk="0" hangingPunct="1">
              <a:lnSpc>
                <a:spcPct val="100000"/>
              </a:lnSpc>
              <a:spcBef>
                <a:spcPts val="300"/>
              </a:spcBef>
              <a:spcAft>
                <a:spcPts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24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a:p>
            <a:pPr marL="0" marR="0" lvl="0" indent="0" algn="l" defTabSz="914400" rtl="0" eaLnBrk="1" fontAlgn="auto" latinLnBrk="0" hangingPunct="1">
              <a:lnSpc>
                <a:spcPct val="100000"/>
              </a:lnSpc>
              <a:spcBef>
                <a:spcPts val="300"/>
              </a:spcBef>
              <a:spcAft>
                <a:spcPts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altLang="en-US" sz="15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1849" b="9586"/>
          <a:stretch/>
        </p:blipFill>
        <p:spPr>
          <a:xfrm>
            <a:off x="6776411" y="0"/>
            <a:ext cx="2367589" cy="1772816"/>
          </a:xfrm>
          <a:prstGeom prst="rect">
            <a:avLst/>
          </a:prstGeom>
          <a:ln>
            <a:noFill/>
          </a:ln>
          <a:effectLst>
            <a:softEdge rad="112500"/>
          </a:effectLst>
        </p:spPr>
      </p:pic>
    </p:spTree>
    <p:extLst>
      <p:ext uri="{BB962C8B-B14F-4D97-AF65-F5344CB8AC3E}">
        <p14:creationId xmlns:p14="http://schemas.microsoft.com/office/powerpoint/2010/main" val="3761751907"/>
      </p:ext>
    </p:extLst>
  </p:cSld>
  <p:clrMapOvr>
    <a:masterClrMapping/>
  </p:clrMapOvr>
  <p:transition spd="med" advTm="8516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33" y="224644"/>
            <a:ext cx="7886700" cy="579598"/>
          </a:xfrm>
        </p:spPr>
        <p:txBody>
          <a:bodyPr>
            <a:normAutofit fontScale="90000"/>
          </a:bodyPr>
          <a:lstStyle/>
          <a:p>
            <a:r>
              <a:rPr lang="en-AU" sz="3600" b="1" dirty="0">
                <a:solidFill>
                  <a:srgbClr val="00B050"/>
                </a:solidFill>
              </a:rPr>
              <a:t>Now it is your turn</a:t>
            </a:r>
          </a:p>
        </p:txBody>
      </p:sp>
      <p:sp>
        <p:nvSpPr>
          <p:cNvPr id="4" name="Content Placeholder 3"/>
          <p:cNvSpPr>
            <a:spLocks noGrp="1"/>
          </p:cNvSpPr>
          <p:nvPr>
            <p:ph idx="1"/>
          </p:nvPr>
        </p:nvSpPr>
        <p:spPr>
          <a:xfrm>
            <a:off x="628650" y="1052736"/>
            <a:ext cx="7886700" cy="5693717"/>
          </a:xfrm>
        </p:spPr>
        <p:txBody>
          <a:bodyPr>
            <a:normAutofit fontScale="92500"/>
          </a:bodyPr>
          <a:lstStyle/>
          <a:p>
            <a:pPr marL="0" indent="0">
              <a:lnSpc>
                <a:spcPct val="100000"/>
              </a:lnSpc>
              <a:spcBef>
                <a:spcPct val="0"/>
              </a:spcBef>
              <a:buNone/>
            </a:pPr>
            <a:r>
              <a:rPr lang="en-AU" sz="3200" dirty="0">
                <a:solidFill>
                  <a:srgbClr val="00B050"/>
                </a:solidFill>
                <a:latin typeface="Calibri" panose="020F0502020204030204" pitchFamily="34" charset="0"/>
                <a:ea typeface="+mj-ea"/>
                <a:cs typeface="Calibri" panose="020F0502020204030204" pitchFamily="34" charset="0"/>
              </a:rPr>
              <a:t>Activity: Thinking about your engineering project. </a:t>
            </a:r>
          </a:p>
          <a:p>
            <a:pPr marL="0" indent="0">
              <a:buNone/>
            </a:pPr>
            <a:endParaRPr lang="en-AU" sz="26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AU" sz="26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eriod"/>
            </a:pPr>
            <a:r>
              <a:rPr lang="en-AU" sz="2400" b="1"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Thinking about yourself as an engineer, address the following:</a:t>
            </a:r>
            <a:endParaRPr lang="en-AU"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685800" lvl="1" indent="-342900">
              <a:buFont typeface="Symbol" panose="05050102010706020507" pitchFamily="18" charset="2"/>
              <a:buChar char=""/>
              <a:tabLst>
                <a:tab pos="457200" algn="l"/>
                <a:tab pos="914400" algn="l"/>
              </a:tabLst>
            </a:pPr>
            <a:r>
              <a:rPr lang="en-US"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What purpose, principles and value do you bring to your role as an engineer?</a:t>
            </a:r>
            <a:endParaRPr lang="en-AU"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685800" lvl="1" indent="-342900">
              <a:buFont typeface="Symbol" panose="05050102010706020507" pitchFamily="18" charset="2"/>
              <a:buChar char=""/>
              <a:tabLst>
                <a:tab pos="457200" algn="l"/>
                <a:tab pos="914400" algn="l"/>
              </a:tabLst>
            </a:pPr>
            <a:endParaRPr lang="en-AU"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AU"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r>
              <a:rPr lang="en-AU" sz="2400"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b</a:t>
            </a:r>
            <a:r>
              <a:rPr lang="en-AU" sz="2400" b="1" i="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Reflect on your project from an ethical perspective and consider:</a:t>
            </a:r>
            <a:endParaRPr lang="en-AU"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685800" lvl="1" indent="-342900">
              <a:buFont typeface="Symbol" panose="05050102010706020507" pitchFamily="18" charset="2"/>
              <a:buChar char=""/>
            </a:pPr>
            <a:r>
              <a:rPr lang="en-AU"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What you are trying to do (what is your purpose)?</a:t>
            </a:r>
          </a:p>
          <a:p>
            <a:pPr marL="685800" lvl="1" indent="-342900">
              <a:buFont typeface="Symbol" panose="05050102010706020507" pitchFamily="18" charset="2"/>
              <a:buChar char=""/>
            </a:pPr>
            <a:r>
              <a:rPr lang="en-AU"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Why are you doing it (what are your values and goals)?</a:t>
            </a:r>
          </a:p>
          <a:p>
            <a:pPr marL="685800" lvl="1" indent="-342900">
              <a:buFont typeface="Symbol" panose="05050102010706020507" pitchFamily="18" charset="2"/>
              <a:buChar char=""/>
            </a:pPr>
            <a:r>
              <a:rPr lang="en-AU"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How you intend to do it (what means will you use to achieve your goals and what principles will constrain this approach)?</a:t>
            </a:r>
          </a:p>
          <a:p>
            <a:pPr marL="685800" lvl="1" indent="-342900">
              <a:buFont typeface="Symbol" panose="05050102010706020507" pitchFamily="18" charset="2"/>
              <a:buChar char=""/>
            </a:pPr>
            <a:r>
              <a:rPr lang="en-AU" sz="2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What you will achieve (what are the foreseeable ends, intended and unintended)?</a:t>
            </a:r>
          </a:p>
          <a:p>
            <a:pPr marL="0" indent="0">
              <a:buNone/>
            </a:pPr>
            <a:endParaRPr lang="en-AU" dirty="0"/>
          </a:p>
        </p:txBody>
      </p:sp>
      <p:sp>
        <p:nvSpPr>
          <p:cNvPr id="5" name="Slide Number Placeholder 4">
            <a:extLst>
              <a:ext uri="{FF2B5EF4-FFF2-40B4-BE49-F238E27FC236}">
                <a16:creationId xmlns:a16="http://schemas.microsoft.com/office/drawing/2014/main" id="{8288C0A0-96DF-2ABC-24EF-A334C6D66F56}"/>
              </a:ext>
            </a:extLst>
          </p:cNvPr>
          <p:cNvSpPr>
            <a:spLocks noGrp="1"/>
          </p:cNvSpPr>
          <p:nvPr>
            <p:ph type="sldNum" sz="quarter" idx="12"/>
          </p:nvPr>
        </p:nvSpPr>
        <p:spPr>
          <a:xfrm>
            <a:off x="8504987" y="6381328"/>
            <a:ext cx="441648" cy="365125"/>
          </a:xfrm>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92BE5362-8AFF-3343-AECE-CA5AF2C8CFED}" type="slidenum">
              <a:rPr kumimoji="0" lang="en-AU" sz="1400" b="0" i="0" u="none" strike="noStrike" kern="1200" cap="none" spc="0" normalizeH="0" baseline="0" noProof="0" smtClean="0">
                <a:ln>
                  <a:noFill/>
                </a:ln>
                <a:solidFill>
                  <a:prstClr val="black">
                    <a:tint val="75000"/>
                  </a:prstClr>
                </a:solidFill>
                <a:effectLst/>
                <a:uLnTx/>
                <a:uFillTx/>
                <a:latin typeface="Arial" charset="0"/>
                <a:ea typeface="ＭＳ Ｐゴシック" charset="0"/>
                <a:cs typeface="Arial" charset="0"/>
              </a:rPr>
              <a:pPr marL="0" marR="0" lvl="0" indent="0" algn="r" defTabSz="914400" rtl="0" eaLnBrk="1" fontAlgn="base" latinLnBrk="0" hangingPunct="1">
                <a:lnSpc>
                  <a:spcPct val="100000"/>
                </a:lnSpc>
                <a:spcBef>
                  <a:spcPct val="50000"/>
                </a:spcBef>
                <a:spcAft>
                  <a:spcPct val="0"/>
                </a:spcAft>
                <a:buClrTx/>
                <a:buSzTx/>
                <a:buFontTx/>
                <a:buNone/>
                <a:tabLst/>
                <a:defRPr/>
              </a:pPr>
              <a:t>8</a:t>
            </a:fld>
            <a:endParaRPr kumimoji="0" lang="en-AU" sz="1400" b="0" i="0" u="none" strike="noStrike" kern="1200" cap="none" spc="0" normalizeH="0" baseline="0" noProof="0" dirty="0">
              <a:ln>
                <a:noFill/>
              </a:ln>
              <a:solidFill>
                <a:prstClr val="black">
                  <a:tint val="75000"/>
                </a:prstClr>
              </a:solidFill>
              <a:effectLst/>
              <a:uLnTx/>
              <a:uFillTx/>
              <a:latin typeface="Arial" charset="0"/>
              <a:ea typeface="ＭＳ Ｐゴシック" charset="0"/>
              <a:cs typeface="Arial" charset="0"/>
            </a:endParaRPr>
          </a:p>
        </p:txBody>
      </p:sp>
    </p:spTree>
    <p:extLst>
      <p:ext uri="{BB962C8B-B14F-4D97-AF65-F5344CB8AC3E}">
        <p14:creationId xmlns:p14="http://schemas.microsoft.com/office/powerpoint/2010/main" val="1212193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p:cNvSpPr txBox="1">
            <a:spLocks noChangeArrowheads="1"/>
          </p:cNvSpPr>
          <p:nvPr/>
        </p:nvSpPr>
        <p:spPr bwMode="auto">
          <a:xfrm>
            <a:off x="323850" y="12700"/>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Assignment 2</a:t>
            </a:r>
          </a:p>
        </p:txBody>
      </p:sp>
      <p:sp>
        <p:nvSpPr>
          <p:cNvPr id="13315" name="Text Box 2"/>
          <p:cNvSpPr txBox="1">
            <a:spLocks noChangeArrowheads="1"/>
          </p:cNvSpPr>
          <p:nvPr/>
        </p:nvSpPr>
        <p:spPr bwMode="auto">
          <a:xfrm>
            <a:off x="323850" y="1341438"/>
            <a:ext cx="8640638" cy="449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anose="02020603050405020304" pitchFamily="18" charset="0"/>
              <a:buNone/>
              <a:defRPr/>
            </a:pPr>
            <a:r>
              <a:rPr lang="en-AU" altLang="en-US" sz="2400" b="1" dirty="0">
                <a:solidFill>
                  <a:schemeClr val="tx1"/>
                </a:solidFill>
                <a:cs typeface="Arial" charset="0"/>
              </a:rPr>
              <a:t>Details</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Essay/report (week 11) and short oral presentation (week 12)</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Project management and Ethics </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Project based</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Total marks available: 15 </a:t>
            </a:r>
            <a:endParaRPr lang="en-AU" altLang="en-US" sz="1800" dirty="0">
              <a:solidFill>
                <a:schemeClr val="tx1"/>
              </a:solidFill>
              <a:cs typeface="Arial" charset="0"/>
            </a:endParaRP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Late Penalty: -10% per day </a:t>
            </a:r>
          </a:p>
          <a:p>
            <a:pPr marL="342900" indent="-342900" eaLnBrk="1" hangingPunct="1">
              <a:buClr>
                <a:srgbClr val="000000"/>
              </a:buClr>
              <a:buSzPct val="100000"/>
              <a:buFont typeface="Arial" panose="020B0604020202020204" pitchFamily="34" charset="0"/>
              <a:buChar char="•"/>
              <a:defRPr/>
            </a:pPr>
            <a:endParaRPr lang="en-AU" altLang="en-US" sz="2400" dirty="0">
              <a:solidFill>
                <a:schemeClr val="bg1"/>
              </a:solidFill>
              <a:cs typeface="Arial" charset="0"/>
            </a:endParaRPr>
          </a:p>
        </p:txBody>
      </p:sp>
      <p:pic>
        <p:nvPicPr>
          <p:cNvPr id="3" name="Picture 2">
            <a:extLst>
              <a:ext uri="{FF2B5EF4-FFF2-40B4-BE49-F238E27FC236}">
                <a16:creationId xmlns:a16="http://schemas.microsoft.com/office/drawing/2014/main" id="{66A5B490-5C37-12A8-97B9-EB019790BD53}"/>
              </a:ext>
            </a:extLst>
          </p:cNvPr>
          <p:cNvPicPr>
            <a:picLocks noChangeAspect="1"/>
          </p:cNvPicPr>
          <p:nvPr/>
        </p:nvPicPr>
        <p:blipFill>
          <a:blip r:embed="rId4">
            <a:alphaModFix amt="20000"/>
          </a:blip>
          <a:stretch>
            <a:fillRect/>
          </a:stretch>
        </p:blipFill>
        <p:spPr>
          <a:xfrm>
            <a:off x="-252536" y="-243408"/>
            <a:ext cx="9793088" cy="7416824"/>
          </a:xfrm>
          <a:prstGeom prst="rect">
            <a:avLst/>
          </a:prstGeom>
        </p:spPr>
      </p:pic>
    </p:spTree>
    <p:custDataLst>
      <p:tags r:id="rId1"/>
    </p:custDataLst>
    <p:extLst>
      <p:ext uri="{BB962C8B-B14F-4D97-AF65-F5344CB8AC3E}">
        <p14:creationId xmlns:p14="http://schemas.microsoft.com/office/powerpoint/2010/main" val="2831766608"/>
      </p:ext>
    </p:extLst>
  </p:cSld>
  <p:clrMapOvr>
    <a:masterClrMapping/>
  </p:clrMapOvr>
  <p:transition spd="med" advTm="144602"/>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
          <p:cNvSpPr txBox="1">
            <a:spLocks noChangeArrowheads="1"/>
          </p:cNvSpPr>
          <p:nvPr/>
        </p:nvSpPr>
        <p:spPr bwMode="auto">
          <a:xfrm>
            <a:off x="323850" y="34854"/>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Assignment 2</a:t>
            </a:r>
          </a:p>
        </p:txBody>
      </p:sp>
      <p:sp>
        <p:nvSpPr>
          <p:cNvPr id="13315" name="Text Box 2"/>
          <p:cNvSpPr txBox="1">
            <a:spLocks noChangeArrowheads="1"/>
          </p:cNvSpPr>
          <p:nvPr/>
        </p:nvSpPr>
        <p:spPr bwMode="auto">
          <a:xfrm>
            <a:off x="320383" y="980728"/>
            <a:ext cx="8614350" cy="5544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spcAft>
                <a:spcPts val="600"/>
              </a:spcAft>
              <a:buClr>
                <a:srgbClr val="000000"/>
              </a:buClr>
              <a:buSzPct val="100000"/>
              <a:buFont typeface="Times New Roman" panose="02020603050405020304" pitchFamily="18" charset="0"/>
              <a:buNone/>
              <a:defRPr/>
            </a:pPr>
            <a:r>
              <a:rPr lang="en-AU" altLang="en-US" sz="3500" b="1" dirty="0">
                <a:cs typeface="Arial" charset="0"/>
              </a:rPr>
              <a:t>Written statement</a:t>
            </a:r>
          </a:p>
          <a:p>
            <a:pPr marL="342900" indent="-342900" eaLnBrk="1" hangingPunct="1">
              <a:spcAft>
                <a:spcPts val="600"/>
              </a:spcAft>
              <a:buClr>
                <a:srgbClr val="000000"/>
              </a:buClr>
              <a:buSzPct val="100000"/>
              <a:buFont typeface="Arial" panose="020B0604020202020204" pitchFamily="34" charset="0"/>
              <a:buChar char="•"/>
              <a:defRPr/>
            </a:pPr>
            <a:r>
              <a:rPr lang="en-AU" altLang="en-US" sz="2400" dirty="0">
                <a:solidFill>
                  <a:schemeClr val="tx1"/>
                </a:solidFill>
                <a:cs typeface="Arial" charset="0"/>
              </a:rPr>
              <a:t>Length: maximum 850 words</a:t>
            </a:r>
          </a:p>
          <a:p>
            <a:pPr eaLnBrk="1" hangingPunct="1">
              <a:spcAft>
                <a:spcPts val="600"/>
              </a:spcAft>
              <a:buClr>
                <a:srgbClr val="000000"/>
              </a:buClr>
              <a:buSzPct val="100000"/>
              <a:buFont typeface="Times New Roman" panose="02020603050405020304" pitchFamily="18" charset="0"/>
              <a:buNone/>
              <a:defRPr/>
            </a:pPr>
            <a:r>
              <a:rPr lang="en-US" altLang="en-US" sz="2000" dirty="0">
                <a:solidFill>
                  <a:schemeClr val="tx1"/>
                </a:solidFill>
                <a:cs typeface="Arial" charset="0"/>
              </a:rPr>
              <a:t>In your statement, at a minimum, complete the following tasks.</a:t>
            </a:r>
          </a:p>
          <a:p>
            <a:pPr eaLnBrk="1" hangingPunct="1">
              <a:spcAft>
                <a:spcPts val="600"/>
              </a:spcAft>
              <a:buClr>
                <a:srgbClr val="000000"/>
              </a:buClr>
              <a:buSzPct val="100000"/>
              <a:buFont typeface="Times New Roman" panose="02020603050405020304" pitchFamily="18" charset="0"/>
              <a:buNone/>
              <a:defRPr/>
            </a:pPr>
            <a:endParaRPr lang="en-AU" altLang="en-US" sz="2000" dirty="0">
              <a:solidFill>
                <a:schemeClr val="tx1"/>
              </a:solidFill>
              <a:cs typeface="Arial" charset="0"/>
            </a:endParaRPr>
          </a:p>
          <a:p>
            <a:pPr eaLnBrk="1" hangingPunct="1">
              <a:spcAft>
                <a:spcPts val="600"/>
              </a:spcAft>
              <a:buClr>
                <a:srgbClr val="000000"/>
              </a:buClr>
              <a:buSzPct val="100000"/>
              <a:defRPr/>
            </a:pPr>
            <a:r>
              <a:rPr lang="en-US" altLang="en-US" sz="2000" dirty="0">
                <a:solidFill>
                  <a:schemeClr val="tx1"/>
                </a:solidFill>
                <a:cs typeface="Arial" charset="0"/>
              </a:rPr>
              <a:t>1. Plain language description of your project</a:t>
            </a:r>
            <a:endParaRPr lang="en-AU" altLang="en-US" sz="2000" dirty="0">
              <a:solidFill>
                <a:schemeClr val="tx1"/>
              </a:solidFill>
              <a:cs typeface="Arial" charset="0"/>
            </a:endParaRPr>
          </a:p>
          <a:p>
            <a:pPr eaLnBrk="1" hangingPunct="1">
              <a:spcAft>
                <a:spcPts val="900"/>
              </a:spcAft>
              <a:buClr>
                <a:srgbClr val="000000"/>
              </a:buClr>
              <a:buSzPct val="100000"/>
              <a:defRPr/>
            </a:pPr>
            <a:r>
              <a:rPr lang="en-US" sz="2000" dirty="0">
                <a:solidFill>
                  <a:schemeClr val="tx1"/>
                </a:solidFill>
                <a:cs typeface="Arial" charset="0"/>
              </a:rPr>
              <a:t>2. Nominate 3 key stakeholder groups</a:t>
            </a:r>
          </a:p>
          <a:p>
            <a:pPr eaLnBrk="1" hangingPunct="1">
              <a:spcAft>
                <a:spcPts val="900"/>
              </a:spcAft>
              <a:buClr>
                <a:srgbClr val="000000"/>
              </a:buClr>
              <a:buSzPct val="100000"/>
              <a:defRPr/>
            </a:pPr>
            <a:r>
              <a:rPr lang="en-AU" sz="2000" dirty="0">
                <a:solidFill>
                  <a:schemeClr val="tx1"/>
                </a:solidFill>
                <a:cs typeface="Arial" charset="0"/>
              </a:rPr>
              <a:t>3. Purpose statement </a:t>
            </a:r>
          </a:p>
          <a:p>
            <a:pPr eaLnBrk="1" hangingPunct="1">
              <a:spcAft>
                <a:spcPts val="900"/>
              </a:spcAft>
              <a:buClr>
                <a:srgbClr val="000000"/>
              </a:buClr>
              <a:buSzPct val="100000"/>
              <a:defRPr/>
            </a:pPr>
            <a:r>
              <a:rPr lang="en-US" sz="2000" dirty="0">
                <a:solidFill>
                  <a:schemeClr val="tx1"/>
                </a:solidFill>
                <a:cs typeface="Arial" charset="0"/>
              </a:rPr>
              <a:t>4. List 3 ethical values and 3 ethical principles </a:t>
            </a:r>
          </a:p>
          <a:p>
            <a:pPr eaLnBrk="1" hangingPunct="1">
              <a:spcAft>
                <a:spcPts val="900"/>
              </a:spcAft>
              <a:buClr>
                <a:srgbClr val="000000"/>
              </a:buClr>
              <a:buSzPct val="100000"/>
              <a:defRPr/>
            </a:pPr>
            <a:r>
              <a:rPr lang="en-AU" sz="2000" dirty="0">
                <a:solidFill>
                  <a:schemeClr val="tx1"/>
                </a:solidFill>
                <a:cs typeface="Arial" charset="0"/>
              </a:rPr>
              <a:t>5. Goals, means and ends</a:t>
            </a:r>
          </a:p>
          <a:p>
            <a:pPr eaLnBrk="1" hangingPunct="1">
              <a:spcAft>
                <a:spcPts val="900"/>
              </a:spcAft>
              <a:buClr>
                <a:srgbClr val="000000"/>
              </a:buClr>
              <a:buSzPct val="100000"/>
              <a:defRPr/>
            </a:pPr>
            <a:r>
              <a:rPr lang="en-AU" sz="2000" dirty="0">
                <a:solidFill>
                  <a:schemeClr val="tx1"/>
                </a:solidFill>
                <a:cs typeface="Arial" charset="0"/>
              </a:rPr>
              <a:t> 6. Relevant</a:t>
            </a:r>
            <a:r>
              <a:rPr lang="en-US" sz="2000" dirty="0">
                <a:solidFill>
                  <a:schemeClr val="tx1"/>
                </a:solidFill>
                <a:cs typeface="Arial" charset="0"/>
              </a:rPr>
              <a:t> tenets of the Consult Australia and/or Engineers Australia </a:t>
            </a:r>
            <a:endParaRPr lang="en-AU" sz="2000" dirty="0">
              <a:solidFill>
                <a:schemeClr val="tx1"/>
              </a:solidFill>
              <a:cs typeface="Arial" charset="0"/>
            </a:endParaRPr>
          </a:p>
        </p:txBody>
      </p:sp>
      <p:pic>
        <p:nvPicPr>
          <p:cNvPr id="3" name="Picture 2"/>
          <p:cNvPicPr>
            <a:picLocks noChangeAspect="1"/>
          </p:cNvPicPr>
          <p:nvPr/>
        </p:nvPicPr>
        <p:blipFill>
          <a:blip r:embed="rId3">
            <a:alphaModFix amt="20000"/>
          </a:blip>
          <a:stretch>
            <a:fillRect/>
          </a:stretch>
        </p:blipFill>
        <p:spPr>
          <a:xfrm>
            <a:off x="107505" y="0"/>
            <a:ext cx="9055124" cy="6823146"/>
          </a:xfrm>
          <a:prstGeom prst="rect">
            <a:avLst/>
          </a:prstGeom>
          <a:ln>
            <a:noFill/>
          </a:ln>
          <a:effectLst>
            <a:softEdge rad="112500"/>
          </a:effectLst>
        </p:spPr>
      </p:pic>
    </p:spTree>
  </p:cSld>
  <p:clrMapOvr>
    <a:masterClrMapping/>
  </p:clrMapOvr>
  <p:transition spd="med" advTm="19286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0355-3D3B-B79C-DDC0-2ACD2034E497}"/>
            </a:ext>
          </a:extLst>
        </p:cNvPr>
        <p:cNvGrpSpPr/>
        <p:nvPr/>
      </p:nvGrpSpPr>
      <p:grpSpPr>
        <a:xfrm>
          <a:off x="0" y="0"/>
          <a:ext cx="0" cy="0"/>
          <a:chOff x="0" y="0"/>
          <a:chExt cx="0" cy="0"/>
        </a:xfrm>
      </p:grpSpPr>
      <p:sp>
        <p:nvSpPr>
          <p:cNvPr id="28674" name="Text Box 1">
            <a:extLst>
              <a:ext uri="{FF2B5EF4-FFF2-40B4-BE49-F238E27FC236}">
                <a16:creationId xmlns:a16="http://schemas.microsoft.com/office/drawing/2014/main" id="{35B89492-F39A-93DD-D0E2-3D2E04605202}"/>
              </a:ext>
            </a:extLst>
          </p:cNvPr>
          <p:cNvSpPr txBox="1">
            <a:spLocks noChangeArrowheads="1"/>
          </p:cNvSpPr>
          <p:nvPr/>
        </p:nvSpPr>
        <p:spPr bwMode="auto">
          <a:xfrm>
            <a:off x="323850" y="34854"/>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srgbClr val="424456"/>
                </a:solidFill>
                <a:effectLst/>
                <a:uLnTx/>
                <a:uFillTx/>
                <a:latin typeface="Trebuchet MS" panose="020B0603020202020204" pitchFamily="34" charset="0"/>
                <a:ea typeface="Microsoft YaHei" panose="020B0503020204020204" pitchFamily="34" charset="-122"/>
                <a:cs typeface="Arial" panose="020B0604020202020204" pitchFamily="34" charset="0"/>
              </a:rPr>
              <a:t>Assignment 2</a:t>
            </a:r>
          </a:p>
        </p:txBody>
      </p:sp>
      <p:sp>
        <p:nvSpPr>
          <p:cNvPr id="13315" name="Text Box 2">
            <a:extLst>
              <a:ext uri="{FF2B5EF4-FFF2-40B4-BE49-F238E27FC236}">
                <a16:creationId xmlns:a16="http://schemas.microsoft.com/office/drawing/2014/main" id="{EE64D27B-9FE2-C523-EA20-0C933A1163DC}"/>
              </a:ext>
            </a:extLst>
          </p:cNvPr>
          <p:cNvSpPr txBox="1">
            <a:spLocks noChangeArrowheads="1"/>
          </p:cNvSpPr>
          <p:nvPr/>
        </p:nvSpPr>
        <p:spPr bwMode="auto">
          <a:xfrm>
            <a:off x="323850" y="1101654"/>
            <a:ext cx="8424614" cy="55677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104140" marR="382905">
              <a:lnSpc>
                <a:spcPct val="98000"/>
              </a:lnSpc>
              <a:spcBef>
                <a:spcPts val="1165"/>
              </a:spcBef>
              <a:buNone/>
            </a:pPr>
            <a:r>
              <a:rPr lang="en-AU" sz="3500" b="1" dirty="0">
                <a:cs typeface="Arial" charset="0"/>
              </a:rPr>
              <a:t>Oral Presentation</a:t>
            </a:r>
          </a:p>
          <a:p>
            <a:pPr marL="104140" marR="382905">
              <a:lnSpc>
                <a:spcPct val="98000"/>
              </a:lnSpc>
              <a:spcBef>
                <a:spcPts val="1165"/>
              </a:spcBef>
              <a:buNone/>
            </a:pPr>
            <a:endParaRPr lang="en-AU" sz="2000" dirty="0">
              <a:solidFill>
                <a:schemeClr val="tx1"/>
              </a:solidFill>
              <a:cs typeface="Arial" charset="0"/>
            </a:endParaRPr>
          </a:p>
          <a:p>
            <a:pPr marL="104140" marR="382905">
              <a:lnSpc>
                <a:spcPct val="98000"/>
              </a:lnSpc>
              <a:spcBef>
                <a:spcPts val="1165"/>
              </a:spcBef>
              <a:buNone/>
            </a:pPr>
            <a:r>
              <a:rPr lang="en-AU" sz="2000" dirty="0">
                <a:solidFill>
                  <a:schemeClr val="tx1"/>
                </a:solidFill>
                <a:cs typeface="Arial" charset="0"/>
              </a:rPr>
              <a:t>1. Presentation of ethical review of your project</a:t>
            </a:r>
          </a:p>
          <a:p>
            <a:pPr marL="104140" marR="382905">
              <a:lnSpc>
                <a:spcPct val="98000"/>
              </a:lnSpc>
              <a:spcBef>
                <a:spcPts val="1165"/>
              </a:spcBef>
              <a:buNone/>
            </a:pPr>
            <a:r>
              <a:rPr lang="en-US" sz="2000" dirty="0">
                <a:solidFill>
                  <a:schemeClr val="tx1"/>
                </a:solidFill>
                <a:cs typeface="Arial" charset="0"/>
              </a:rPr>
              <a:t>An opportunity to provide further information about the ethical aspects of your project, providing additional information and demonstrating your depth of knowledge regarding professional practice ethics</a:t>
            </a:r>
            <a:endParaRPr lang="en-AU" sz="2000" dirty="0">
              <a:solidFill>
                <a:schemeClr val="tx1"/>
              </a:solidFill>
              <a:cs typeface="Arial" charset="0"/>
            </a:endParaRPr>
          </a:p>
          <a:p>
            <a:pPr marL="104140" marR="382905">
              <a:lnSpc>
                <a:spcPct val="98000"/>
              </a:lnSpc>
              <a:spcBef>
                <a:spcPts val="1165"/>
              </a:spcBef>
              <a:buNone/>
            </a:pPr>
            <a:endParaRPr lang="en-AU" sz="2000" dirty="0">
              <a:solidFill>
                <a:schemeClr val="tx1"/>
              </a:solidFill>
              <a:cs typeface="Arial" charset="0"/>
            </a:endParaRPr>
          </a:p>
          <a:p>
            <a:pPr marL="104140" marR="382905">
              <a:lnSpc>
                <a:spcPct val="98000"/>
              </a:lnSpc>
              <a:spcBef>
                <a:spcPts val="1165"/>
              </a:spcBef>
              <a:buNone/>
            </a:pPr>
            <a:r>
              <a:rPr lang="en-AU" sz="2000" dirty="0">
                <a:solidFill>
                  <a:schemeClr val="tx1"/>
                </a:solidFill>
                <a:cs typeface="Arial" charset="0"/>
              </a:rPr>
              <a:t>2. Question and answer</a:t>
            </a:r>
          </a:p>
          <a:p>
            <a:pPr marL="104140" marR="382905">
              <a:lnSpc>
                <a:spcPct val="98000"/>
              </a:lnSpc>
              <a:spcBef>
                <a:spcPts val="1165"/>
              </a:spcBef>
              <a:buNone/>
            </a:pPr>
            <a:r>
              <a:rPr lang="en-AU" sz="2000" dirty="0">
                <a:solidFill>
                  <a:schemeClr val="tx1"/>
                </a:solidFill>
                <a:cs typeface="Arial" charset="0"/>
              </a:rPr>
              <a:t>Examples of the questions. </a:t>
            </a:r>
          </a:p>
          <a:p>
            <a:pPr marL="447040" marR="382905" indent="-342900">
              <a:lnSpc>
                <a:spcPct val="98000"/>
              </a:lnSpc>
              <a:spcBef>
                <a:spcPts val="1165"/>
              </a:spcBef>
              <a:buFont typeface="Arial" panose="020B0604020202020204" pitchFamily="34" charset="0"/>
              <a:buChar char="•"/>
            </a:pPr>
            <a:r>
              <a:rPr lang="en-US" sz="2000" dirty="0">
                <a:solidFill>
                  <a:schemeClr val="tx1"/>
                </a:solidFill>
                <a:cs typeface="Arial" charset="0"/>
              </a:rPr>
              <a:t>why you are confident you could meet your duty of care </a:t>
            </a:r>
          </a:p>
          <a:p>
            <a:pPr marL="447040" marR="382905" indent="-342900">
              <a:lnSpc>
                <a:spcPct val="98000"/>
              </a:lnSpc>
              <a:spcBef>
                <a:spcPts val="1165"/>
              </a:spcBef>
              <a:buFont typeface="Arial" panose="020B0604020202020204" pitchFamily="34" charset="0"/>
              <a:buChar char="•"/>
            </a:pPr>
            <a:r>
              <a:rPr lang="en-US" sz="2000" dirty="0">
                <a:solidFill>
                  <a:schemeClr val="tx1"/>
                </a:solidFill>
                <a:cs typeface="Arial" charset="0"/>
              </a:rPr>
              <a:t>what steps you could take to minimize any harm to stakeholders who may not directly benefit from the project?</a:t>
            </a:r>
            <a:endParaRPr lang="en-AU" sz="2000" dirty="0">
              <a:solidFill>
                <a:schemeClr val="tx1"/>
              </a:solidFill>
              <a:cs typeface="Arial" charset="0"/>
            </a:endParaRPr>
          </a:p>
          <a:p>
            <a:pPr marL="104140" marR="382905">
              <a:lnSpc>
                <a:spcPct val="98000"/>
              </a:lnSpc>
              <a:spcBef>
                <a:spcPts val="1165"/>
              </a:spcBef>
              <a:buNone/>
            </a:pPr>
            <a:endParaRPr lang="en-AU" sz="3500" b="1" dirty="0">
              <a:cs typeface="Arial" charset="0"/>
            </a:endParaRPr>
          </a:p>
        </p:txBody>
      </p:sp>
      <p:pic>
        <p:nvPicPr>
          <p:cNvPr id="3" name="Picture 2">
            <a:extLst>
              <a:ext uri="{FF2B5EF4-FFF2-40B4-BE49-F238E27FC236}">
                <a16:creationId xmlns:a16="http://schemas.microsoft.com/office/drawing/2014/main" id="{5A3AF879-B1D1-944F-708C-E09B648B4E7A}"/>
              </a:ext>
            </a:extLst>
          </p:cNvPr>
          <p:cNvPicPr>
            <a:picLocks noChangeAspect="1"/>
          </p:cNvPicPr>
          <p:nvPr/>
        </p:nvPicPr>
        <p:blipFill>
          <a:blip r:embed="rId3">
            <a:alphaModFix amt="20000"/>
          </a:blip>
          <a:stretch>
            <a:fillRect/>
          </a:stretch>
        </p:blipFill>
        <p:spPr>
          <a:xfrm>
            <a:off x="-27870" y="0"/>
            <a:ext cx="9190498" cy="6858000"/>
          </a:xfrm>
          <a:prstGeom prst="rect">
            <a:avLst/>
          </a:prstGeom>
          <a:ln>
            <a:noFill/>
          </a:ln>
          <a:effectLst>
            <a:softEdge rad="112500"/>
          </a:effectLst>
        </p:spPr>
      </p:pic>
    </p:spTree>
    <p:extLst>
      <p:ext uri="{BB962C8B-B14F-4D97-AF65-F5344CB8AC3E}">
        <p14:creationId xmlns:p14="http://schemas.microsoft.com/office/powerpoint/2010/main" val="2220473136"/>
      </p:ext>
    </p:extLst>
  </p:cSld>
  <p:clrMapOvr>
    <a:masterClrMapping/>
  </p:clrMapOvr>
  <p:transition spd="med" advTm="19286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323850" y="115888"/>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a:solidFill>
                  <a:srgbClr val="424456"/>
                </a:solidFill>
                <a:latin typeface="Trebuchet MS" panose="020B0603020202020204" pitchFamily="34" charset="0"/>
                <a:cs typeface="Arial" panose="020B0604020202020204" pitchFamily="34" charset="0"/>
              </a:rPr>
              <a:t>Essays</a:t>
            </a:r>
          </a:p>
        </p:txBody>
      </p:sp>
      <p:sp>
        <p:nvSpPr>
          <p:cNvPr id="13315" name="Text Box 2"/>
          <p:cNvSpPr txBox="1">
            <a:spLocks noChangeArrowheads="1"/>
          </p:cNvSpPr>
          <p:nvPr/>
        </p:nvSpPr>
        <p:spPr bwMode="auto">
          <a:xfrm>
            <a:off x="590550" y="1182688"/>
            <a:ext cx="8424936" cy="51125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anose="02020603050405020304" pitchFamily="18" charset="0"/>
              <a:buNone/>
              <a:defRPr/>
            </a:pPr>
            <a:r>
              <a:rPr lang="en-AU" altLang="en-US" sz="2400" b="1" dirty="0">
                <a:solidFill>
                  <a:schemeClr val="tx1"/>
                </a:solidFill>
                <a:cs typeface="Arial" charset="0"/>
              </a:rPr>
              <a:t>Advice</a:t>
            </a:r>
          </a:p>
          <a:p>
            <a:pPr marL="342900" indent="-342900" eaLnBrk="1" hangingPunct="1">
              <a:spcAft>
                <a:spcPts val="300"/>
              </a:spcAft>
              <a:buClr>
                <a:srgbClr val="000000"/>
              </a:buClr>
              <a:buSzPct val="100000"/>
              <a:buFont typeface="Arial" panose="020B0604020202020204" pitchFamily="34" charset="0"/>
              <a:buChar char="•"/>
              <a:defRPr/>
            </a:pPr>
            <a:r>
              <a:rPr lang="en-AU" altLang="en-US" sz="2200" dirty="0">
                <a:solidFill>
                  <a:schemeClr val="tx1"/>
                </a:solidFill>
                <a:cs typeface="Arial" charset="0"/>
              </a:rPr>
              <a:t>A list of potential readings and resources will be available on Canvas, but please draw on other relevant sources.</a:t>
            </a:r>
          </a:p>
          <a:p>
            <a:pPr marL="342900" indent="-342900" eaLnBrk="1" hangingPunct="1">
              <a:spcAft>
                <a:spcPts val="300"/>
              </a:spcAft>
              <a:buClr>
                <a:srgbClr val="000000"/>
              </a:buClr>
              <a:buSzPct val="100000"/>
              <a:buFont typeface="Arial" panose="020B0604020202020204" pitchFamily="34" charset="0"/>
              <a:buChar char="•"/>
              <a:defRPr/>
            </a:pPr>
            <a:r>
              <a:rPr lang="en-AU" altLang="en-US" sz="2200" dirty="0">
                <a:solidFill>
                  <a:schemeClr val="tx1"/>
                </a:solidFill>
                <a:cs typeface="Arial" charset="0"/>
              </a:rPr>
              <a:t>Stick to reputable sources (not Wikipedia). Try google scholar and the library search</a:t>
            </a:r>
          </a:p>
          <a:p>
            <a:pPr marL="342900" indent="-342900" eaLnBrk="1" hangingPunct="1">
              <a:spcAft>
                <a:spcPts val="300"/>
              </a:spcAft>
              <a:buClr>
                <a:srgbClr val="000000"/>
              </a:buClr>
              <a:buSzPct val="100000"/>
              <a:buFont typeface="Arial" panose="020B0604020202020204" pitchFamily="34" charset="0"/>
              <a:buChar char="•"/>
              <a:defRPr/>
            </a:pPr>
            <a:r>
              <a:rPr lang="en-AU" altLang="en-US" sz="2200" dirty="0">
                <a:solidFill>
                  <a:schemeClr val="tx1"/>
                </a:solidFill>
                <a:cs typeface="Arial" charset="0"/>
              </a:rPr>
              <a:t>As you research, take notes </a:t>
            </a:r>
          </a:p>
          <a:p>
            <a:pPr marL="1085850" lvl="1" indent="-342900" eaLnBrk="1" hangingPunct="1">
              <a:spcAft>
                <a:spcPts val="300"/>
              </a:spcAft>
              <a:buClr>
                <a:srgbClr val="000000"/>
              </a:buClr>
              <a:buSzPct val="100000"/>
              <a:buFont typeface="Arial" panose="020B0604020202020204" pitchFamily="34" charset="0"/>
              <a:buChar char="•"/>
              <a:defRPr/>
            </a:pPr>
            <a:r>
              <a:rPr lang="en-AU" altLang="en-US" sz="2200" dirty="0">
                <a:solidFill>
                  <a:schemeClr val="tx1"/>
                </a:solidFill>
                <a:cs typeface="Arial" charset="0"/>
              </a:rPr>
              <a:t>Esp. page numbers for quotes and claims you paraphrase</a:t>
            </a:r>
          </a:p>
          <a:p>
            <a:pPr marL="342900" indent="-342900" eaLnBrk="1" hangingPunct="1">
              <a:spcAft>
                <a:spcPts val="300"/>
              </a:spcAft>
              <a:buClr>
                <a:srgbClr val="000000"/>
              </a:buClr>
              <a:buSzPct val="100000"/>
              <a:buFont typeface="Arial" panose="020B0604020202020204" pitchFamily="34" charset="0"/>
              <a:buChar char="•"/>
              <a:defRPr/>
            </a:pPr>
            <a:r>
              <a:rPr lang="en-AU" altLang="en-US" sz="2200" dirty="0">
                <a:solidFill>
                  <a:schemeClr val="tx1"/>
                </a:solidFill>
                <a:cs typeface="Arial" charset="0"/>
              </a:rPr>
              <a:t>Referencing is a requirement of this assignment (including AI)</a:t>
            </a:r>
          </a:p>
          <a:p>
            <a:pPr marL="342900" indent="-342900" eaLnBrk="1" hangingPunct="1">
              <a:spcAft>
                <a:spcPts val="300"/>
              </a:spcAft>
              <a:buClr>
                <a:srgbClr val="000000"/>
              </a:buClr>
              <a:buSzPct val="100000"/>
              <a:buFont typeface="Arial" panose="020B0604020202020204" pitchFamily="34" charset="0"/>
              <a:buChar char="•"/>
              <a:defRPr/>
            </a:pPr>
            <a:r>
              <a:rPr lang="en-US" altLang="en-US" sz="2200" dirty="0">
                <a:solidFill>
                  <a:schemeClr val="tx1"/>
                </a:solidFill>
                <a:cs typeface="Arial" charset="0"/>
              </a:rPr>
              <a:t>Read the question carefully:</a:t>
            </a:r>
          </a:p>
          <a:p>
            <a:pPr marL="1085850" lvl="1" indent="-342900" eaLnBrk="1" hangingPunct="1">
              <a:spcAft>
                <a:spcPts val="300"/>
              </a:spcAft>
              <a:buClr>
                <a:srgbClr val="000000"/>
              </a:buClr>
              <a:buSzPct val="100000"/>
              <a:buFont typeface="Arial" panose="020B0604020202020204" pitchFamily="34" charset="0"/>
              <a:buChar char="•"/>
              <a:defRPr/>
            </a:pPr>
            <a:r>
              <a:rPr lang="en-US" altLang="en-US" sz="2000" dirty="0">
                <a:solidFill>
                  <a:schemeClr val="tx1"/>
                </a:solidFill>
                <a:cs typeface="Arial" charset="0"/>
              </a:rPr>
              <a:t>Identify the key terms</a:t>
            </a:r>
          </a:p>
          <a:p>
            <a:pPr marL="1085850" lvl="1" indent="-342900" eaLnBrk="1" hangingPunct="1">
              <a:spcAft>
                <a:spcPts val="300"/>
              </a:spcAft>
              <a:buClr>
                <a:srgbClr val="000000"/>
              </a:buClr>
              <a:buSzPct val="100000"/>
              <a:buFont typeface="Arial" panose="020B0604020202020204" pitchFamily="34" charset="0"/>
              <a:buChar char="•"/>
              <a:defRPr/>
            </a:pPr>
            <a:r>
              <a:rPr lang="en-US" altLang="en-US" sz="2000" dirty="0">
                <a:solidFill>
                  <a:schemeClr val="tx1"/>
                </a:solidFill>
                <a:cs typeface="Arial" charset="0"/>
              </a:rPr>
              <a:t>Ask yourself: Why is this question important?</a:t>
            </a:r>
          </a:p>
          <a:p>
            <a:pPr marL="1085850" lvl="1" indent="-342900" eaLnBrk="1" hangingPunct="1">
              <a:spcAft>
                <a:spcPts val="300"/>
              </a:spcAft>
              <a:buClr>
                <a:srgbClr val="000000"/>
              </a:buClr>
              <a:buSzPct val="100000"/>
              <a:buFont typeface="Arial" panose="020B0604020202020204" pitchFamily="34" charset="0"/>
              <a:buChar char="•"/>
              <a:defRPr/>
            </a:pPr>
            <a:r>
              <a:rPr lang="en-US" altLang="en-US" sz="2000" dirty="0">
                <a:solidFill>
                  <a:schemeClr val="tx1"/>
                </a:solidFill>
                <a:cs typeface="Arial" charset="0"/>
              </a:rPr>
              <a:t>How does my answer demonstrate my knowledge?</a:t>
            </a:r>
          </a:p>
          <a:p>
            <a:pPr marL="342900" indent="-342900" eaLnBrk="1" hangingPunct="1">
              <a:spcAft>
                <a:spcPts val="300"/>
              </a:spcAft>
              <a:buClr>
                <a:srgbClr val="000000"/>
              </a:buClr>
              <a:buSzPct val="100000"/>
              <a:buFont typeface="Arial" panose="020B0604020202020204" pitchFamily="34" charset="0"/>
              <a:buChar char="•"/>
              <a:defRPr/>
            </a:pPr>
            <a:endParaRPr lang="en-AU" altLang="en-US" sz="2200" dirty="0">
              <a:solidFill>
                <a:schemeClr val="tx1"/>
              </a:solidFill>
              <a:cs typeface="Arial" charset="0"/>
            </a:endParaRPr>
          </a:p>
          <a:p>
            <a:pPr eaLnBrk="1" hangingPunct="1">
              <a:spcAft>
                <a:spcPts val="300"/>
              </a:spcAft>
              <a:buClr>
                <a:srgbClr val="000000"/>
              </a:buClr>
              <a:buSzPct val="100000"/>
              <a:buFont typeface="Times New Roman" panose="02020603050405020304" pitchFamily="18" charset="0"/>
              <a:buNone/>
              <a:defRPr/>
            </a:pPr>
            <a:endParaRPr lang="en-AU" altLang="en-US" sz="2200" dirty="0">
              <a:solidFill>
                <a:schemeClr val="tx1"/>
              </a:solidFill>
              <a:cs typeface="Arial" charset="0"/>
            </a:endParaRPr>
          </a:p>
        </p:txBody>
      </p:sp>
      <p:pic>
        <p:nvPicPr>
          <p:cNvPr id="3" name="Picture 2">
            <a:extLst>
              <a:ext uri="{FF2B5EF4-FFF2-40B4-BE49-F238E27FC236}">
                <a16:creationId xmlns:a16="http://schemas.microsoft.com/office/drawing/2014/main" id="{F9424854-E8AB-5064-8245-1B07E1FF5246}"/>
              </a:ext>
            </a:extLst>
          </p:cNvPr>
          <p:cNvPicPr>
            <a:picLocks noChangeAspect="1"/>
          </p:cNvPicPr>
          <p:nvPr/>
        </p:nvPicPr>
        <p:blipFill>
          <a:blip r:embed="rId3"/>
          <a:stretch>
            <a:fillRect/>
          </a:stretch>
        </p:blipFill>
        <p:spPr>
          <a:xfrm>
            <a:off x="0" y="18191"/>
            <a:ext cx="9144000" cy="6821617"/>
          </a:xfrm>
          <a:prstGeom prst="rect">
            <a:avLst/>
          </a:prstGeom>
        </p:spPr>
      </p:pic>
    </p:spTree>
  </p:cSld>
  <p:clrMapOvr>
    <a:masterClrMapping/>
  </p:clrMapOvr>
  <p:transition spd="med" advTm="269894"/>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00F874-4DCF-9133-FBA1-3A7061CD8B57}"/>
              </a:ext>
            </a:extLst>
          </p:cNvPr>
          <p:cNvPicPr>
            <a:picLocks noChangeAspect="1"/>
          </p:cNvPicPr>
          <p:nvPr/>
        </p:nvPicPr>
        <p:blipFill>
          <a:blip r:embed="rId3"/>
          <a:stretch>
            <a:fillRect/>
          </a:stretch>
        </p:blipFill>
        <p:spPr>
          <a:xfrm>
            <a:off x="0" y="0"/>
            <a:ext cx="9144000" cy="6813376"/>
          </a:xfrm>
          <a:prstGeom prst="rect">
            <a:avLst/>
          </a:prstGeom>
        </p:spPr>
      </p:pic>
      <p:sp>
        <p:nvSpPr>
          <p:cNvPr id="4" name="TextBox 3">
            <a:extLst>
              <a:ext uri="{FF2B5EF4-FFF2-40B4-BE49-F238E27FC236}">
                <a16:creationId xmlns:a16="http://schemas.microsoft.com/office/drawing/2014/main" id="{56DF3755-9DCD-DD54-5F04-DAD37C2ACAE1}"/>
              </a:ext>
            </a:extLst>
          </p:cNvPr>
          <p:cNvSpPr txBox="1"/>
          <p:nvPr/>
        </p:nvSpPr>
        <p:spPr>
          <a:xfrm>
            <a:off x="1763688" y="5338953"/>
            <a:ext cx="6336704" cy="646331"/>
          </a:xfrm>
          <a:prstGeom prst="rect">
            <a:avLst/>
          </a:prstGeom>
          <a:noFill/>
        </p:spPr>
        <p:txBody>
          <a:bodyPr wrap="square" rtlCol="0">
            <a:spAutoFit/>
          </a:bodyPr>
          <a:lstStyle/>
          <a:p>
            <a:r>
              <a:rPr lang="en-AU" sz="3600" dirty="0"/>
              <a:t>The AI Elephant in the room</a:t>
            </a:r>
          </a:p>
        </p:txBody>
      </p:sp>
    </p:spTree>
    <p:extLst>
      <p:ext uri="{BB962C8B-B14F-4D97-AF65-F5344CB8AC3E}">
        <p14:creationId xmlns:p14="http://schemas.microsoft.com/office/powerpoint/2010/main" val="2703642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852" y="147883"/>
            <a:ext cx="7772400" cy="613555"/>
          </a:xfrm>
        </p:spPr>
        <p:txBody>
          <a:bodyPr>
            <a:noAutofit/>
          </a:bodyPr>
          <a:lstStyle/>
          <a:p>
            <a:pPr algn="ctr"/>
            <a:r>
              <a:rPr lang="en-AU" dirty="0"/>
              <a:t>What we will explore</a:t>
            </a:r>
          </a:p>
        </p:txBody>
      </p:sp>
      <p:graphicFrame>
        <p:nvGraphicFramePr>
          <p:cNvPr id="7" name="Content Placeholder 2">
            <a:extLst>
              <a:ext uri="{FF2B5EF4-FFF2-40B4-BE49-F238E27FC236}">
                <a16:creationId xmlns:a16="http://schemas.microsoft.com/office/drawing/2014/main" id="{314859B5-9AC5-4C6B-D978-A5B60C729EB5}"/>
              </a:ext>
            </a:extLst>
          </p:cNvPr>
          <p:cNvGraphicFramePr>
            <a:graphicFrameLocks noGrp="1"/>
          </p:cNvGraphicFramePr>
          <p:nvPr>
            <p:ph idx="1"/>
          </p:nvPr>
        </p:nvGraphicFramePr>
        <p:xfrm>
          <a:off x="450852" y="2348880"/>
          <a:ext cx="8442325" cy="30341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BE5362-8AFF-3343-AECE-CA5AF2C8CFED}" type="slidenum">
              <a:rPr kumimoji="0" lang="en-AU" sz="1200" b="0" i="0" u="none" strike="noStrike" kern="1200" cap="none" spc="0" normalizeH="0" baseline="0" noProof="0">
                <a:ln>
                  <a:noFill/>
                </a:ln>
                <a:solidFill>
                  <a:prstClr val="black">
                    <a:tint val="75000"/>
                  </a:prstClr>
                </a:solidFill>
                <a:effectLst/>
                <a:uLnTx/>
                <a:uFillTx/>
                <a:latin typeface="Calibri" panose="020F0502020204030204"/>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dirty="0">
              <a:ln>
                <a:noFill/>
              </a:ln>
              <a:solidFill>
                <a:prstClr val="black">
                  <a:tint val="75000"/>
                </a:prstClr>
              </a:solidFill>
              <a:effectLst/>
              <a:uLnTx/>
              <a:uFillTx/>
              <a:latin typeface="Calibri" panose="020F0502020204030204"/>
              <a:ea typeface="ＭＳ Ｐゴシック" charset="0"/>
              <a:cs typeface="Arial" charset="0"/>
            </a:endParaRPr>
          </a:p>
        </p:txBody>
      </p:sp>
      <p:sp>
        <p:nvSpPr>
          <p:cNvPr id="5" name="TextBox 4"/>
          <p:cNvSpPr txBox="1"/>
          <p:nvPr/>
        </p:nvSpPr>
        <p:spPr>
          <a:xfrm>
            <a:off x="233704" y="1070208"/>
            <a:ext cx="8442325" cy="1154162"/>
          </a:xfrm>
          <a:prstGeom prst="rect">
            <a:avLst/>
          </a:prstGeom>
          <a:noFill/>
        </p:spPr>
        <p:txBody>
          <a:bodyPr wrap="square" rtlCol="0">
            <a:spAutoFit/>
          </a:bodyPr>
          <a:lstStyle/>
          <a:p>
            <a:pPr marL="180975" marR="0" lvl="0" indent="0" algn="l" defTabSz="914400" rtl="0" eaLnBrk="1" fontAlgn="auto" latinLnBrk="0" hangingPunct="1">
              <a:lnSpc>
                <a:spcPct val="100000"/>
              </a:lnSpc>
              <a:spcBef>
                <a:spcPts val="0"/>
              </a:spcBef>
              <a:spcAft>
                <a:spcPts val="0"/>
              </a:spcAft>
              <a:buClrTx/>
              <a:buSzTx/>
              <a:buFontTx/>
              <a:buNone/>
              <a:tabLst/>
              <a:defRPr/>
            </a:pPr>
            <a:r>
              <a:rPr kumimoji="0" lang="en-AU" sz="2300" b="0" i="0" u="none" strike="noStrike" kern="1200" cap="none" spc="0" normalizeH="0" baseline="0" noProof="0" dirty="0">
                <a:ln>
                  <a:noFill/>
                </a:ln>
                <a:solidFill>
                  <a:srgbClr val="FF0000"/>
                </a:solidFill>
                <a:effectLst/>
                <a:uLnTx/>
                <a:uFillTx/>
                <a:latin typeface="Calibri" panose="020F0502020204030204"/>
                <a:ea typeface="ＭＳ Ｐゴシック" charset="0"/>
                <a:cs typeface="Arial" charset="0"/>
              </a:rPr>
              <a:t>The aim of the ethics classes is to make ethics a virtue so that you understand how to be a responsible and ethical engineer and how to apply ethical principles to your work.</a:t>
            </a:r>
            <a:endParaRPr kumimoji="0" lang="en-AU" sz="2300" b="0" i="1" u="none" strike="noStrike" kern="1200" cap="none" spc="0" normalizeH="0" baseline="0" noProof="0" dirty="0">
              <a:ln>
                <a:noFill/>
              </a:ln>
              <a:solidFill>
                <a:srgbClr val="FF0000"/>
              </a:solidFill>
              <a:effectLst/>
              <a:uLnTx/>
              <a:uFillTx/>
              <a:latin typeface="Calibri" panose="020F0502020204030204"/>
              <a:ea typeface="ＭＳ Ｐゴシック" charset="0"/>
              <a:cs typeface="Arial" charset="0"/>
            </a:endParaRPr>
          </a:p>
        </p:txBody>
      </p:sp>
    </p:spTree>
    <p:extLst>
      <p:ext uri="{BB962C8B-B14F-4D97-AF65-F5344CB8AC3E}">
        <p14:creationId xmlns:p14="http://schemas.microsoft.com/office/powerpoint/2010/main" val="888175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blue surface&#10;&#10;Description automatically generated">
            <a:extLst>
              <a:ext uri="{FF2B5EF4-FFF2-40B4-BE49-F238E27FC236}">
                <a16:creationId xmlns:a16="http://schemas.microsoft.com/office/drawing/2014/main" id="{3807FBEC-B86E-430B-973B-D3356B8C4D65}"/>
              </a:ext>
            </a:extLst>
          </p:cNvPr>
          <p:cNvPicPr>
            <a:picLocks noChangeAspect="1"/>
          </p:cNvPicPr>
          <p:nvPr/>
        </p:nvPicPr>
        <p:blipFill rotWithShape="1">
          <a:blip r:embed="rId3">
            <a:duotone>
              <a:schemeClr val="bg2">
                <a:shade val="45000"/>
                <a:satMod val="135000"/>
              </a:schemeClr>
              <a:prstClr val="white"/>
            </a:duotone>
          </a:blip>
          <a:srcRect t="9091" r="9091"/>
          <a:stretch/>
        </p:blipFill>
        <p:spPr>
          <a:xfrm>
            <a:off x="20" y="10"/>
            <a:ext cx="9143980" cy="6857990"/>
          </a:xfrm>
          <a:prstGeom prst="rect">
            <a:avLst/>
          </a:prstGeom>
        </p:spPr>
      </p:pic>
      <p:sp>
        <p:nvSpPr>
          <p:cNvPr id="2" name="Title 1"/>
          <p:cNvSpPr>
            <a:spLocks noGrp="1"/>
          </p:cNvSpPr>
          <p:nvPr>
            <p:ph type="title"/>
          </p:nvPr>
        </p:nvSpPr>
        <p:spPr/>
        <p:txBody>
          <a:bodyPr>
            <a:normAutofit/>
          </a:bodyPr>
          <a:lstStyle/>
          <a:p>
            <a:pPr algn="ctr"/>
            <a:r>
              <a:rPr lang="en-AU" dirty="0"/>
              <a:t>We want you to:</a:t>
            </a:r>
          </a:p>
        </p:txBody>
      </p:sp>
      <p:sp>
        <p:nvSpPr>
          <p:cNvPr id="5" name="Slide Number Placeholder 4"/>
          <p:cNvSpPr>
            <a:spLocks noGrp="1"/>
          </p:cNvSpPr>
          <p:nvPr>
            <p:ph type="sldNum" sz="quarter" idx="12"/>
          </p:nvPr>
        </p:nvSpPr>
        <p:spPr/>
        <p:txBody>
          <a:bodyPr>
            <a:normAutofit/>
          </a:bodyPr>
          <a:lstStyle/>
          <a:p>
            <a:pPr marL="0" marR="0" lvl="0" indent="0" defTabSz="914400" rtl="0" eaLnBrk="1" fontAlgn="auto" latinLnBrk="0" hangingPunct="1">
              <a:spcBef>
                <a:spcPts val="0"/>
              </a:spcBef>
              <a:spcAft>
                <a:spcPts val="600"/>
              </a:spcAft>
              <a:buClrTx/>
              <a:buSzTx/>
              <a:buFontTx/>
              <a:buNone/>
              <a:tabLst/>
              <a:defRPr/>
            </a:pPr>
            <a:fld id="{92BE5362-8AFF-3343-AECE-CA5AF2C8CFED}" type="slidenum">
              <a:rPr kumimoji="0" lang="en-AU" b="0" i="0" u="none" strike="noStrike" kern="1200" cap="none" spc="0" normalizeH="0" baseline="0" noProof="0" smtClean="0">
                <a:ln>
                  <a:noFill/>
                </a:ln>
                <a:effectLst/>
                <a:uLnTx/>
                <a:uFillTx/>
                <a:latin typeface="Calibri" panose="020F0502020204030204"/>
                <a:ea typeface="ＭＳ Ｐゴシック" charset="0"/>
                <a:cs typeface="Arial" charset="0"/>
              </a:rPr>
              <a:pPr marL="0" marR="0" lvl="0" indent="0" defTabSz="914400" rtl="0" eaLnBrk="1" fontAlgn="auto" latinLnBrk="0" hangingPunct="1">
                <a:spcBef>
                  <a:spcPts val="0"/>
                </a:spcBef>
                <a:spcAft>
                  <a:spcPts val="600"/>
                </a:spcAft>
                <a:buClrTx/>
                <a:buSzTx/>
                <a:buFontTx/>
                <a:buNone/>
                <a:tabLst/>
                <a:defRPr/>
              </a:pPr>
              <a:t>15</a:t>
            </a:fld>
            <a:endParaRPr kumimoji="0" lang="en-AU" b="0" i="0" u="none" strike="noStrike" kern="1200" cap="none" spc="0" normalizeH="0" baseline="0" noProof="0">
              <a:ln>
                <a:noFill/>
              </a:ln>
              <a:effectLst/>
              <a:uLnTx/>
              <a:uFillTx/>
              <a:latin typeface="Calibri" panose="020F0502020204030204"/>
              <a:ea typeface="ＭＳ Ｐゴシック" charset="0"/>
              <a:cs typeface="Arial" charset="0"/>
            </a:endParaRPr>
          </a:p>
        </p:txBody>
      </p:sp>
      <p:graphicFrame>
        <p:nvGraphicFramePr>
          <p:cNvPr id="14" name="Content Placeholder 2">
            <a:extLst>
              <a:ext uri="{FF2B5EF4-FFF2-40B4-BE49-F238E27FC236}">
                <a16:creationId xmlns:a16="http://schemas.microsoft.com/office/drawing/2014/main" id="{83ACF8A3-C130-932F-DC18-A7B97DB8013B}"/>
              </a:ext>
            </a:extLst>
          </p:cNvPr>
          <p:cNvGraphicFramePr/>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35618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C6F55-DEEC-76EF-DA07-172726F0A0C4}"/>
              </a:ext>
            </a:extLst>
          </p:cNvPr>
          <p:cNvPicPr>
            <a:picLocks noChangeAspect="1"/>
          </p:cNvPicPr>
          <p:nvPr/>
        </p:nvPicPr>
        <p:blipFill rotWithShape="1">
          <a:blip r:embed="rId3">
            <a:duotone>
              <a:schemeClr val="bg2">
                <a:shade val="45000"/>
                <a:satMod val="135000"/>
              </a:schemeClr>
              <a:prstClr val="white"/>
            </a:duotone>
          </a:blip>
          <a:srcRect r="11334"/>
          <a:stretch/>
        </p:blipFill>
        <p:spPr>
          <a:xfrm>
            <a:off x="20" y="10"/>
            <a:ext cx="9143980" cy="6857990"/>
          </a:xfrm>
          <a:prstGeom prst="rect">
            <a:avLst/>
          </a:prstGeom>
        </p:spPr>
      </p:pic>
      <p:sp>
        <p:nvSpPr>
          <p:cNvPr id="2" name="Title 1"/>
          <p:cNvSpPr>
            <a:spLocks noGrp="1"/>
          </p:cNvSpPr>
          <p:nvPr>
            <p:ph type="title"/>
          </p:nvPr>
        </p:nvSpPr>
        <p:spPr/>
        <p:txBody>
          <a:bodyPr>
            <a:normAutofit/>
          </a:bodyPr>
          <a:lstStyle/>
          <a:p>
            <a:pPr algn="ctr"/>
            <a:r>
              <a:rPr lang="en-AU" dirty="0"/>
              <a:t>What you should understand</a:t>
            </a:r>
          </a:p>
        </p:txBody>
      </p:sp>
      <p:graphicFrame>
        <p:nvGraphicFramePr>
          <p:cNvPr id="7" name="Content Placeholder 2">
            <a:extLst>
              <a:ext uri="{FF2B5EF4-FFF2-40B4-BE49-F238E27FC236}">
                <a16:creationId xmlns:a16="http://schemas.microsoft.com/office/drawing/2014/main" id="{66F96765-E2C6-668F-3DE3-0ED2270600C2}"/>
              </a:ext>
            </a:extLst>
          </p:cNvPr>
          <p:cNvGraphicFramePr>
            <a:graphicFrameLocks noGrp="1"/>
          </p:cNvGraphicFramePr>
          <p:nvPr>
            <p:ph idx="1"/>
          </p:nvPr>
        </p:nvGraphicFramePr>
        <p:xfrm>
          <a:off x="323528" y="1825624"/>
          <a:ext cx="8568952" cy="45307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Slide Number Placeholder 4"/>
          <p:cNvSpPr>
            <a:spLocks noGrp="1"/>
          </p:cNvSpPr>
          <p:nvPr>
            <p:ph type="sldNum" sz="quarter" idx="12"/>
          </p:nvPr>
        </p:nvSpPr>
        <p:spPr/>
        <p:txBody>
          <a:bodyPr>
            <a:normAutofit/>
          </a:bodyPr>
          <a:lstStyle/>
          <a:p>
            <a:pPr marL="0" marR="0" lvl="0" indent="0" defTabSz="914400" rtl="0" eaLnBrk="1" fontAlgn="auto" latinLnBrk="0" hangingPunct="1">
              <a:spcBef>
                <a:spcPts val="0"/>
              </a:spcBef>
              <a:spcAft>
                <a:spcPts val="600"/>
              </a:spcAft>
              <a:buClrTx/>
              <a:buSzTx/>
              <a:buFontTx/>
              <a:buNone/>
              <a:tabLst/>
              <a:defRPr/>
            </a:pPr>
            <a:fld id="{92BE5362-8AFF-3343-AECE-CA5AF2C8CFED}" type="slidenum">
              <a:rPr kumimoji="0" lang="en-AU" b="0" i="0" u="none" strike="noStrike" kern="1200" cap="none" spc="0" normalizeH="0" baseline="0" noProof="0">
                <a:ln>
                  <a:noFill/>
                </a:ln>
                <a:effectLst/>
                <a:uLnTx/>
                <a:uFillTx/>
                <a:latin typeface="Calibri" panose="020F0502020204030204"/>
                <a:ea typeface="ＭＳ Ｐゴシック" charset="0"/>
                <a:cs typeface="Arial" charset="0"/>
              </a:rPr>
              <a:pPr marL="0" marR="0" lvl="0" indent="0" defTabSz="914400" rtl="0" eaLnBrk="1" fontAlgn="auto" latinLnBrk="0" hangingPunct="1">
                <a:spcBef>
                  <a:spcPts val="0"/>
                </a:spcBef>
                <a:spcAft>
                  <a:spcPts val="600"/>
                </a:spcAft>
                <a:buClrTx/>
                <a:buSzTx/>
                <a:buFontTx/>
                <a:buNone/>
                <a:tabLst/>
                <a:defRPr/>
              </a:pPr>
              <a:t>16</a:t>
            </a:fld>
            <a:endParaRPr kumimoji="0" lang="en-AU" b="0" i="0" u="none" strike="noStrike" kern="1200" cap="none" spc="0" normalizeH="0" baseline="0" noProof="0">
              <a:ln>
                <a:noFill/>
              </a:ln>
              <a:effectLst/>
              <a:uLnTx/>
              <a:uFillTx/>
              <a:latin typeface="Calibri" panose="020F0502020204030204"/>
              <a:ea typeface="ＭＳ Ｐゴシック" charset="0"/>
              <a:cs typeface="Arial" charset="0"/>
            </a:endParaRPr>
          </a:p>
        </p:txBody>
      </p:sp>
    </p:spTree>
    <p:extLst>
      <p:ext uri="{BB962C8B-B14F-4D97-AF65-F5344CB8AC3E}">
        <p14:creationId xmlns:p14="http://schemas.microsoft.com/office/powerpoint/2010/main" val="3653541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21"/>
          <p:cNvSpPr txBox="1">
            <a:spLocks noGrp="1"/>
          </p:cNvSpPr>
          <p:nvPr>
            <p:ph type="title"/>
          </p:nvPr>
        </p:nvSpPr>
        <p:spPr>
          <a:xfrm>
            <a:off x="251520" y="233965"/>
            <a:ext cx="8784976" cy="67659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300"/>
              <a:buFont typeface="Calibri"/>
              <a:buNone/>
            </a:pPr>
            <a:r>
              <a:rPr lang="en-US" sz="4400" dirty="0">
                <a:latin typeface="Calibri Light" panose="020F0302020204030204" pitchFamily="34" charset="0"/>
                <a:cs typeface="Calibri Light" panose="020F0302020204030204" pitchFamily="34" charset="0"/>
              </a:rPr>
              <a:t>Ethical Impact Threshold Assessment</a:t>
            </a:r>
            <a:endParaRPr sz="4400" dirty="0">
              <a:solidFill>
                <a:schemeClr val="accent1"/>
              </a:solidFill>
              <a:latin typeface="Calibri Light" panose="020F0302020204030204" pitchFamily="34" charset="0"/>
              <a:cs typeface="Calibri Light" panose="020F0302020204030204" pitchFamily="34" charset="0"/>
            </a:endParaRPr>
          </a:p>
        </p:txBody>
      </p:sp>
      <p:sp>
        <p:nvSpPr>
          <p:cNvPr id="4" name="Text Placeholder 3">
            <a:extLst>
              <a:ext uri="{FF2B5EF4-FFF2-40B4-BE49-F238E27FC236}">
                <a16:creationId xmlns:a16="http://schemas.microsoft.com/office/drawing/2014/main" id="{2C9875DE-FCAE-463C-76A5-8D737A7079D4}"/>
              </a:ext>
            </a:extLst>
          </p:cNvPr>
          <p:cNvSpPr>
            <a:spLocks noGrp="1"/>
          </p:cNvSpPr>
          <p:nvPr>
            <p:ph idx="1"/>
          </p:nvPr>
        </p:nvSpPr>
        <p:spPr>
          <a:xfrm>
            <a:off x="628650" y="2420888"/>
            <a:ext cx="7886700" cy="2160240"/>
          </a:xfrm>
        </p:spPr>
        <p:txBody>
          <a:bodyPr>
            <a:normAutofit/>
          </a:bodyPr>
          <a:lstStyle/>
          <a:p>
            <a:pPr marL="114300" indent="0">
              <a:buNone/>
            </a:pPr>
            <a:endParaRPr lang="en-US" sz="1800" dirty="0"/>
          </a:p>
          <a:p>
            <a:pPr marL="114300" indent="0">
              <a:buNone/>
            </a:pPr>
            <a:r>
              <a:rPr lang="en-US" sz="2000" dirty="0"/>
              <a:t>Because of the serious moral challenges that are raised by emerging technologies … it is important for us to have an understanding, as early as possible in the innovation cycle, an understanding of the ethical issues, dilemmas and opportunities engendered by emerging technologies.</a:t>
            </a:r>
          </a:p>
          <a:p>
            <a:pPr marL="114300" indent="0">
              <a:buNone/>
            </a:pPr>
            <a:endParaRPr lang="en-AU" sz="1400" dirty="0"/>
          </a:p>
        </p:txBody>
      </p:sp>
      <p:sp>
        <p:nvSpPr>
          <p:cNvPr id="707" name="Google Shape;707;p21"/>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9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900" b="0" i="0" u="none" strike="noStrike" kern="0" cap="none" spc="0" normalizeH="0" baseline="0" noProof="0">
              <a:ln>
                <a:noFill/>
              </a:ln>
              <a:solidFill>
                <a:srgbClr val="888888"/>
              </a:solidFill>
              <a:effectLst/>
              <a:uLnTx/>
              <a:uFillTx/>
              <a:latin typeface="Calibri"/>
              <a:cs typeface="Calibri"/>
              <a:sym typeface="Calibri"/>
            </a:endParaRPr>
          </a:p>
        </p:txBody>
      </p:sp>
      <p:sp>
        <p:nvSpPr>
          <p:cNvPr id="709" name="Google Shape;709;p21"/>
          <p:cNvSpPr txBox="1"/>
          <p:nvPr/>
        </p:nvSpPr>
        <p:spPr>
          <a:xfrm>
            <a:off x="2394861" y="6122474"/>
            <a:ext cx="5773779" cy="61551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hlinkClick r:id="rId3"/>
              </a:rPr>
              <a:t>https://www.sienna-project.eu/robotics/</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934632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989F9-E88E-DFAC-D959-F7130A599DA2}"/>
              </a:ext>
            </a:extLst>
          </p:cNvPr>
          <p:cNvSpPr>
            <a:spLocks noGrp="1"/>
          </p:cNvSpPr>
          <p:nvPr>
            <p:ph type="title"/>
          </p:nvPr>
        </p:nvSpPr>
        <p:spPr>
          <a:xfrm>
            <a:off x="621609" y="98140"/>
            <a:ext cx="7886700" cy="831626"/>
          </a:xfrm>
        </p:spPr>
        <p:txBody>
          <a:bodyPr>
            <a:normAutofit/>
          </a:bodyPr>
          <a:lstStyle/>
          <a:p>
            <a:pPr algn="ctr"/>
            <a:r>
              <a:rPr kumimoji="0" lang="en-AU" sz="4400" b="0" i="0" u="none" strike="noStrike" kern="1200" cap="none" spc="0" normalizeH="0" baseline="0" noProof="0" dirty="0">
                <a:ln>
                  <a:noFill/>
                </a:ln>
                <a:solidFill>
                  <a:srgbClr val="000000"/>
                </a:solidFill>
                <a:effectLst/>
                <a:uLnTx/>
                <a:uFillTx/>
                <a:ea typeface="Trebuchet MS"/>
                <a:cs typeface="Trebuchet MS"/>
                <a:sym typeface="Trebuchet MS"/>
              </a:rPr>
              <a:t>Technology Ethics</a:t>
            </a:r>
            <a:endParaRPr lang="en-AU" sz="4400" dirty="0"/>
          </a:p>
        </p:txBody>
      </p:sp>
      <p:pic>
        <p:nvPicPr>
          <p:cNvPr id="8" name="Content Placeholder 7">
            <a:extLst>
              <a:ext uri="{FF2B5EF4-FFF2-40B4-BE49-F238E27FC236}">
                <a16:creationId xmlns:a16="http://schemas.microsoft.com/office/drawing/2014/main" id="{562A8029-4218-C3C9-3412-E25E50584B07}"/>
              </a:ext>
            </a:extLst>
          </p:cNvPr>
          <p:cNvPicPr>
            <a:picLocks noGrp="1" noChangeAspect="1"/>
          </p:cNvPicPr>
          <p:nvPr>
            <p:ph idx="1"/>
          </p:nvPr>
        </p:nvPicPr>
        <p:blipFill>
          <a:blip r:embed="rId3"/>
          <a:stretch>
            <a:fillRect/>
          </a:stretch>
        </p:blipFill>
        <p:spPr>
          <a:xfrm>
            <a:off x="1519744" y="1057237"/>
            <a:ext cx="6090429" cy="3001333"/>
          </a:xfrm>
        </p:spPr>
      </p:pic>
      <p:sp>
        <p:nvSpPr>
          <p:cNvPr id="6" name="Slide Number Placeholder 5">
            <a:extLst>
              <a:ext uri="{FF2B5EF4-FFF2-40B4-BE49-F238E27FC236}">
                <a16:creationId xmlns:a16="http://schemas.microsoft.com/office/drawing/2014/main" id="{AC613516-D291-15E4-9F2C-EE22FD430EA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2D380165-A0A5-8047-AC68-EDE67F1D7AA2}" type="slidenum">
              <a:rPr kumimoji="0" lang="en-AU" sz="900" b="0" i="0" u="none" strike="noStrike" kern="1200" cap="none" spc="0" normalizeH="0" baseline="0" noProof="0" smtClean="0">
                <a:ln>
                  <a:noFill/>
                </a:ln>
                <a:solidFill>
                  <a:prstClr val="black">
                    <a:tint val="75000"/>
                  </a:prstClr>
                </a:solidFill>
                <a:effectLst/>
                <a:uLnTx/>
                <a:uFillTx/>
                <a:latin typeface="Arial" charset="0"/>
                <a:ea typeface="ＭＳ Ｐゴシック" charset="0"/>
                <a:cs typeface="Arial" charset="0"/>
              </a:rPr>
              <a:pPr marL="0" marR="0" lvl="0" indent="0" algn="r" defTabSz="914400" rtl="0" eaLnBrk="1" fontAlgn="base" latinLnBrk="0" hangingPunct="1">
                <a:lnSpc>
                  <a:spcPct val="100000"/>
                </a:lnSpc>
                <a:spcBef>
                  <a:spcPct val="50000"/>
                </a:spcBef>
                <a:spcAft>
                  <a:spcPct val="0"/>
                </a:spcAft>
                <a:buClrTx/>
                <a:buSzTx/>
                <a:buFontTx/>
                <a:buNone/>
                <a:tabLst/>
                <a:defRPr/>
              </a:pPr>
              <a:t>18</a:t>
            </a:fld>
            <a:endParaRPr kumimoji="0" lang="en-AU" sz="900" b="0" i="0" u="none" strike="noStrike" kern="1200" cap="none" spc="0" normalizeH="0" baseline="0" noProof="0" dirty="0">
              <a:ln>
                <a:noFill/>
              </a:ln>
              <a:solidFill>
                <a:prstClr val="black">
                  <a:tint val="75000"/>
                </a:prstClr>
              </a:solidFill>
              <a:effectLst/>
              <a:uLnTx/>
              <a:uFillTx/>
              <a:latin typeface="Arial" charset="0"/>
              <a:ea typeface="ＭＳ Ｐゴシック" charset="0"/>
              <a:cs typeface="Arial" charset="0"/>
            </a:endParaRPr>
          </a:p>
        </p:txBody>
      </p:sp>
      <p:sp>
        <p:nvSpPr>
          <p:cNvPr id="10" name="TextBox 9">
            <a:extLst>
              <a:ext uri="{FF2B5EF4-FFF2-40B4-BE49-F238E27FC236}">
                <a16:creationId xmlns:a16="http://schemas.microsoft.com/office/drawing/2014/main" id="{FFD77DD9-99B1-E24D-2413-948C8350FA04}"/>
              </a:ext>
            </a:extLst>
          </p:cNvPr>
          <p:cNvSpPr txBox="1"/>
          <p:nvPr/>
        </p:nvSpPr>
        <p:spPr>
          <a:xfrm>
            <a:off x="621610" y="4300096"/>
            <a:ext cx="8216864" cy="2504379"/>
          </a:xfrm>
          <a:prstGeom prst="rect">
            <a:avLst/>
          </a:prstGeom>
          <a:noFill/>
        </p:spPr>
        <p:txBody>
          <a:bodyPr wrap="square">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Technology</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 Defined, independently of any artifacts or applications.</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Artifact</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 Usable products (physical and procedural) of a technology</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Application</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 How the artifact is used by various users in particular contexts and domains</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rPr>
              <a:t>				(Source: Brey 2012) </a:t>
            </a:r>
            <a:endParaRPr kumimoji="0" lang="en-AU"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Arial" charset="0"/>
            </a:endParaRPr>
          </a:p>
        </p:txBody>
      </p:sp>
    </p:spTree>
    <p:extLst>
      <p:ext uri="{BB962C8B-B14F-4D97-AF65-F5344CB8AC3E}">
        <p14:creationId xmlns:p14="http://schemas.microsoft.com/office/powerpoint/2010/main" val="366549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ChangeArrowheads="1"/>
          </p:cNvSpPr>
          <p:nvPr>
            <p:ph type="title"/>
          </p:nvPr>
        </p:nvSpPr>
        <p:spPr>
          <a:xfrm>
            <a:off x="0" y="0"/>
            <a:ext cx="9143999" cy="1367110"/>
          </a:xfrm>
        </p:spPr>
        <p:txBody>
          <a:bodyPr>
            <a:noAutofit/>
          </a:bodyPr>
          <a:lstStyle/>
          <a:p>
            <a:pPr marL="152400" marR="370840" defTabSz="449263" fontAlgn="base">
              <a:spcAft>
                <a:spcPct val="0"/>
              </a:spcAft>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z="3800" dirty="0">
                <a:solidFill>
                  <a:schemeClr val="tx1"/>
                </a:solidFill>
                <a:latin typeface="Trebuchet MS" panose="020B0603020202020204" pitchFamily="34" charset="0"/>
                <a:ea typeface="Microsoft YaHei" panose="020B0503020204020204" pitchFamily="34" charset="-122"/>
                <a:cs typeface="Arial" panose="020B0604020202020204" pitchFamily="34" charset="0"/>
              </a:rPr>
              <a:t>Societal responsibilities as a challenge</a:t>
            </a:r>
          </a:p>
        </p:txBody>
      </p:sp>
      <p:sp>
        <p:nvSpPr>
          <p:cNvPr id="36867" name="Rectangle 1027"/>
          <p:cNvSpPr>
            <a:spLocks noGrp="1" noChangeArrowheads="1"/>
          </p:cNvSpPr>
          <p:nvPr>
            <p:ph idx="1"/>
          </p:nvPr>
        </p:nvSpPr>
        <p:spPr>
          <a:xfrm>
            <a:off x="684212" y="1628800"/>
            <a:ext cx="6229636" cy="4162400"/>
          </a:xfrm>
        </p:spPr>
        <p:txBody>
          <a:bodyPr>
            <a:noAutofit/>
          </a:bodyPr>
          <a:lstStyle/>
          <a:p>
            <a:pPr marL="0" indent="0">
              <a:lnSpc>
                <a:spcPct val="90000"/>
              </a:lnSpc>
              <a:spcAft>
                <a:spcPts val="1200"/>
              </a:spcAft>
              <a:buNone/>
            </a:pPr>
            <a:r>
              <a:rPr lang="en-AU" sz="2200" dirty="0">
                <a:effectLst/>
                <a:latin typeface="Georgia" panose="02040502050405020303" pitchFamily="18" charset="0"/>
                <a:ea typeface="ＭＳ Ｐゴシック" pitchFamily="1" charset="-128"/>
                <a:cs typeface="Arial" panose="020B0604020202020204" pitchFamily="34" charset="0"/>
              </a:rPr>
              <a:t>The role of the professions and its importance in  helping make society/communities function better.</a:t>
            </a:r>
          </a:p>
          <a:p>
            <a:pPr marL="0" indent="0">
              <a:lnSpc>
                <a:spcPct val="90000"/>
              </a:lnSpc>
              <a:spcAft>
                <a:spcPts val="1200"/>
              </a:spcAft>
              <a:buNone/>
            </a:pPr>
            <a:endParaRPr lang="en-AU" sz="2200" dirty="0">
              <a:effectLst/>
              <a:latin typeface="Georgia" panose="02040502050405020303" pitchFamily="18" charset="0"/>
              <a:ea typeface="ＭＳ Ｐゴシック" pitchFamily="1" charset="-128"/>
              <a:cs typeface="Arial" panose="020B0604020202020204" pitchFamily="34" charset="0"/>
            </a:endParaRPr>
          </a:p>
          <a:p>
            <a:pPr marL="0" indent="0">
              <a:lnSpc>
                <a:spcPct val="90000"/>
              </a:lnSpc>
              <a:spcAft>
                <a:spcPts val="1200"/>
              </a:spcAft>
              <a:buNone/>
            </a:pPr>
            <a:r>
              <a:rPr lang="en-AU" sz="2200" dirty="0">
                <a:effectLst/>
                <a:latin typeface="Georgia" panose="02040502050405020303" pitchFamily="18" charset="0"/>
                <a:ea typeface="ＭＳ Ｐゴシック" pitchFamily="1" charset="-128"/>
                <a:cs typeface="Arial" panose="020B0604020202020204" pitchFamily="34" charset="0"/>
              </a:rPr>
              <a:t>The concept of the ‘social contract’ – rewards of  status/privilege/money/etc in return for supporting  </a:t>
            </a:r>
            <a:r>
              <a:rPr lang="en-AU" sz="2200" dirty="0">
                <a:solidFill>
                  <a:srgbClr val="FF0000"/>
                </a:solidFill>
                <a:effectLst/>
                <a:latin typeface="Georgia" panose="02040502050405020303" pitchFamily="18" charset="0"/>
                <a:ea typeface="ＭＳ Ｐゴシック" pitchFamily="1" charset="-128"/>
                <a:cs typeface="Arial" panose="020B0604020202020204" pitchFamily="34" charset="0"/>
              </a:rPr>
              <a:t>societal needs.</a:t>
            </a:r>
          </a:p>
          <a:p>
            <a:pPr lvl="1">
              <a:lnSpc>
                <a:spcPct val="90000"/>
              </a:lnSpc>
              <a:buNone/>
            </a:pPr>
            <a:endParaRPr lang="en-US" sz="1800" dirty="0">
              <a:solidFill>
                <a:schemeClr val="bg1"/>
              </a:solidFill>
              <a:latin typeface="Georgia" panose="02040502050405020303" pitchFamily="18" charset="0"/>
              <a:ea typeface="ＭＳ Ｐゴシック" pitchFamily="1" charset="-128"/>
              <a:cs typeface="ＭＳ Ｐゴシック" pitchFamily="1" charset="-128"/>
            </a:endParaRPr>
          </a:p>
        </p:txBody>
      </p:sp>
      <p:pic>
        <p:nvPicPr>
          <p:cNvPr id="5" name="Picture 4" descr="your-new-job-title-is-accomplice.jpg"/>
          <p:cNvPicPr>
            <a:picLocks noChangeAspect="1"/>
          </p:cNvPicPr>
          <p:nvPr/>
        </p:nvPicPr>
        <p:blipFill>
          <a:blip r:embed="rId3"/>
          <a:stretch>
            <a:fillRect/>
          </a:stretch>
        </p:blipFill>
        <p:spPr>
          <a:xfrm>
            <a:off x="7363914" y="3460339"/>
            <a:ext cx="1761750" cy="3397661"/>
          </a:xfrm>
          <a:prstGeom prst="rect">
            <a:avLst/>
          </a:prstGeom>
          <a:effectLst>
            <a:softEdge rad="101600"/>
          </a:effectLst>
        </p:spPr>
      </p:pic>
    </p:spTree>
    <p:extLst>
      <p:ext uri="{BB962C8B-B14F-4D97-AF65-F5344CB8AC3E}">
        <p14:creationId xmlns:p14="http://schemas.microsoft.com/office/powerpoint/2010/main" val="3126232567"/>
      </p:ext>
    </p:extLst>
  </p:cSld>
  <p:clrMapOvr>
    <a:masterClrMapping/>
  </p:clrMapOvr>
  <mc:AlternateContent xmlns:mc="http://schemas.openxmlformats.org/markup-compatibility/2006" xmlns:p14="http://schemas.microsoft.com/office/powerpoint/2010/main">
    <mc:Choice Requires="p14">
      <p:transition spd="slow" p14:dur="17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1"/>
          <p:cNvSpPr txBox="1">
            <a:spLocks noChangeArrowheads="1"/>
          </p:cNvSpPr>
          <p:nvPr/>
        </p:nvSpPr>
        <p:spPr bwMode="auto">
          <a:xfrm>
            <a:off x="438150" y="441325"/>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a:solidFill>
                  <a:srgbClr val="424456"/>
                </a:solidFill>
                <a:latin typeface="Trebuchet MS" panose="020B0603020202020204" pitchFamily="34" charset="0"/>
                <a:cs typeface="Arial" panose="020B0604020202020204" pitchFamily="34" charset="0"/>
              </a:rPr>
              <a:t>Ethics	</a:t>
            </a:r>
          </a:p>
        </p:txBody>
      </p:sp>
      <p:sp>
        <p:nvSpPr>
          <p:cNvPr id="6147" name="Text Box 2"/>
          <p:cNvSpPr txBox="1">
            <a:spLocks noChangeArrowheads="1"/>
          </p:cNvSpPr>
          <p:nvPr/>
        </p:nvSpPr>
        <p:spPr bwMode="auto">
          <a:xfrm>
            <a:off x="438150" y="1689100"/>
            <a:ext cx="8705850" cy="411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107950">
              <a:lnSpc>
                <a:spcPct val="90000"/>
              </a:lnSpc>
              <a:spcBef>
                <a:spcPts val="1200"/>
              </a:spcBef>
              <a:spcAft>
                <a:spcPts val="200"/>
              </a:spcAft>
              <a:buClr>
                <a:schemeClr val="accent1"/>
              </a:buClr>
              <a:buSzPct val="100000"/>
              <a:buFont typeface="Calibri" panose="020F0502020204030204" pitchFamily="34" charset="0"/>
              <a:buChar char=" "/>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404040"/>
                </a:solidFill>
                <a:latin typeface="Calibri" panose="020F0502020204030204" pitchFamily="34" charset="0"/>
              </a:defRPr>
            </a:lvl1pPr>
            <a:lvl2pPr marL="655638" indent="-244475">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404040"/>
                </a:solidFill>
                <a:latin typeface="Calibri" panose="020F0502020204030204" pitchFamily="34" charset="0"/>
              </a:defRPr>
            </a:lvl2pPr>
            <a:lvl3pPr marL="85725">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5pPr>
            <a:lvl6pPr marL="13890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6pPr>
            <a:lvl7pPr marL="18462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7pPr>
            <a:lvl8pPr marL="23034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8pPr>
            <a:lvl9pPr marL="27606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9pPr>
          </a:lstStyle>
          <a:p>
            <a:pPr eaLnBrk="1" hangingPunct="1">
              <a:lnSpc>
                <a:spcPct val="100000"/>
              </a:lnSpc>
              <a:spcBef>
                <a:spcPts val="300"/>
              </a:spcBef>
              <a:spcAft>
                <a:spcPct val="0"/>
              </a:spcAft>
              <a:buClr>
                <a:srgbClr val="A04DA3"/>
              </a:buClr>
              <a:buFont typeface="Times New Roman" panose="02020603050405020304" pitchFamily="18" charset="0"/>
              <a:buNone/>
            </a:pPr>
            <a:r>
              <a:rPr lang="en-AU" altLang="en-US" sz="2400" dirty="0">
                <a:solidFill>
                  <a:schemeClr val="tx1"/>
                </a:solidFill>
                <a:latin typeface="Georgia" panose="02040502050405020303" pitchFamily="18" charset="0"/>
                <a:cs typeface="Arial" panose="020B0604020202020204" pitchFamily="34" charset="0"/>
              </a:rPr>
              <a:t>Ethics is about </a:t>
            </a:r>
            <a:r>
              <a:rPr lang="en-AU" altLang="en-US" sz="2400" b="1" i="1" dirty="0">
                <a:solidFill>
                  <a:schemeClr val="tx1"/>
                </a:solidFill>
                <a:latin typeface="Georgia" panose="02040502050405020303" pitchFamily="18" charset="0"/>
                <a:cs typeface="Arial" panose="020B0604020202020204" pitchFamily="34" charset="0"/>
              </a:rPr>
              <a:t>how</a:t>
            </a:r>
            <a:r>
              <a:rPr lang="en-AU" altLang="en-US" sz="2400" dirty="0">
                <a:solidFill>
                  <a:schemeClr val="tx1"/>
                </a:solidFill>
                <a:latin typeface="Georgia" panose="02040502050405020303" pitchFamily="18" charset="0"/>
                <a:cs typeface="Arial" panose="020B0604020202020204" pitchFamily="34" charset="0"/>
              </a:rPr>
              <a:t> we ought to behave. And </a:t>
            </a:r>
            <a:r>
              <a:rPr lang="en-AU" altLang="en-US" sz="2400" b="1" i="1" dirty="0">
                <a:solidFill>
                  <a:schemeClr val="tx1"/>
                </a:solidFill>
                <a:latin typeface="Georgia" panose="02040502050405020303" pitchFamily="18" charset="0"/>
                <a:cs typeface="Arial" panose="020B0604020202020204" pitchFamily="34" charset="0"/>
              </a:rPr>
              <a:t>why</a:t>
            </a:r>
            <a:r>
              <a:rPr lang="en-AU" altLang="en-US" sz="2400" dirty="0">
                <a:solidFill>
                  <a:schemeClr val="tx1"/>
                </a:solidFill>
                <a:latin typeface="Georgia" panose="02040502050405020303" pitchFamily="18" charset="0"/>
                <a:cs typeface="Arial" panose="020B0604020202020204" pitchFamily="34" charset="0"/>
              </a:rPr>
              <a:t>. </a:t>
            </a:r>
          </a:p>
          <a:p>
            <a:pPr eaLnBrk="1" hangingPunct="1">
              <a:lnSpc>
                <a:spcPct val="100000"/>
              </a:lnSpc>
              <a:spcBef>
                <a:spcPts val="300"/>
              </a:spcBef>
              <a:spcAft>
                <a:spcPct val="0"/>
              </a:spcAft>
              <a:buClr>
                <a:srgbClr val="A04DA3"/>
              </a:buClr>
              <a:buFont typeface="Times New Roman" panose="02020603050405020304" pitchFamily="18" charset="0"/>
              <a:buNone/>
            </a:pPr>
            <a:endParaRPr lang="en-AU" altLang="en-US" sz="2400" dirty="0">
              <a:solidFill>
                <a:schemeClr val="tx1"/>
              </a:solidFill>
              <a:latin typeface="Georgia" panose="02040502050405020303" pitchFamily="18" charset="0"/>
              <a:cs typeface="Arial" panose="020B0604020202020204" pitchFamily="34" charset="0"/>
            </a:endParaRPr>
          </a:p>
          <a:p>
            <a:pPr eaLnBrk="1" hangingPunct="1">
              <a:lnSpc>
                <a:spcPct val="100000"/>
              </a:lnSpc>
              <a:spcBef>
                <a:spcPts val="300"/>
              </a:spcBef>
              <a:spcAft>
                <a:spcPct val="0"/>
              </a:spcAft>
              <a:buClr>
                <a:srgbClr val="A04DA3"/>
              </a:buClr>
              <a:buFont typeface="Times New Roman" panose="02020603050405020304" pitchFamily="18" charset="0"/>
              <a:buNone/>
            </a:pPr>
            <a:r>
              <a:rPr lang="en-AU" altLang="en-US" sz="2400" dirty="0">
                <a:solidFill>
                  <a:schemeClr val="tx1"/>
                </a:solidFill>
                <a:latin typeface="Georgia" panose="02040502050405020303" pitchFamily="18" charset="0"/>
                <a:cs typeface="Arial" panose="020B0604020202020204" pitchFamily="34" charset="0"/>
              </a:rPr>
              <a:t>Ethics is a part of everyday life</a:t>
            </a:r>
          </a:p>
          <a:p>
            <a:pPr lvl="1" eaLnBrk="1" hangingPunct="1">
              <a:lnSpc>
                <a:spcPct val="100000"/>
              </a:lnSpc>
              <a:spcBef>
                <a:spcPts val="300"/>
              </a:spcBef>
              <a:spcAft>
                <a:spcPct val="0"/>
              </a:spcAft>
              <a:buClrTx/>
              <a:buFont typeface="Arial" panose="020B0604020202020204" pitchFamily="34" charset="0"/>
              <a:buChar char="•"/>
            </a:pPr>
            <a:r>
              <a:rPr lang="en-AU" altLang="en-US" sz="2200" dirty="0">
                <a:solidFill>
                  <a:schemeClr val="tx1"/>
                </a:solidFill>
                <a:latin typeface="Georgia" panose="02040502050405020303" pitchFamily="18" charset="0"/>
                <a:cs typeface="Arial" panose="020B0604020202020204" pitchFamily="34" charset="0"/>
              </a:rPr>
              <a:t>Ethics applies to all people, in all places, at all the time (there’s no such thing as a ‘ethics-free zone’) </a:t>
            </a:r>
          </a:p>
          <a:p>
            <a:pPr eaLnBrk="1" hangingPunct="1">
              <a:lnSpc>
                <a:spcPct val="100000"/>
              </a:lnSpc>
              <a:spcBef>
                <a:spcPts val="300"/>
              </a:spcBef>
              <a:spcAft>
                <a:spcPct val="0"/>
              </a:spcAft>
              <a:buClr>
                <a:srgbClr val="A04DA3"/>
              </a:buClr>
              <a:buFont typeface="Times New Roman" panose="02020603050405020304" pitchFamily="18" charset="0"/>
              <a:buNone/>
            </a:pPr>
            <a:endParaRPr lang="en-AU" altLang="en-US" sz="2400" dirty="0">
              <a:solidFill>
                <a:schemeClr val="tx1"/>
              </a:solidFill>
              <a:latin typeface="Georgia" panose="02040502050405020303" pitchFamily="18" charset="0"/>
              <a:cs typeface="Arial" panose="020B0604020202020204" pitchFamily="34" charset="0"/>
            </a:endParaRPr>
          </a:p>
          <a:p>
            <a:pPr eaLnBrk="1" hangingPunct="1">
              <a:lnSpc>
                <a:spcPct val="100000"/>
              </a:lnSpc>
              <a:spcBef>
                <a:spcPts val="300"/>
              </a:spcBef>
              <a:spcAft>
                <a:spcPct val="0"/>
              </a:spcAft>
              <a:buClr>
                <a:srgbClr val="A04DA3"/>
              </a:buClr>
              <a:buFont typeface="Times New Roman" panose="02020603050405020304" pitchFamily="18" charset="0"/>
              <a:buNone/>
            </a:pPr>
            <a:r>
              <a:rPr lang="en-AU" altLang="en-US" sz="2400" dirty="0">
                <a:solidFill>
                  <a:schemeClr val="tx1"/>
                </a:solidFill>
                <a:latin typeface="Georgia" panose="02040502050405020303" pitchFamily="18" charset="0"/>
                <a:cs typeface="Arial" panose="020B0604020202020204" pitchFamily="34" charset="0"/>
              </a:rPr>
              <a:t>Ethical insights can range from the trivial to the profound</a:t>
            </a:r>
          </a:p>
          <a:p>
            <a:pPr lvl="1" eaLnBrk="1" hangingPunct="1">
              <a:lnSpc>
                <a:spcPct val="100000"/>
              </a:lnSpc>
              <a:spcBef>
                <a:spcPts val="300"/>
              </a:spcBef>
              <a:spcAft>
                <a:spcPct val="0"/>
              </a:spcAft>
              <a:buClrTx/>
              <a:buFont typeface="Arial" panose="020B0604020202020204" pitchFamily="34" charset="0"/>
              <a:buChar char="•"/>
            </a:pPr>
            <a:r>
              <a:rPr lang="en-AU" altLang="en-US" sz="2200" dirty="0">
                <a:solidFill>
                  <a:schemeClr val="tx1"/>
                </a:solidFill>
                <a:latin typeface="Georgia" panose="02040502050405020303" pitchFamily="18" charset="0"/>
                <a:cs typeface="Arial" panose="020B0604020202020204" pitchFamily="34" charset="0"/>
              </a:rPr>
              <a:t>Sometimes morality is straightforward, other times it can be very complicated</a:t>
            </a:r>
          </a:p>
          <a:p>
            <a:pPr lvl="2" indent="0" eaLnBrk="1" hangingPunct="1">
              <a:lnSpc>
                <a:spcPct val="100000"/>
              </a:lnSpc>
              <a:spcBef>
                <a:spcPts val="300"/>
              </a:spcBef>
              <a:spcAft>
                <a:spcPct val="0"/>
              </a:spcAft>
              <a:buClr>
                <a:srgbClr val="438086"/>
              </a:buClr>
              <a:buFont typeface="Times New Roman" panose="02020603050405020304" pitchFamily="18" charset="0"/>
              <a:buNone/>
            </a:pPr>
            <a:endParaRPr lang="en-AU" altLang="en-US" sz="2400" dirty="0">
              <a:solidFill>
                <a:schemeClr val="tx1"/>
              </a:solidFill>
              <a:latin typeface="Georgia" panose="02040502050405020303" pitchFamily="18" charset="0"/>
              <a:cs typeface="Arial" panose="020B0604020202020204" pitchFamily="34" charset="0"/>
            </a:endParaRPr>
          </a:p>
        </p:txBody>
      </p:sp>
      <p:pic>
        <p:nvPicPr>
          <p:cNvPr id="21508" name="Picture 5" descr="http://www.overcomingbias.com/wp-content/uploads/2013/01/Got-ethic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052" y="0"/>
            <a:ext cx="2537948"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advTm="246984"/>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p:cNvSpPr txBox="1">
            <a:spLocks noChangeArrowheads="1"/>
          </p:cNvSpPr>
          <p:nvPr/>
        </p:nvSpPr>
        <p:spPr bwMode="auto">
          <a:xfrm>
            <a:off x="630936" y="109894"/>
            <a:ext cx="7882128" cy="100564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1440" tIns="45720" rIns="91440" bIns="45720" rtlCol="0" anchor="ctr">
            <a:norm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algn="ctr" defTabSz="914400" eaLnBrk="1" hangingPunct="1">
              <a:lnSpc>
                <a:spcPct val="90000"/>
              </a:lnSpc>
              <a:spcAft>
                <a:spcPts val="600"/>
              </a:spcAft>
              <a:buSzPct val="100000"/>
            </a:pPr>
            <a:r>
              <a:rPr lang="en-US" altLang="en-US" sz="3500" kern="1200" dirty="0">
                <a:solidFill>
                  <a:schemeClr val="tx1"/>
                </a:solidFill>
                <a:latin typeface="+mj-lt"/>
                <a:ea typeface="+mj-ea"/>
                <a:cs typeface="+mj-cs"/>
              </a:rPr>
              <a:t>The Language of Ethics</a:t>
            </a:r>
          </a:p>
        </p:txBody>
      </p:sp>
      <p:sp>
        <p:nvSpPr>
          <p:cNvPr id="23555" name="Text Box 2"/>
          <p:cNvSpPr txBox="1">
            <a:spLocks noChangeArrowheads="1"/>
          </p:cNvSpPr>
          <p:nvPr/>
        </p:nvSpPr>
        <p:spPr bwMode="auto">
          <a:xfrm>
            <a:off x="649242" y="2404474"/>
            <a:ext cx="3651589" cy="2558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107950">
              <a:lnSpc>
                <a:spcPct val="90000"/>
              </a:lnSpc>
              <a:spcBef>
                <a:spcPts val="1200"/>
              </a:spcBef>
              <a:spcAft>
                <a:spcPts val="200"/>
              </a:spcAft>
              <a:buClr>
                <a:schemeClr val="accent1"/>
              </a:buClr>
              <a:buSzPct val="100000"/>
              <a:buFont typeface="Calibri" panose="020F0502020204030204" pitchFamily="34" charset="0"/>
              <a:buChar char=" "/>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404040"/>
                </a:solidFill>
                <a:latin typeface="Calibri" panose="020F0502020204030204" pitchFamily="34" charset="0"/>
              </a:defRPr>
            </a:lvl1pPr>
            <a:lvl2pPr marL="655638" indent="-244475">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5pPr>
            <a:lvl6pPr marL="13890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6pPr>
            <a:lvl7pPr marL="18462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7pPr>
            <a:lvl8pPr marL="23034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8pPr>
            <a:lvl9pPr marL="27606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9pPr>
          </a:lstStyle>
          <a:p>
            <a:pPr marL="87440" defTabSz="363903" eaLnBrk="1" hangingPunct="1">
              <a:lnSpc>
                <a:spcPct val="100000"/>
              </a:lnSpc>
              <a:spcBef>
                <a:spcPts val="243"/>
              </a:spcBef>
              <a:spcAft>
                <a:spcPts val="486"/>
              </a:spcAft>
              <a:buClr>
                <a:srgbClr val="A04DA3"/>
              </a:buClr>
              <a:buNone/>
              <a:tabLst>
                <a:tab pos="738092" algn="l"/>
                <a:tab pos="1478756" algn="l"/>
                <a:tab pos="2219420" algn="l"/>
                <a:tab pos="2960084" algn="l"/>
                <a:tab pos="3700748" algn="l"/>
                <a:tab pos="4441412" algn="l"/>
                <a:tab pos="5182076" algn="l"/>
                <a:tab pos="5922740" algn="l"/>
                <a:tab pos="6663404" algn="l"/>
                <a:tab pos="7404068" algn="l"/>
                <a:tab pos="8144732" algn="l"/>
              </a:tabLst>
            </a:pPr>
            <a:r>
              <a:rPr lang="en-AU" altLang="en-US" sz="1944" u="sng" kern="1200" dirty="0">
                <a:solidFill>
                  <a:schemeClr val="tx1"/>
                </a:solidFill>
                <a:latin typeface="+mn-lt"/>
                <a:ea typeface="Microsoft YaHei" panose="020B0503020204020204" pitchFamily="34" charset="-122"/>
                <a:cs typeface="Arial"/>
              </a:rPr>
              <a:t>Morality vs Self-interest</a:t>
            </a:r>
          </a:p>
          <a:p>
            <a:pPr marL="365189" indent="-277749" defTabSz="363903" eaLnBrk="1" hangingPunct="1">
              <a:lnSpc>
                <a:spcPct val="100000"/>
              </a:lnSpc>
              <a:spcBef>
                <a:spcPts val="243"/>
              </a:spcBef>
              <a:spcAft>
                <a:spcPct val="0"/>
              </a:spcAft>
              <a:buClr>
                <a:srgbClr val="A04DA3"/>
              </a:buClr>
              <a:tabLst>
                <a:tab pos="738092" algn="l"/>
                <a:tab pos="1478756" algn="l"/>
                <a:tab pos="2219420" algn="l"/>
                <a:tab pos="2960084" algn="l"/>
                <a:tab pos="3700748" algn="l"/>
                <a:tab pos="4441412" algn="l"/>
                <a:tab pos="5182076" algn="l"/>
                <a:tab pos="5922740" algn="l"/>
                <a:tab pos="6663404" algn="l"/>
                <a:tab pos="7404068" algn="l"/>
                <a:tab pos="8144732" algn="l"/>
              </a:tabLst>
            </a:pPr>
            <a:endParaRPr lang="en-AU" altLang="en-US" sz="1944" kern="1200" dirty="0">
              <a:solidFill>
                <a:schemeClr val="tx1"/>
              </a:solidFill>
              <a:latin typeface="+mn-lt"/>
              <a:ea typeface="Microsoft YaHei" panose="020B0503020204020204" pitchFamily="34" charset="-122"/>
              <a:cs typeface="Arial"/>
            </a:endParaRPr>
          </a:p>
          <a:p>
            <a:pPr marL="87440" defTabSz="363903" eaLnBrk="1" hangingPunct="1">
              <a:lnSpc>
                <a:spcPct val="100000"/>
              </a:lnSpc>
              <a:spcBef>
                <a:spcPts val="243"/>
              </a:spcBef>
              <a:spcAft>
                <a:spcPct val="0"/>
              </a:spcAft>
              <a:buClr>
                <a:srgbClr val="A04DA3"/>
              </a:buClr>
              <a:buNone/>
              <a:tabLst>
                <a:tab pos="738092" algn="l"/>
                <a:tab pos="1478756" algn="l"/>
                <a:tab pos="2219420" algn="l"/>
                <a:tab pos="2960084" algn="l"/>
                <a:tab pos="3700748" algn="l"/>
                <a:tab pos="4441412" algn="l"/>
                <a:tab pos="5182076" algn="l"/>
                <a:tab pos="5922740" algn="l"/>
                <a:tab pos="6663404" algn="l"/>
                <a:tab pos="7404068" algn="l"/>
                <a:tab pos="8144732" algn="l"/>
              </a:tabLst>
            </a:pPr>
            <a:r>
              <a:rPr lang="en-AU" altLang="en-US" sz="1944" kern="1200" dirty="0">
                <a:solidFill>
                  <a:schemeClr val="tx1"/>
                </a:solidFill>
                <a:latin typeface="+mn-lt"/>
                <a:ea typeface="Microsoft YaHei" panose="020B0503020204020204" pitchFamily="34" charset="-122"/>
                <a:cs typeface="Arial"/>
              </a:rPr>
              <a:t>Even though ethical behaviour is </a:t>
            </a:r>
            <a:r>
              <a:rPr lang="en-AU" altLang="en-US" sz="1944" i="1" kern="1200" dirty="0">
                <a:solidFill>
                  <a:schemeClr val="tx1"/>
                </a:solidFill>
                <a:latin typeface="+mn-lt"/>
                <a:ea typeface="Microsoft YaHei" panose="020B0503020204020204" pitchFamily="34" charset="-122"/>
                <a:cs typeface="Arial"/>
              </a:rPr>
              <a:t>often</a:t>
            </a:r>
            <a:r>
              <a:rPr lang="en-AU" altLang="en-US" sz="1944" kern="1200" dirty="0">
                <a:solidFill>
                  <a:schemeClr val="tx1"/>
                </a:solidFill>
                <a:latin typeface="+mn-lt"/>
                <a:ea typeface="Microsoft YaHei" panose="020B0503020204020204" pitchFamily="34" charset="-122"/>
                <a:cs typeface="Arial"/>
              </a:rPr>
              <a:t> in someone’s self-interest, ethical behaviour is </a:t>
            </a:r>
            <a:r>
              <a:rPr lang="en-AU" altLang="en-US" sz="1944" i="1" kern="1200" dirty="0">
                <a:solidFill>
                  <a:schemeClr val="tx1"/>
                </a:solidFill>
                <a:latin typeface="+mn-lt"/>
                <a:ea typeface="Microsoft YaHei" panose="020B0503020204020204" pitchFamily="34" charset="-122"/>
                <a:cs typeface="Arial"/>
              </a:rPr>
              <a:t>not</a:t>
            </a:r>
            <a:r>
              <a:rPr lang="en-AU" altLang="en-US" sz="1944" kern="1200" dirty="0">
                <a:solidFill>
                  <a:schemeClr val="tx1"/>
                </a:solidFill>
                <a:latin typeface="+mn-lt"/>
                <a:ea typeface="Microsoft YaHei" panose="020B0503020204020204" pitchFamily="34" charset="-122"/>
                <a:cs typeface="Arial"/>
              </a:rPr>
              <a:t> the same as self-interest.</a:t>
            </a:r>
          </a:p>
          <a:p>
            <a:pPr marL="531067" lvl="1" indent="-198025" defTabSz="363903" eaLnBrk="1" hangingPunct="1">
              <a:lnSpc>
                <a:spcPct val="100000"/>
              </a:lnSpc>
              <a:spcBef>
                <a:spcPts val="243"/>
              </a:spcBef>
              <a:spcAft>
                <a:spcPct val="0"/>
              </a:spcAft>
              <a:buClr>
                <a:srgbClr val="438086"/>
              </a:buClr>
              <a:buNone/>
              <a:tabLst>
                <a:tab pos="738092" algn="l"/>
                <a:tab pos="1478756" algn="l"/>
                <a:tab pos="2219420" algn="l"/>
                <a:tab pos="2960084" algn="l"/>
                <a:tab pos="3700748" algn="l"/>
                <a:tab pos="4441412" algn="l"/>
                <a:tab pos="5182076" algn="l"/>
                <a:tab pos="5922740" algn="l"/>
                <a:tab pos="6663404" algn="l"/>
                <a:tab pos="7404068" algn="l"/>
                <a:tab pos="8144732" algn="l"/>
              </a:tabLst>
            </a:pPr>
            <a:r>
              <a:rPr lang="en-AU" altLang="en-US" sz="1944" i="1" kern="1200" dirty="0">
                <a:solidFill>
                  <a:srgbClr val="000000"/>
                </a:solidFill>
                <a:latin typeface="Georgia" panose="02040502050405020303" pitchFamily="18" charset="0"/>
                <a:ea typeface="Microsoft YaHei" panose="020B0503020204020204" pitchFamily="34" charset="-122"/>
                <a:cs typeface="Arial" panose="020B0604020202020204" pitchFamily="34" charset="0"/>
              </a:rPr>
              <a:t> </a:t>
            </a:r>
          </a:p>
          <a:p>
            <a:pPr marL="531067" lvl="1" indent="-198025" defTabSz="363903" eaLnBrk="1" hangingPunct="1">
              <a:lnSpc>
                <a:spcPct val="100000"/>
              </a:lnSpc>
              <a:spcBef>
                <a:spcPts val="243"/>
              </a:spcBef>
              <a:spcAft>
                <a:spcPct val="0"/>
              </a:spcAft>
              <a:buClr>
                <a:srgbClr val="438086"/>
              </a:buClr>
              <a:buNone/>
              <a:tabLst>
                <a:tab pos="738092" algn="l"/>
                <a:tab pos="1478756" algn="l"/>
                <a:tab pos="2219420" algn="l"/>
                <a:tab pos="2960084" algn="l"/>
                <a:tab pos="3700748" algn="l"/>
                <a:tab pos="4441412" algn="l"/>
                <a:tab pos="5182076" algn="l"/>
                <a:tab pos="5922740" algn="l"/>
                <a:tab pos="6663404" algn="l"/>
                <a:tab pos="7404068" algn="l"/>
                <a:tab pos="8144732" algn="l"/>
              </a:tabLst>
            </a:pPr>
            <a:endParaRPr lang="en-AU" altLang="en-US" sz="1944" i="1" kern="1200" dirty="0">
              <a:solidFill>
                <a:srgbClr val="438086"/>
              </a:solidFill>
              <a:latin typeface="Georgia" panose="02040502050405020303" pitchFamily="18" charset="0"/>
              <a:ea typeface="Microsoft YaHei" panose="020B0503020204020204" pitchFamily="34" charset="-122"/>
              <a:cs typeface="Arial" panose="020B0604020202020204" pitchFamily="34" charset="0"/>
            </a:endParaRPr>
          </a:p>
          <a:p>
            <a:pPr marL="87440" defTabSz="363903" eaLnBrk="1" hangingPunct="1">
              <a:lnSpc>
                <a:spcPct val="100000"/>
              </a:lnSpc>
              <a:spcBef>
                <a:spcPts val="243"/>
              </a:spcBef>
              <a:spcAft>
                <a:spcPct val="0"/>
              </a:spcAft>
              <a:buClr>
                <a:srgbClr val="A04DA3"/>
              </a:buClr>
              <a:buNone/>
              <a:tabLst>
                <a:tab pos="738092" algn="l"/>
                <a:tab pos="1478756" algn="l"/>
                <a:tab pos="2219420" algn="l"/>
                <a:tab pos="2960084" algn="l"/>
                <a:tab pos="3700748" algn="l"/>
                <a:tab pos="4441412" algn="l"/>
                <a:tab pos="5182076" algn="l"/>
                <a:tab pos="5922740" algn="l"/>
                <a:tab pos="6663404" algn="l"/>
                <a:tab pos="7404068" algn="l"/>
                <a:tab pos="8144732" algn="l"/>
              </a:tabLst>
            </a:pPr>
            <a:endParaRPr lang="en-AU" altLang="en-US" sz="1944" i="1" kern="1200" dirty="0">
              <a:solidFill>
                <a:srgbClr val="C00000"/>
              </a:solidFill>
              <a:latin typeface="Georgia" panose="02040502050405020303" pitchFamily="18" charset="0"/>
              <a:ea typeface="Microsoft YaHei" panose="020B0503020204020204" pitchFamily="34" charset="-122"/>
              <a:cs typeface="Arial" panose="020B0604020202020204" pitchFamily="34" charset="0"/>
            </a:endParaRPr>
          </a:p>
          <a:p>
            <a:pPr eaLnBrk="1" hangingPunct="1">
              <a:lnSpc>
                <a:spcPct val="100000"/>
              </a:lnSpc>
              <a:spcBef>
                <a:spcPts val="300"/>
              </a:spcBef>
              <a:spcAft>
                <a:spcPct val="0"/>
              </a:spcAft>
              <a:buClr>
                <a:srgbClr val="A04DA3"/>
              </a:buClr>
              <a:buFont typeface="Georgia" panose="02040502050405020303" pitchFamily="18" charset="0"/>
              <a:buNone/>
            </a:pPr>
            <a:endParaRPr lang="en-AU" altLang="en-US" sz="2400" i="1" dirty="0">
              <a:solidFill>
                <a:srgbClr val="000000"/>
              </a:solidFill>
              <a:latin typeface="Georgia" panose="02040502050405020303" pitchFamily="18"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5171913"/>
            <a:ext cx="2311560" cy="1586532"/>
          </a:xfrm>
          <a:prstGeom prst="rect">
            <a:avLst/>
          </a:prstGeom>
          <a:ln>
            <a:noFill/>
          </a:ln>
          <a:effectLst>
            <a:softEdge rad="112500"/>
          </a:effectLst>
        </p:spPr>
      </p:pic>
      <p:sp>
        <p:nvSpPr>
          <p:cNvPr id="4" name="TextBox 3">
            <a:extLst>
              <a:ext uri="{FF2B5EF4-FFF2-40B4-BE49-F238E27FC236}">
                <a16:creationId xmlns:a16="http://schemas.microsoft.com/office/drawing/2014/main" id="{2C2D4011-50DA-CF3F-41A1-BC4406908DD9}"/>
              </a:ext>
            </a:extLst>
          </p:cNvPr>
          <p:cNvSpPr txBox="1"/>
          <p:nvPr/>
        </p:nvSpPr>
        <p:spPr>
          <a:xfrm>
            <a:off x="5249988" y="2404474"/>
            <a:ext cx="3260790" cy="2612000"/>
          </a:xfrm>
          <a:prstGeom prst="rect">
            <a:avLst/>
          </a:prstGeom>
          <a:noFill/>
        </p:spPr>
        <p:txBody>
          <a:bodyPr wrap="square">
            <a:spAutoFit/>
          </a:bodyPr>
          <a:lstStyle/>
          <a:p>
            <a:pPr defTabSz="740664" eaLnBrk="1" hangingPunct="1">
              <a:spcBef>
                <a:spcPts val="243"/>
              </a:spcBef>
              <a:buClr>
                <a:srgbClr val="A04DA3"/>
              </a:buClr>
              <a:defRPr/>
            </a:pPr>
            <a:r>
              <a:rPr lang="en-AU" altLang="en-US" sz="1944" u="sng" kern="1200" dirty="0">
                <a:solidFill>
                  <a:schemeClr val="tx1"/>
                </a:solidFill>
                <a:latin typeface="Calibri" panose="020F0502020204030204"/>
                <a:ea typeface="ＭＳ Ｐゴシック" charset="0"/>
                <a:cs typeface="Arial"/>
              </a:rPr>
              <a:t>Morality vs Legality</a:t>
            </a:r>
          </a:p>
          <a:p>
            <a:pPr defTabSz="740664" eaLnBrk="1" hangingPunct="1">
              <a:spcBef>
                <a:spcPts val="243"/>
              </a:spcBef>
              <a:buClr>
                <a:srgbClr val="A04DA3"/>
              </a:buClr>
              <a:defRPr/>
            </a:pPr>
            <a:endParaRPr lang="en-AU" altLang="en-US" sz="1944" u="sng" kern="1200" dirty="0">
              <a:solidFill>
                <a:schemeClr val="tx1"/>
              </a:solidFill>
              <a:latin typeface="Calibri" panose="020F0502020204030204"/>
              <a:ea typeface="Microsoft YaHei" panose="020B0503020204020204" pitchFamily="34" charset="-122"/>
              <a:cs typeface="Arial"/>
            </a:endParaRPr>
          </a:p>
          <a:p>
            <a:pPr defTabSz="740664" eaLnBrk="1" hangingPunct="1">
              <a:spcBef>
                <a:spcPts val="243"/>
              </a:spcBef>
              <a:defRPr/>
            </a:pPr>
            <a:r>
              <a:rPr lang="en-AU" altLang="en-US" sz="1944" kern="1200" dirty="0">
                <a:solidFill>
                  <a:schemeClr val="tx1"/>
                </a:solidFill>
                <a:latin typeface="Calibri" panose="020F0502020204030204"/>
                <a:ea typeface="ＭＳ Ｐゴシック" charset="0"/>
                <a:cs typeface="Arial"/>
              </a:rPr>
              <a:t>Do not conflate morality with legality:</a:t>
            </a:r>
          </a:p>
          <a:p>
            <a:pPr marL="277749" indent="-277749" defTabSz="740664" eaLnBrk="1" hangingPunct="1">
              <a:spcBef>
                <a:spcPts val="243"/>
              </a:spcBef>
              <a:buFont typeface="Arial" panose="020B0604020202020204" pitchFamily="34" charset="0"/>
              <a:buChar char="•"/>
              <a:defRPr/>
            </a:pPr>
            <a:r>
              <a:rPr lang="en-AU" altLang="en-US" sz="1944" kern="1200" dirty="0">
                <a:solidFill>
                  <a:schemeClr val="tx1"/>
                </a:solidFill>
                <a:latin typeface="Calibri" panose="020F0502020204030204"/>
                <a:ea typeface="ＭＳ Ｐゴシック" charset="0"/>
                <a:cs typeface="Arial"/>
              </a:rPr>
              <a:t>The law sets a minimum standard</a:t>
            </a:r>
          </a:p>
          <a:p>
            <a:pPr marL="277749" indent="-277749" defTabSz="740664" eaLnBrk="1" hangingPunct="1">
              <a:spcBef>
                <a:spcPts val="243"/>
              </a:spcBef>
              <a:buFont typeface="Arial" panose="020B0604020202020204" pitchFamily="34" charset="0"/>
              <a:buChar char="•"/>
              <a:defRPr/>
            </a:pPr>
            <a:r>
              <a:rPr lang="en-AU" altLang="en-US" sz="1944" kern="1200" dirty="0">
                <a:solidFill>
                  <a:schemeClr val="tx1"/>
                </a:solidFill>
                <a:latin typeface="Calibri" panose="020F0502020204030204"/>
                <a:ea typeface="ＭＳ Ｐゴシック" charset="0"/>
                <a:cs typeface="Arial"/>
              </a:rPr>
              <a:t>Ethics demands the best possible behaviour</a:t>
            </a:r>
            <a:endParaRPr kumimoji="0" lang="en-AU" altLang="en-US" sz="2400" b="0" i="0" u="none" strike="noStrike" kern="1200" cap="none" spc="0" normalizeH="0" baseline="0" noProof="0" dirty="0">
              <a:ln>
                <a:noFill/>
              </a:ln>
              <a:solidFill>
                <a:schemeClr val="tx1"/>
              </a:solidFill>
              <a:effectLst/>
              <a:uLnTx/>
              <a:uFillTx/>
              <a:latin typeface="Calibri" panose="020F0502020204030204"/>
              <a:ea typeface="ＭＳ Ｐゴシック" charset="0"/>
              <a:cs typeface="Arial"/>
            </a:endParaRPr>
          </a:p>
        </p:txBody>
      </p:sp>
      <p:sp>
        <p:nvSpPr>
          <p:cNvPr id="5" name="TextBox 4">
            <a:extLst>
              <a:ext uri="{FF2B5EF4-FFF2-40B4-BE49-F238E27FC236}">
                <a16:creationId xmlns:a16="http://schemas.microsoft.com/office/drawing/2014/main" id="{E59AA41C-77FE-4A46-5FB3-DF43B739FF3E}"/>
              </a:ext>
            </a:extLst>
          </p:cNvPr>
          <p:cNvSpPr txBox="1"/>
          <p:nvPr/>
        </p:nvSpPr>
        <p:spPr>
          <a:xfrm>
            <a:off x="2635088" y="1484784"/>
            <a:ext cx="4572000" cy="400110"/>
          </a:xfrm>
          <a:prstGeom prst="rect">
            <a:avLst/>
          </a:prstGeom>
          <a:noFill/>
        </p:spPr>
        <p:txBody>
          <a:bodyPr wrap="square">
            <a:spAutoFit/>
          </a:bodyPr>
          <a:lstStyle/>
          <a:p>
            <a:pPr marL="87440" defTabSz="363903" eaLnBrk="1" hangingPunct="1">
              <a:lnSpc>
                <a:spcPct val="100000"/>
              </a:lnSpc>
              <a:spcBef>
                <a:spcPts val="243"/>
              </a:spcBef>
              <a:spcAft>
                <a:spcPts val="972"/>
              </a:spcAft>
              <a:buClr>
                <a:srgbClr val="A04DA3"/>
              </a:buClr>
              <a:buNone/>
              <a:tabLst>
                <a:tab pos="738092" algn="l"/>
                <a:tab pos="1478756" algn="l"/>
                <a:tab pos="2219420" algn="l"/>
                <a:tab pos="2960084" algn="l"/>
                <a:tab pos="3700748" algn="l"/>
                <a:tab pos="4441412" algn="l"/>
                <a:tab pos="5182076" algn="l"/>
                <a:tab pos="5922740" algn="l"/>
                <a:tab pos="6663404" algn="l"/>
                <a:tab pos="7404068" algn="l"/>
                <a:tab pos="8144732" algn="l"/>
              </a:tabLst>
            </a:pPr>
            <a:r>
              <a:rPr lang="en-AU" altLang="en-US" sz="2000" b="1" kern="1200" dirty="0">
                <a:solidFill>
                  <a:schemeClr val="tx1"/>
                </a:solidFill>
                <a:latin typeface="+mn-lt"/>
                <a:ea typeface="Microsoft YaHei" panose="020B0503020204020204" pitchFamily="34" charset="-122"/>
                <a:cs typeface="Arial"/>
              </a:rPr>
              <a:t>Different kinds of “Ought” claims</a:t>
            </a:r>
          </a:p>
        </p:txBody>
      </p:sp>
    </p:spTree>
  </p:cSld>
  <p:clrMapOvr>
    <a:masterClrMapping/>
  </p:clrMapOvr>
  <p:transition spd="med" advTm="175142"/>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p:cNvSpPr txBox="1">
            <a:spLocks noChangeArrowheads="1"/>
          </p:cNvSpPr>
          <p:nvPr/>
        </p:nvSpPr>
        <p:spPr bwMode="auto">
          <a:xfrm>
            <a:off x="421821" y="0"/>
            <a:ext cx="8229600" cy="10527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algn="ctr" eaLnBrk="1" hangingPunct="1">
              <a:buSzPct val="100000"/>
            </a:pPr>
            <a:r>
              <a:rPr lang="en-AU" altLang="en-US" sz="3300" dirty="0">
                <a:solidFill>
                  <a:schemeClr val="tx1"/>
                </a:solidFill>
                <a:latin typeface="Trebuchet MS" panose="020B0603020202020204" pitchFamily="34" charset="0"/>
                <a:cs typeface="Arial" panose="020B0604020202020204" pitchFamily="34" charset="0"/>
              </a:rPr>
              <a:t>Ethics? What Ethics? </a:t>
            </a:r>
            <a:r>
              <a:rPr lang="en-AU" altLang="en-US" sz="4000" dirty="0">
                <a:solidFill>
                  <a:srgbClr val="424456"/>
                </a:solidFill>
                <a:latin typeface="Trebuchet MS" panose="020B0603020202020204" pitchFamily="34" charset="0"/>
                <a:cs typeface="Arial" panose="020B0604020202020204" pitchFamily="34" charset="0"/>
              </a:rPr>
              <a:t>	</a:t>
            </a:r>
          </a:p>
        </p:txBody>
      </p:sp>
      <p:sp>
        <p:nvSpPr>
          <p:cNvPr id="6147" name="Text Box 2"/>
          <p:cNvSpPr txBox="1">
            <a:spLocks noChangeArrowheads="1"/>
          </p:cNvSpPr>
          <p:nvPr/>
        </p:nvSpPr>
        <p:spPr bwMode="auto">
          <a:xfrm>
            <a:off x="438150" y="1081539"/>
            <a:ext cx="8454330" cy="55878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107950">
              <a:lnSpc>
                <a:spcPct val="90000"/>
              </a:lnSpc>
              <a:spcBef>
                <a:spcPts val="1200"/>
              </a:spcBef>
              <a:spcAft>
                <a:spcPts val="200"/>
              </a:spcAft>
              <a:buClr>
                <a:schemeClr val="accent1"/>
              </a:buClr>
              <a:buSzPct val="100000"/>
              <a:buFont typeface="Calibri" panose="020F0502020204030204" pitchFamily="34" charset="0"/>
              <a:buChar char=" "/>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404040"/>
                </a:solidFill>
                <a:latin typeface="Calibri" panose="020F0502020204030204" pitchFamily="34" charset="0"/>
              </a:defRPr>
            </a:lvl1pPr>
            <a:lvl2pPr marL="655638" indent="-244475">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404040"/>
                </a:solidFill>
                <a:latin typeface="Calibri" panose="020F0502020204030204" pitchFamily="34" charset="0"/>
              </a:defRPr>
            </a:lvl2pPr>
            <a:lvl3pPr marL="85725">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5pPr>
            <a:lvl6pPr marL="13890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6pPr>
            <a:lvl7pPr marL="18462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7pPr>
            <a:lvl8pPr marL="23034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8pPr>
            <a:lvl9pPr marL="2760663" indent="-182563" defTabSz="449263" eaLnBrk="0" fontAlgn="base" hangingPunct="0">
              <a:lnSpc>
                <a:spcPct val="90000"/>
              </a:lnSpc>
              <a:spcBef>
                <a:spcPts val="200"/>
              </a:spcBef>
              <a:spcAft>
                <a:spcPts val="400"/>
              </a:spcAft>
              <a:buClr>
                <a:schemeClr val="accent1"/>
              </a:buClr>
              <a:buFont typeface="Calibri" panose="020F050202020403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1400">
                <a:solidFill>
                  <a:srgbClr val="404040"/>
                </a:solidFill>
                <a:latin typeface="Calibri" panose="020F0502020204030204" pitchFamily="34" charset="0"/>
              </a:defRPr>
            </a:lvl9pPr>
          </a:lstStyle>
          <a:p>
            <a:pPr eaLnBrk="1" hangingPunct="1">
              <a:lnSpc>
                <a:spcPct val="100000"/>
              </a:lnSpc>
              <a:spcBef>
                <a:spcPts val="300"/>
              </a:spcBef>
              <a:spcAft>
                <a:spcPct val="0"/>
              </a:spcAft>
              <a:buClr>
                <a:srgbClr val="A04DA3"/>
              </a:buClr>
              <a:buFont typeface="Times New Roman" panose="02020603050405020304" pitchFamily="18" charset="0"/>
              <a:buNone/>
            </a:pPr>
            <a:r>
              <a:rPr lang="en-AU" altLang="en-US" sz="2200" dirty="0">
                <a:solidFill>
                  <a:schemeClr val="tx1"/>
                </a:solidFill>
                <a:latin typeface="Arial" panose="020B0604020202020204" pitchFamily="34" charset="0"/>
                <a:cs typeface="Arial" panose="020B0604020202020204" pitchFamily="34" charset="0"/>
              </a:rPr>
              <a:t>Ethics is about </a:t>
            </a:r>
            <a:r>
              <a:rPr lang="en-AU" altLang="en-US" sz="2200" b="1" i="1" dirty="0">
                <a:solidFill>
                  <a:schemeClr val="tx1"/>
                </a:solidFill>
                <a:latin typeface="Arial" panose="020B0604020202020204" pitchFamily="34" charset="0"/>
                <a:cs typeface="Arial" panose="020B0604020202020204" pitchFamily="34" charset="0"/>
              </a:rPr>
              <a:t>how</a:t>
            </a:r>
            <a:r>
              <a:rPr lang="en-AU" altLang="en-US" sz="2200" dirty="0">
                <a:solidFill>
                  <a:schemeClr val="tx1"/>
                </a:solidFill>
                <a:latin typeface="Arial" panose="020B0604020202020204" pitchFamily="34" charset="0"/>
                <a:cs typeface="Arial" panose="020B0604020202020204" pitchFamily="34" charset="0"/>
              </a:rPr>
              <a:t> we </a:t>
            </a:r>
            <a:r>
              <a:rPr lang="en-AU" altLang="en-US" sz="2200" b="1" i="1" dirty="0">
                <a:solidFill>
                  <a:schemeClr val="tx1"/>
                </a:solidFill>
                <a:latin typeface="Arial" panose="020B0604020202020204" pitchFamily="34" charset="0"/>
                <a:cs typeface="Arial" panose="020B0604020202020204" pitchFamily="34" charset="0"/>
              </a:rPr>
              <a:t>ought</a:t>
            </a:r>
            <a:r>
              <a:rPr lang="en-AU" altLang="en-US" sz="2200" dirty="0">
                <a:solidFill>
                  <a:schemeClr val="tx1"/>
                </a:solidFill>
                <a:latin typeface="Arial" panose="020B0604020202020204" pitchFamily="34" charset="0"/>
                <a:cs typeface="Arial" panose="020B0604020202020204" pitchFamily="34" charset="0"/>
              </a:rPr>
              <a:t> to behave. And </a:t>
            </a:r>
            <a:r>
              <a:rPr lang="en-AU" altLang="en-US" sz="2200" b="1" i="1" dirty="0">
                <a:solidFill>
                  <a:srgbClr val="FF0000"/>
                </a:solidFill>
                <a:latin typeface="Arial" panose="020B0604020202020204" pitchFamily="34" charset="0"/>
                <a:cs typeface="Arial" panose="020B0604020202020204" pitchFamily="34" charset="0"/>
              </a:rPr>
              <a:t>why</a:t>
            </a:r>
            <a:r>
              <a:rPr lang="en-AU" altLang="en-US" sz="2200" dirty="0">
                <a:solidFill>
                  <a:srgbClr val="FF0000"/>
                </a:solidFill>
                <a:latin typeface="Arial" panose="020B0604020202020204" pitchFamily="34" charset="0"/>
                <a:cs typeface="Arial" panose="020B0604020202020204" pitchFamily="34" charset="0"/>
              </a:rPr>
              <a:t>. </a:t>
            </a:r>
          </a:p>
          <a:p>
            <a:pPr marL="533400" eaLnBrk="1" hangingPunct="1">
              <a:lnSpc>
                <a:spcPct val="100000"/>
              </a:lnSpc>
              <a:spcBef>
                <a:spcPts val="300"/>
              </a:spcBef>
              <a:spcAft>
                <a:spcPts val="1200"/>
              </a:spcAft>
              <a:buClr>
                <a:srgbClr val="A04DA3"/>
              </a:buClr>
              <a:buFont typeface="Times New Roman" panose="02020603050405020304" pitchFamily="18" charset="0"/>
              <a:buNone/>
            </a:pPr>
            <a:r>
              <a:rPr lang="en-AU" altLang="en-US" dirty="0">
                <a:solidFill>
                  <a:schemeClr val="tx1"/>
                </a:solidFill>
                <a:latin typeface="Arial" panose="020B0604020202020204" pitchFamily="34" charset="0"/>
                <a:cs typeface="Arial" panose="020B0604020202020204" pitchFamily="34" charset="0"/>
              </a:rPr>
              <a:t>Most of us rely on our “moral intuitions”, but how do we decide when it is not intuitively obvious what to do? How do you defend your position when others disagree?</a:t>
            </a:r>
          </a:p>
          <a:p>
            <a:pPr>
              <a:spcBef>
                <a:spcPct val="0"/>
              </a:spcBef>
              <a:spcAft>
                <a:spcPts val="0"/>
              </a:spcAft>
              <a:buClr>
                <a:srgbClr val="9EC544"/>
              </a:buClr>
              <a:buFont typeface="Times New Roman" pitchFamily="16" charset="0"/>
              <a:buNone/>
              <a:defRPr/>
            </a:pPr>
            <a:r>
              <a:rPr lang="en-US" altLang="en-US" sz="2200" dirty="0">
                <a:solidFill>
                  <a:schemeClr val="tx1"/>
                </a:solidFill>
                <a:latin typeface="Arial" panose="020B0604020202020204" pitchFamily="34" charset="0"/>
                <a:cs typeface="Arial" panose="020B0604020202020204" pitchFamily="34" charset="0"/>
              </a:rPr>
              <a:t>We want a guide for our actions, we want our actions to be right or wrong for: </a:t>
            </a:r>
          </a:p>
          <a:p>
            <a:pPr>
              <a:spcBef>
                <a:spcPct val="0"/>
              </a:spcBef>
              <a:spcAft>
                <a:spcPts val="0"/>
              </a:spcAft>
              <a:buClr>
                <a:srgbClr val="9EC544"/>
              </a:buClr>
              <a:buFont typeface="Times New Roman" pitchFamily="16" charset="0"/>
              <a:buNone/>
              <a:defRPr/>
            </a:pPr>
            <a:r>
              <a:rPr lang="en-US" altLang="en-US" sz="2200" dirty="0">
                <a:solidFill>
                  <a:prstClr val="black"/>
                </a:solidFill>
                <a:latin typeface="Arial" panose="020B0604020202020204" pitchFamily="34" charset="0"/>
                <a:cs typeface="Arial" panose="020B0604020202020204" pitchFamily="34" charset="0"/>
              </a:rPr>
              <a:t>		</a:t>
            </a:r>
            <a:r>
              <a:rPr lang="en-US" altLang="en-US" sz="2200" b="1" dirty="0">
                <a:solidFill>
                  <a:srgbClr val="FF0000"/>
                </a:solidFill>
                <a:latin typeface="Arial" panose="020B0604020202020204" pitchFamily="34" charset="0"/>
                <a:cs typeface="Arial" panose="020B0604020202020204" pitchFamily="34" charset="0"/>
              </a:rPr>
              <a:t>non-arbitrary</a:t>
            </a:r>
          </a:p>
          <a:p>
            <a:pPr>
              <a:spcBef>
                <a:spcPct val="0"/>
              </a:spcBef>
              <a:spcAft>
                <a:spcPts val="1200"/>
              </a:spcAft>
              <a:buClr>
                <a:srgbClr val="9EC544"/>
              </a:buClr>
              <a:buFont typeface="Times New Roman" pitchFamily="16" charset="0"/>
              <a:buNone/>
              <a:defRPr/>
            </a:pPr>
            <a:r>
              <a:rPr lang="en-US" altLang="en-US" sz="2200" dirty="0">
                <a:solidFill>
                  <a:srgbClr val="FF0000"/>
                </a:solidFill>
                <a:latin typeface="Arial" panose="020B0604020202020204" pitchFamily="34" charset="0"/>
                <a:cs typeface="Arial" panose="020B0604020202020204" pitchFamily="34" charset="0"/>
              </a:rPr>
              <a:t>		</a:t>
            </a:r>
            <a:r>
              <a:rPr lang="en-US" altLang="en-US" sz="2200" b="1" dirty="0">
                <a:solidFill>
                  <a:srgbClr val="FF0000"/>
                </a:solidFill>
                <a:latin typeface="Arial" panose="020B0604020202020204" pitchFamily="34" charset="0"/>
                <a:cs typeface="Arial" panose="020B0604020202020204" pitchFamily="34" charset="0"/>
              </a:rPr>
              <a:t>and properly compelling reasons</a:t>
            </a:r>
          </a:p>
          <a:p>
            <a:pPr>
              <a:spcBef>
                <a:spcPct val="0"/>
              </a:spcBef>
              <a:spcAft>
                <a:spcPts val="1200"/>
              </a:spcAft>
              <a:buClr>
                <a:srgbClr val="9EC544"/>
              </a:buClr>
              <a:buNone/>
              <a:defRPr/>
            </a:pPr>
            <a:r>
              <a:rPr lang="en-AU" sz="2200" dirty="0">
                <a:solidFill>
                  <a:schemeClr val="tx1"/>
                </a:solidFill>
                <a:latin typeface="Arial" panose="020B0604020202020204" pitchFamily="34" charset="0"/>
                <a:cs typeface="Arial" panose="020B0604020202020204" pitchFamily="34" charset="0"/>
              </a:rPr>
              <a:t>Ethics  </a:t>
            </a:r>
            <a:r>
              <a:rPr lang="en-AU" altLang="en-US" sz="2200" dirty="0">
                <a:solidFill>
                  <a:schemeClr val="tx1"/>
                </a:solidFill>
                <a:latin typeface="Arial" panose="020B0604020202020204" pitchFamily="34" charset="0"/>
                <a:cs typeface="Arial" panose="020B0604020202020204" pitchFamily="34" charset="0"/>
              </a:rPr>
              <a:t>is the part of practical reasoning concerned with good, bad, right, wrong, duties, rights, etcetera.</a:t>
            </a:r>
          </a:p>
          <a:p>
            <a:pPr eaLnBrk="1" hangingPunct="1">
              <a:lnSpc>
                <a:spcPct val="100000"/>
              </a:lnSpc>
              <a:spcBef>
                <a:spcPts val="300"/>
              </a:spcBef>
              <a:spcAft>
                <a:spcPct val="0"/>
              </a:spcAft>
              <a:buClr>
                <a:srgbClr val="A04DA3"/>
              </a:buClr>
              <a:buFont typeface="Calibri" panose="020F0502020204030204" pitchFamily="34" charset="0"/>
              <a:buNone/>
            </a:pPr>
            <a:r>
              <a:rPr lang="en-AU" altLang="en-US" sz="2200" dirty="0">
                <a:solidFill>
                  <a:schemeClr val="tx1"/>
                </a:solidFill>
                <a:latin typeface="Arial" panose="020B0604020202020204" pitchFamily="34" charset="0"/>
                <a:cs typeface="Arial" panose="020B0604020202020204" pitchFamily="34" charset="0"/>
              </a:rPr>
              <a:t>Ethical theories add </a:t>
            </a:r>
            <a:r>
              <a:rPr lang="en-AU" altLang="en-US" sz="2200" dirty="0">
                <a:solidFill>
                  <a:srgbClr val="FF0000"/>
                </a:solidFill>
                <a:latin typeface="Arial" panose="020B0604020202020204" pitchFamily="34" charset="0"/>
                <a:cs typeface="Arial" panose="020B0604020202020204" pitchFamily="34" charset="0"/>
              </a:rPr>
              <a:t>consistency</a:t>
            </a:r>
            <a:r>
              <a:rPr lang="en-AU" altLang="en-US" sz="2200" dirty="0">
                <a:solidFill>
                  <a:schemeClr val="tx1"/>
                </a:solidFill>
                <a:latin typeface="Arial" panose="020B0604020202020204" pitchFamily="34" charset="0"/>
                <a:cs typeface="Arial" panose="020B0604020202020204" pitchFamily="34" charset="0"/>
              </a:rPr>
              <a:t> and </a:t>
            </a:r>
            <a:r>
              <a:rPr lang="en-AU" altLang="en-US" sz="2200" dirty="0">
                <a:solidFill>
                  <a:srgbClr val="FF0000"/>
                </a:solidFill>
                <a:latin typeface="Arial" panose="020B0604020202020204" pitchFamily="34" charset="0"/>
                <a:cs typeface="Arial" panose="020B0604020202020204" pitchFamily="34" charset="0"/>
              </a:rPr>
              <a:t>clarity</a:t>
            </a:r>
            <a:r>
              <a:rPr lang="en-AU" altLang="en-US" sz="2200" dirty="0">
                <a:solidFill>
                  <a:schemeClr val="tx1"/>
                </a:solidFill>
                <a:latin typeface="Arial" panose="020B0604020202020204" pitchFamily="34" charset="0"/>
                <a:cs typeface="Arial" panose="020B0604020202020204" pitchFamily="34" charset="0"/>
              </a:rPr>
              <a:t> to our moral reasoning.</a:t>
            </a:r>
          </a:p>
          <a:p>
            <a:pPr eaLnBrk="1" hangingPunct="1">
              <a:lnSpc>
                <a:spcPct val="100000"/>
              </a:lnSpc>
              <a:spcBef>
                <a:spcPts val="300"/>
              </a:spcBef>
              <a:spcAft>
                <a:spcPct val="0"/>
              </a:spcAft>
              <a:buClr>
                <a:srgbClr val="A04DA3"/>
              </a:buClr>
              <a:buFont typeface="Calibri" panose="020F0502020204030204" pitchFamily="34" charset="0"/>
              <a:buNone/>
            </a:pPr>
            <a:endParaRPr lang="en-AU" altLang="en-US" sz="2200" dirty="0">
              <a:solidFill>
                <a:prstClr val="black"/>
              </a:solidFill>
              <a:latin typeface="Arial" panose="020B0604020202020204" pitchFamily="34" charset="0"/>
              <a:cs typeface="Arial" panose="020B0604020202020204" pitchFamily="34" charset="0"/>
            </a:endParaRPr>
          </a:p>
          <a:p>
            <a:pPr eaLnBrk="1" hangingPunct="1">
              <a:lnSpc>
                <a:spcPct val="100000"/>
              </a:lnSpc>
              <a:spcBef>
                <a:spcPts val="300"/>
              </a:spcBef>
              <a:spcAft>
                <a:spcPct val="0"/>
              </a:spcAft>
              <a:buClr>
                <a:srgbClr val="A04DA3"/>
              </a:buClr>
              <a:buFont typeface="Calibri" panose="020F0502020204030204" pitchFamily="34" charset="0"/>
              <a:buNone/>
            </a:pPr>
            <a:r>
              <a:rPr lang="en-AU" altLang="en-US" sz="1600" dirty="0">
                <a:solidFill>
                  <a:srgbClr val="00B0F0"/>
                </a:solidFill>
                <a:latin typeface="Arial" panose="020B0604020202020204" pitchFamily="34" charset="0"/>
                <a:cs typeface="Arial" panose="020B0604020202020204" pitchFamily="34" charset="0"/>
              </a:rPr>
              <a:t>Ethics Matters. Dan Halliday, University of Melbourne</a:t>
            </a:r>
          </a:p>
          <a:p>
            <a:pPr eaLnBrk="1" hangingPunct="1">
              <a:lnSpc>
                <a:spcPct val="100000"/>
              </a:lnSpc>
              <a:spcBef>
                <a:spcPts val="300"/>
              </a:spcBef>
              <a:spcAft>
                <a:spcPct val="0"/>
              </a:spcAft>
              <a:buClr>
                <a:srgbClr val="A04DA3"/>
              </a:buClr>
              <a:buFont typeface="Calibri" panose="020F0502020204030204" pitchFamily="34" charset="0"/>
              <a:buNone/>
            </a:pPr>
            <a:r>
              <a:rPr lang="en-US" sz="1600" dirty="0">
                <a:solidFill>
                  <a:srgbClr val="00B0F0"/>
                </a:solidFill>
                <a:latin typeface="Arial" panose="020B0604020202020204" pitchFamily="34" charset="0"/>
                <a:cs typeface="Arial" panose="020B0604020202020204" pitchFamily="34" charset="0"/>
              </a:rPr>
              <a:t>http://ethicsmatterstvseries.com/tv-series</a:t>
            </a:r>
            <a:endParaRPr lang="en-AU" altLang="en-US" sz="2200" dirty="0">
              <a:solidFill>
                <a:srgbClr val="00B0F0"/>
              </a:solidFill>
              <a:latin typeface="Arial" panose="020B0604020202020204" pitchFamily="34" charset="0"/>
              <a:cs typeface="Arial" panose="020B0604020202020204" pitchFamily="34" charset="0"/>
            </a:endParaRPr>
          </a:p>
          <a:p>
            <a:pPr lvl="1" eaLnBrk="1" hangingPunct="1">
              <a:lnSpc>
                <a:spcPct val="100000"/>
              </a:lnSpc>
              <a:spcBef>
                <a:spcPts val="300"/>
              </a:spcBef>
              <a:spcAft>
                <a:spcPct val="0"/>
              </a:spcAft>
              <a:buClrTx/>
              <a:buFont typeface="Arial" panose="020B0604020202020204" pitchFamily="34" charset="0"/>
              <a:buChar char="•"/>
            </a:pPr>
            <a:endParaRPr lang="en-AU" altLang="en-US" sz="2400" dirty="0">
              <a:solidFill>
                <a:prstClr val="white"/>
              </a:solidFill>
              <a:latin typeface="Georgia" panose="02040502050405020303" pitchFamily="18"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7165032" y="-28803"/>
            <a:ext cx="1979712" cy="1317408"/>
          </a:xfrm>
          <a:prstGeom prst="rect">
            <a:avLst/>
          </a:prstGeom>
          <a:effectLst>
            <a:softEdge rad="101600"/>
          </a:effectLst>
        </p:spPr>
      </p:pic>
    </p:spTree>
    <p:extLst>
      <p:ext uri="{BB962C8B-B14F-4D97-AF65-F5344CB8AC3E}">
        <p14:creationId xmlns:p14="http://schemas.microsoft.com/office/powerpoint/2010/main" val="109458212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9"/>
          <p:cNvSpPr txBox="1">
            <a:spLocks noGrp="1"/>
          </p:cNvSpPr>
          <p:nvPr>
            <p:ph type="title"/>
          </p:nvPr>
        </p:nvSpPr>
        <p:spPr>
          <a:xfrm>
            <a:off x="380042" y="397497"/>
            <a:ext cx="8455284" cy="434326"/>
          </a:xfrm>
          <a:prstGeom prst="rect">
            <a:avLst/>
          </a:prstGeom>
          <a:noFill/>
          <a:ln>
            <a:noFill/>
          </a:ln>
        </p:spPr>
        <p:txBody>
          <a:bodyPr spcFirstLastPara="1" vert="horz" wrap="square" lIns="68569" tIns="34275" rIns="68569" bIns="34275" rtlCol="0" anchor="ctr" anchorCtr="0">
            <a:noAutofit/>
          </a:bodyPr>
          <a:lstStyle/>
          <a:p>
            <a:pPr algn="ctr">
              <a:spcBef>
                <a:spcPts val="0"/>
              </a:spcBef>
              <a:buClr>
                <a:srgbClr val="7030A0"/>
              </a:buClr>
              <a:buSzPts val="3000"/>
            </a:pPr>
            <a:r>
              <a:rPr lang="en-US" dirty="0">
                <a:latin typeface="Trebuchet MS" panose="020B0603020202020204" pitchFamily="34" charset="0"/>
              </a:rPr>
              <a:t>Overview of ethical theories</a:t>
            </a:r>
          </a:p>
        </p:txBody>
      </p:sp>
      <p:sp>
        <p:nvSpPr>
          <p:cNvPr id="204" name="Google Shape;204;p9"/>
          <p:cNvSpPr/>
          <p:nvPr/>
        </p:nvSpPr>
        <p:spPr>
          <a:xfrm>
            <a:off x="342506" y="6229701"/>
            <a:ext cx="2289233" cy="230802"/>
          </a:xfrm>
          <a:prstGeom prst="rect">
            <a:avLst/>
          </a:prstGeom>
          <a:noFill/>
          <a:ln>
            <a:noFill/>
          </a:ln>
        </p:spPr>
        <p:txBody>
          <a:bodyPr spcFirstLastPara="1" wrap="square" lIns="68569" tIns="34275" rIns="68569" bIns="34275" anchor="t" anchorCtr="0">
            <a:spAutoFit/>
          </a:bodyPr>
          <a:lstStyle/>
          <a:p>
            <a:pPr>
              <a:spcBef>
                <a:spcPts val="0"/>
              </a:spcBef>
              <a:spcAft>
                <a:spcPts val="0"/>
              </a:spcAft>
              <a:buClr>
                <a:srgbClr val="000000"/>
              </a:buClr>
              <a:buSzPts val="1400"/>
            </a:pPr>
            <a:r>
              <a:rPr lang="en-US" sz="105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https://slideplayer.com/slide/5960678/</a:t>
            </a:r>
            <a:endParaRPr lang="en-US" sz="1050">
              <a:solidFill>
                <a:schemeClr val="dk1"/>
              </a:solidFill>
              <a:latin typeface="Calibri"/>
              <a:ea typeface="Calibri"/>
              <a:cs typeface="Calibri"/>
              <a:sym typeface="Calibri"/>
            </a:endParaRPr>
          </a:p>
        </p:txBody>
      </p:sp>
      <p:sp>
        <p:nvSpPr>
          <p:cNvPr id="205" name="Google Shape;205;p9"/>
          <p:cNvSpPr/>
          <p:nvPr/>
        </p:nvSpPr>
        <p:spPr>
          <a:xfrm>
            <a:off x="798464" y="1670315"/>
            <a:ext cx="1799655" cy="3571323"/>
          </a:xfrm>
          <a:custGeom>
            <a:avLst/>
            <a:gdLst/>
            <a:ahLst/>
            <a:cxnLst/>
            <a:rect l="l" t="t" r="r" b="b"/>
            <a:pathLst>
              <a:path w="2399540" h="4614333" extrusionOk="0">
                <a:moveTo>
                  <a:pt x="0" y="239954"/>
                </a:moveTo>
                <a:cubicBezTo>
                  <a:pt x="0" y="107431"/>
                  <a:pt x="107431" y="0"/>
                  <a:pt x="239954" y="0"/>
                </a:cubicBezTo>
                <a:lnTo>
                  <a:pt x="2159586" y="0"/>
                </a:lnTo>
                <a:cubicBezTo>
                  <a:pt x="2292109" y="0"/>
                  <a:pt x="2399540" y="107431"/>
                  <a:pt x="2399540" y="239954"/>
                </a:cubicBezTo>
                <a:lnTo>
                  <a:pt x="2399540" y="4374379"/>
                </a:lnTo>
                <a:cubicBezTo>
                  <a:pt x="2399540" y="4506902"/>
                  <a:pt x="2292109" y="4614333"/>
                  <a:pt x="2159586" y="4614333"/>
                </a:cubicBezTo>
                <a:lnTo>
                  <a:pt x="239954" y="4614333"/>
                </a:lnTo>
                <a:cubicBezTo>
                  <a:pt x="107431" y="4614333"/>
                  <a:pt x="0" y="4506902"/>
                  <a:pt x="0" y="4374379"/>
                </a:cubicBezTo>
                <a:lnTo>
                  <a:pt x="0" y="239954"/>
                </a:lnTo>
                <a:close/>
              </a:path>
            </a:pathLst>
          </a:custGeom>
          <a:solidFill>
            <a:srgbClr val="FFC000"/>
          </a:solidFill>
          <a:ln w="12700" cap="flat" cmpd="sng">
            <a:solidFill>
              <a:schemeClr val="tx1"/>
            </a:solidFill>
            <a:prstDash val="solid"/>
            <a:miter lim="800000"/>
            <a:headEnd type="none" w="sm" len="sm"/>
            <a:tailEnd type="none" w="sm" len="sm"/>
          </a:ln>
        </p:spPr>
        <p:txBody>
          <a:bodyPr spcFirstLastPara="1" wrap="square" lIns="117338" tIns="270000" rIns="117338" bIns="270000" anchor="b" anchorCtr="0">
            <a:noAutofit/>
          </a:bodyPr>
          <a:lstStyle/>
          <a:p>
            <a:pPr algn="ctr">
              <a:lnSpc>
                <a:spcPct val="90000"/>
              </a:lnSpc>
              <a:spcBef>
                <a:spcPts val="0"/>
              </a:spcBef>
              <a:spcAft>
                <a:spcPts val="0"/>
              </a:spcAft>
              <a:buClr>
                <a:srgbClr val="000000"/>
              </a:buClr>
              <a:buSzPts val="2200"/>
            </a:pPr>
            <a:r>
              <a:rPr lang="en-US" sz="1650">
                <a:solidFill>
                  <a:schemeClr val="tx1"/>
                </a:solidFill>
                <a:latin typeface="Calibri"/>
                <a:ea typeface="Calibri"/>
                <a:cs typeface="Calibri"/>
                <a:sym typeface="Calibri"/>
              </a:rPr>
              <a:t>Agent</a:t>
            </a:r>
            <a:endParaRPr lang="en-US" sz="1050">
              <a:solidFill>
                <a:schemeClr val="tx1"/>
              </a:solidFill>
              <a:latin typeface="Arial"/>
              <a:ea typeface="Arial"/>
              <a:cs typeface="Arial"/>
              <a:sym typeface="Arial"/>
            </a:endParaRPr>
          </a:p>
          <a:p>
            <a:pPr algn="ctr">
              <a:lnSpc>
                <a:spcPct val="90000"/>
              </a:lnSpc>
              <a:spcBef>
                <a:spcPts val="578"/>
              </a:spcBef>
              <a:spcAft>
                <a:spcPts val="0"/>
              </a:spcAft>
              <a:buClr>
                <a:srgbClr val="000000"/>
              </a:buClr>
              <a:buSzPts val="2200"/>
            </a:pPr>
            <a:r>
              <a:rPr lang="en-US" sz="1650">
                <a:solidFill>
                  <a:schemeClr val="tx1"/>
                </a:solidFill>
                <a:latin typeface="Calibri"/>
                <a:ea typeface="Calibri"/>
                <a:cs typeface="Calibri"/>
                <a:sym typeface="Calibri"/>
              </a:rPr>
              <a:t>Virtue Ethics</a:t>
            </a:r>
            <a:endParaRPr lang="en-US" sz="1050">
              <a:solidFill>
                <a:schemeClr val="tx1"/>
              </a:solidFill>
              <a:latin typeface="Arial"/>
              <a:ea typeface="Arial"/>
              <a:cs typeface="Arial"/>
              <a:sym typeface="Arial"/>
            </a:endParaRPr>
          </a:p>
          <a:p>
            <a:pPr algn="ctr">
              <a:lnSpc>
                <a:spcPct val="90000"/>
              </a:lnSpc>
              <a:spcBef>
                <a:spcPts val="578"/>
              </a:spcBef>
              <a:spcAft>
                <a:spcPts val="0"/>
              </a:spcAft>
              <a:buClr>
                <a:srgbClr val="000000"/>
              </a:buClr>
              <a:buSzPts val="1400"/>
            </a:pPr>
            <a:r>
              <a:rPr lang="en-US" sz="1200">
                <a:solidFill>
                  <a:schemeClr val="tx1"/>
                </a:solidFill>
                <a:latin typeface="Calibri"/>
                <a:ea typeface="Calibri"/>
                <a:cs typeface="Calibri"/>
                <a:sym typeface="Calibri"/>
              </a:rPr>
              <a:t>Is the agent ‘good’?</a:t>
            </a:r>
            <a:endParaRPr lang="en-US" sz="1200">
              <a:solidFill>
                <a:schemeClr val="tx1"/>
              </a:solidFill>
              <a:latin typeface="Arial"/>
              <a:ea typeface="Arial"/>
              <a:cs typeface="Arial"/>
              <a:sym typeface="Arial"/>
            </a:endParaRPr>
          </a:p>
          <a:p>
            <a:pPr algn="ctr">
              <a:lnSpc>
                <a:spcPct val="90000"/>
              </a:lnSpc>
              <a:spcBef>
                <a:spcPts val="368"/>
              </a:spcBef>
              <a:spcAft>
                <a:spcPts val="0"/>
              </a:spcAft>
              <a:buClr>
                <a:srgbClr val="000000"/>
              </a:buClr>
              <a:buSzPts val="1400"/>
            </a:pPr>
            <a:r>
              <a:rPr lang="en-US" sz="1200">
                <a:solidFill>
                  <a:schemeClr val="tx1"/>
                </a:solidFill>
                <a:latin typeface="Calibri"/>
                <a:ea typeface="Calibri"/>
                <a:cs typeface="Calibri"/>
                <a:sym typeface="Calibri"/>
              </a:rPr>
              <a:t>Does the agent do what makes them a ‘good’ person?</a:t>
            </a:r>
            <a:endParaRPr lang="en-US" sz="1200">
              <a:solidFill>
                <a:schemeClr val="tx1"/>
              </a:solidFill>
              <a:latin typeface="Arial"/>
              <a:ea typeface="Arial"/>
              <a:cs typeface="Arial"/>
              <a:sym typeface="Arial"/>
            </a:endParaRPr>
          </a:p>
          <a:p>
            <a:pPr algn="ctr">
              <a:lnSpc>
                <a:spcPct val="90000"/>
              </a:lnSpc>
              <a:spcBef>
                <a:spcPts val="368"/>
              </a:spcBef>
              <a:spcAft>
                <a:spcPts val="0"/>
              </a:spcAft>
              <a:buClr>
                <a:srgbClr val="000000"/>
              </a:buClr>
              <a:buSzPts val="1400"/>
            </a:pPr>
            <a:r>
              <a:rPr lang="en-US" sz="1200">
                <a:solidFill>
                  <a:schemeClr val="tx1"/>
                </a:solidFill>
                <a:latin typeface="Calibri"/>
                <a:ea typeface="Calibri"/>
                <a:cs typeface="Calibri"/>
                <a:sym typeface="Calibri"/>
              </a:rPr>
              <a:t>Don’t judge the actions; judge the agent</a:t>
            </a:r>
            <a:endParaRPr lang="en-US" sz="1200" dirty="0">
              <a:solidFill>
                <a:schemeClr val="tx1"/>
              </a:solidFill>
              <a:latin typeface="Calibri"/>
              <a:ea typeface="Calibri"/>
              <a:cs typeface="Calibri"/>
              <a:sym typeface="Calibri"/>
            </a:endParaRPr>
          </a:p>
        </p:txBody>
      </p:sp>
      <p:sp>
        <p:nvSpPr>
          <p:cNvPr id="206" name="Google Shape;206;p9"/>
          <p:cNvSpPr/>
          <p:nvPr/>
        </p:nvSpPr>
        <p:spPr>
          <a:xfrm>
            <a:off x="1089401" y="1901670"/>
            <a:ext cx="1152429" cy="1152429"/>
          </a:xfrm>
          <a:prstGeom prst="ellipse">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68569" tIns="68569" rIns="68569" bIns="68569" anchor="ctr" anchorCtr="0">
            <a:noAutofit/>
          </a:bodyPr>
          <a:lstStyle/>
          <a:p>
            <a:pPr>
              <a:spcBef>
                <a:spcPts val="0"/>
              </a:spcBef>
              <a:spcAft>
                <a:spcPts val="0"/>
              </a:spcAft>
              <a:buClr>
                <a:srgbClr val="000000"/>
              </a:buClr>
              <a:buSzPts val="1400"/>
            </a:pPr>
            <a:endParaRPr sz="1050">
              <a:solidFill>
                <a:srgbClr val="000000"/>
              </a:solidFill>
              <a:latin typeface="Arial"/>
              <a:ea typeface="Arial"/>
              <a:cs typeface="Arial"/>
              <a:sym typeface="Arial"/>
            </a:endParaRPr>
          </a:p>
        </p:txBody>
      </p:sp>
      <p:sp>
        <p:nvSpPr>
          <p:cNvPr id="207" name="Google Shape;207;p9"/>
          <p:cNvSpPr/>
          <p:nvPr/>
        </p:nvSpPr>
        <p:spPr>
          <a:xfrm>
            <a:off x="3690508" y="1694026"/>
            <a:ext cx="1799655" cy="3547612"/>
          </a:xfrm>
          <a:custGeom>
            <a:avLst/>
            <a:gdLst/>
            <a:ahLst/>
            <a:cxnLst/>
            <a:rect l="l" t="t" r="r" b="b"/>
            <a:pathLst>
              <a:path w="2399540" h="4614333" extrusionOk="0">
                <a:moveTo>
                  <a:pt x="0" y="239954"/>
                </a:moveTo>
                <a:cubicBezTo>
                  <a:pt x="0" y="107431"/>
                  <a:pt x="107431" y="0"/>
                  <a:pt x="239954" y="0"/>
                </a:cubicBezTo>
                <a:lnTo>
                  <a:pt x="2159586" y="0"/>
                </a:lnTo>
                <a:cubicBezTo>
                  <a:pt x="2292109" y="0"/>
                  <a:pt x="2399540" y="107431"/>
                  <a:pt x="2399540" y="239954"/>
                </a:cubicBezTo>
                <a:lnTo>
                  <a:pt x="2399540" y="4374379"/>
                </a:lnTo>
                <a:cubicBezTo>
                  <a:pt x="2399540" y="4506902"/>
                  <a:pt x="2292109" y="4614333"/>
                  <a:pt x="2159586" y="4614333"/>
                </a:cubicBezTo>
                <a:lnTo>
                  <a:pt x="239954" y="4614333"/>
                </a:lnTo>
                <a:cubicBezTo>
                  <a:pt x="107431" y="4614333"/>
                  <a:pt x="0" y="4506902"/>
                  <a:pt x="0" y="4374379"/>
                </a:cubicBezTo>
                <a:lnTo>
                  <a:pt x="0" y="239954"/>
                </a:lnTo>
                <a:close/>
              </a:path>
            </a:pathLst>
          </a:custGeom>
          <a:solidFill>
            <a:srgbClr val="FF0000"/>
          </a:solidFill>
          <a:ln w="12700" cap="flat" cmpd="sng">
            <a:solidFill>
              <a:schemeClr val="lt1"/>
            </a:solidFill>
            <a:prstDash val="solid"/>
            <a:miter lim="800000"/>
            <a:headEnd type="none" w="sm" len="sm"/>
            <a:tailEnd type="none" w="sm" len="sm"/>
          </a:ln>
        </p:spPr>
        <p:txBody>
          <a:bodyPr spcFirstLastPara="1" wrap="square" lIns="117338" tIns="270000" rIns="117338" bIns="270000" anchor="b" anchorCtr="0">
            <a:noAutofit/>
          </a:bodyPr>
          <a:lstStyle/>
          <a:p>
            <a:pPr algn="ctr">
              <a:lnSpc>
                <a:spcPct val="90000"/>
              </a:lnSpc>
              <a:spcBef>
                <a:spcPts val="0"/>
              </a:spcBef>
              <a:spcAft>
                <a:spcPts val="0"/>
              </a:spcAft>
              <a:buClr>
                <a:srgbClr val="000000"/>
              </a:buClr>
              <a:buSzPts val="2200"/>
            </a:pPr>
            <a:endParaRPr lang="en-US" sz="1650" dirty="0">
              <a:solidFill>
                <a:schemeClr val="lt1"/>
              </a:solidFill>
              <a:latin typeface="Calibri"/>
              <a:ea typeface="Calibri"/>
              <a:cs typeface="Calibri"/>
              <a:sym typeface="Calibri"/>
            </a:endParaRPr>
          </a:p>
          <a:p>
            <a:pPr algn="ctr">
              <a:lnSpc>
                <a:spcPct val="90000"/>
              </a:lnSpc>
              <a:spcBef>
                <a:spcPts val="578"/>
              </a:spcBef>
              <a:spcAft>
                <a:spcPts val="0"/>
              </a:spcAft>
              <a:buClr>
                <a:srgbClr val="000000"/>
              </a:buClr>
              <a:buSzPts val="2200"/>
            </a:pPr>
            <a:endParaRPr lang="en-US" sz="1650" dirty="0">
              <a:solidFill>
                <a:schemeClr val="tx1"/>
              </a:solidFill>
              <a:latin typeface="Calibri"/>
              <a:ea typeface="Calibri"/>
              <a:cs typeface="Calibri"/>
              <a:sym typeface="Calibri"/>
            </a:endParaRPr>
          </a:p>
          <a:p>
            <a:pPr algn="ctr">
              <a:lnSpc>
                <a:spcPct val="90000"/>
              </a:lnSpc>
              <a:spcBef>
                <a:spcPts val="578"/>
              </a:spcBef>
              <a:spcAft>
                <a:spcPts val="0"/>
              </a:spcAft>
              <a:buClr>
                <a:srgbClr val="000000"/>
              </a:buClr>
              <a:buSzPts val="2200"/>
            </a:pPr>
            <a:endParaRPr lang="en-US" sz="1650" dirty="0">
              <a:solidFill>
                <a:schemeClr val="tx1"/>
              </a:solidFill>
              <a:latin typeface="Calibri"/>
              <a:ea typeface="Calibri"/>
              <a:cs typeface="Calibri"/>
              <a:sym typeface="Calibri"/>
            </a:endParaRPr>
          </a:p>
          <a:p>
            <a:pPr algn="ctr">
              <a:lnSpc>
                <a:spcPct val="90000"/>
              </a:lnSpc>
              <a:spcBef>
                <a:spcPts val="578"/>
              </a:spcBef>
              <a:spcAft>
                <a:spcPts val="0"/>
              </a:spcAft>
              <a:buClr>
                <a:srgbClr val="000000"/>
              </a:buClr>
              <a:buSzPts val="2200"/>
            </a:pPr>
            <a:endParaRPr lang="en-US" sz="1650" dirty="0">
              <a:solidFill>
                <a:schemeClr val="tx1"/>
              </a:solidFill>
              <a:latin typeface="Calibri"/>
              <a:ea typeface="Calibri"/>
              <a:cs typeface="Calibri"/>
              <a:sym typeface="Calibri"/>
            </a:endParaRPr>
          </a:p>
          <a:p>
            <a:pPr algn="ctr">
              <a:lnSpc>
                <a:spcPct val="90000"/>
              </a:lnSpc>
              <a:spcBef>
                <a:spcPts val="578"/>
              </a:spcBef>
              <a:spcAft>
                <a:spcPts val="0"/>
              </a:spcAft>
              <a:buClr>
                <a:srgbClr val="000000"/>
              </a:buClr>
              <a:buSzPts val="2200"/>
            </a:pPr>
            <a:endParaRPr lang="en-US" sz="1650" dirty="0">
              <a:solidFill>
                <a:schemeClr val="tx1"/>
              </a:solidFill>
              <a:latin typeface="Calibri"/>
              <a:ea typeface="Calibri"/>
              <a:cs typeface="Calibri"/>
              <a:sym typeface="Calibri"/>
            </a:endParaRPr>
          </a:p>
          <a:p>
            <a:pPr algn="ctr">
              <a:lnSpc>
                <a:spcPct val="90000"/>
              </a:lnSpc>
              <a:spcBef>
                <a:spcPts val="578"/>
              </a:spcBef>
              <a:spcAft>
                <a:spcPts val="0"/>
              </a:spcAft>
              <a:buClr>
                <a:srgbClr val="000000"/>
              </a:buClr>
              <a:buSzPts val="2200"/>
            </a:pPr>
            <a:endParaRPr lang="en-US" sz="1650" dirty="0">
              <a:solidFill>
                <a:schemeClr val="tx1"/>
              </a:solidFill>
              <a:latin typeface="Calibri"/>
              <a:ea typeface="Calibri"/>
              <a:cs typeface="Calibri"/>
              <a:sym typeface="Calibri"/>
            </a:endParaRPr>
          </a:p>
          <a:p>
            <a:pPr algn="ctr">
              <a:lnSpc>
                <a:spcPct val="90000"/>
              </a:lnSpc>
              <a:spcBef>
                <a:spcPts val="578"/>
              </a:spcBef>
              <a:spcAft>
                <a:spcPts val="0"/>
              </a:spcAft>
              <a:buClr>
                <a:srgbClr val="000000"/>
              </a:buClr>
              <a:buSzPts val="2200"/>
            </a:pPr>
            <a:r>
              <a:rPr lang="en-US" sz="1650" dirty="0">
                <a:latin typeface="Calibri"/>
                <a:ea typeface="Calibri"/>
                <a:cs typeface="Calibri"/>
                <a:sym typeface="Calibri"/>
              </a:rPr>
              <a:t>Act</a:t>
            </a:r>
            <a:endParaRPr lang="en-US" sz="1050" dirty="0">
              <a:latin typeface="Arial"/>
              <a:ea typeface="Arial"/>
              <a:cs typeface="Arial"/>
              <a:sym typeface="Arial"/>
            </a:endParaRPr>
          </a:p>
          <a:p>
            <a:pPr algn="ctr">
              <a:lnSpc>
                <a:spcPct val="90000"/>
              </a:lnSpc>
              <a:spcBef>
                <a:spcPts val="578"/>
              </a:spcBef>
              <a:spcAft>
                <a:spcPts val="0"/>
              </a:spcAft>
              <a:buClr>
                <a:srgbClr val="000000"/>
              </a:buClr>
              <a:buSzPts val="2200"/>
            </a:pPr>
            <a:r>
              <a:rPr lang="en-US" sz="1650" dirty="0">
                <a:latin typeface="Calibri"/>
                <a:ea typeface="Calibri"/>
                <a:cs typeface="Calibri"/>
                <a:sym typeface="Calibri"/>
              </a:rPr>
              <a:t>Deontological Ethics</a:t>
            </a:r>
            <a:endParaRPr lang="en-US" sz="1050" dirty="0">
              <a:latin typeface="Arial"/>
              <a:ea typeface="Arial"/>
              <a:cs typeface="Arial"/>
              <a:sym typeface="Arial"/>
            </a:endParaRPr>
          </a:p>
          <a:p>
            <a:pPr algn="ctr">
              <a:lnSpc>
                <a:spcPct val="90000"/>
              </a:lnSpc>
              <a:spcBef>
                <a:spcPts val="578"/>
              </a:spcBef>
              <a:spcAft>
                <a:spcPts val="0"/>
              </a:spcAft>
              <a:buClr>
                <a:srgbClr val="000000"/>
              </a:buClr>
              <a:buSzPts val="1400"/>
            </a:pPr>
            <a:r>
              <a:rPr lang="en-US" sz="1200" dirty="0">
                <a:latin typeface="Calibri"/>
                <a:ea typeface="Calibri"/>
                <a:cs typeface="Calibri"/>
                <a:sym typeface="Calibri"/>
              </a:rPr>
              <a:t>We should not focus on the consequences. Is the action a morally good one? </a:t>
            </a:r>
            <a:endParaRPr lang="en-US" sz="1200" dirty="0">
              <a:latin typeface="Arial"/>
              <a:ea typeface="Arial"/>
              <a:cs typeface="Arial"/>
              <a:sym typeface="Arial"/>
            </a:endParaRPr>
          </a:p>
          <a:p>
            <a:pPr algn="ctr">
              <a:lnSpc>
                <a:spcPct val="90000"/>
              </a:lnSpc>
              <a:spcBef>
                <a:spcPts val="368"/>
              </a:spcBef>
              <a:spcAft>
                <a:spcPts val="0"/>
              </a:spcAft>
              <a:buClr>
                <a:srgbClr val="000000"/>
              </a:buClr>
              <a:buSzPts val="1400"/>
            </a:pPr>
            <a:r>
              <a:rPr lang="en-US" sz="1200" dirty="0">
                <a:latin typeface="Calibri"/>
                <a:ea typeface="Calibri"/>
                <a:cs typeface="Calibri"/>
                <a:sym typeface="Calibri"/>
              </a:rPr>
              <a:t>Some actions are absolutely right or wrong</a:t>
            </a:r>
          </a:p>
        </p:txBody>
      </p:sp>
      <p:sp>
        <p:nvSpPr>
          <p:cNvPr id="208" name="Google Shape;208;p9"/>
          <p:cNvSpPr/>
          <p:nvPr/>
        </p:nvSpPr>
        <p:spPr>
          <a:xfrm>
            <a:off x="4031470" y="1906268"/>
            <a:ext cx="1152429" cy="1152429"/>
          </a:xfrm>
          <a:prstGeom prst="ellipse">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68569" tIns="68569" rIns="68569" bIns="68569" anchor="ctr" anchorCtr="0">
            <a:noAutofit/>
          </a:bodyPr>
          <a:lstStyle/>
          <a:p>
            <a:pPr>
              <a:spcBef>
                <a:spcPts val="0"/>
              </a:spcBef>
              <a:spcAft>
                <a:spcPts val="0"/>
              </a:spcAft>
              <a:buClr>
                <a:srgbClr val="000000"/>
              </a:buClr>
              <a:buSzPts val="1400"/>
            </a:pPr>
            <a:endParaRPr sz="1050">
              <a:solidFill>
                <a:srgbClr val="000000"/>
              </a:solidFill>
              <a:latin typeface="Arial"/>
              <a:ea typeface="Arial"/>
              <a:cs typeface="Arial"/>
              <a:sym typeface="Arial"/>
            </a:endParaRPr>
          </a:p>
        </p:txBody>
      </p:sp>
      <p:sp>
        <p:nvSpPr>
          <p:cNvPr id="209" name="Google Shape;209;p9"/>
          <p:cNvSpPr/>
          <p:nvPr/>
        </p:nvSpPr>
        <p:spPr>
          <a:xfrm>
            <a:off x="6444208" y="1694026"/>
            <a:ext cx="1799655" cy="3571322"/>
          </a:xfrm>
          <a:custGeom>
            <a:avLst/>
            <a:gdLst/>
            <a:ahLst/>
            <a:cxnLst/>
            <a:rect l="l" t="t" r="r" b="b"/>
            <a:pathLst>
              <a:path w="2399540" h="4614333" extrusionOk="0">
                <a:moveTo>
                  <a:pt x="0" y="239954"/>
                </a:moveTo>
                <a:cubicBezTo>
                  <a:pt x="0" y="107431"/>
                  <a:pt x="107431" y="0"/>
                  <a:pt x="239954" y="0"/>
                </a:cubicBezTo>
                <a:lnTo>
                  <a:pt x="2159586" y="0"/>
                </a:lnTo>
                <a:cubicBezTo>
                  <a:pt x="2292109" y="0"/>
                  <a:pt x="2399540" y="107431"/>
                  <a:pt x="2399540" y="239954"/>
                </a:cubicBezTo>
                <a:lnTo>
                  <a:pt x="2399540" y="4374379"/>
                </a:lnTo>
                <a:cubicBezTo>
                  <a:pt x="2399540" y="4506902"/>
                  <a:pt x="2292109" y="4614333"/>
                  <a:pt x="2159586" y="4614333"/>
                </a:cubicBezTo>
                <a:lnTo>
                  <a:pt x="239954" y="4614333"/>
                </a:lnTo>
                <a:cubicBezTo>
                  <a:pt x="107431" y="4614333"/>
                  <a:pt x="0" y="4506902"/>
                  <a:pt x="0" y="4374379"/>
                </a:cubicBezTo>
                <a:lnTo>
                  <a:pt x="0" y="239954"/>
                </a:lnTo>
                <a:close/>
              </a:path>
            </a:pathLst>
          </a:custGeom>
          <a:solidFill>
            <a:schemeClr val="accent1"/>
          </a:solidFill>
          <a:ln w="12700" cap="flat" cmpd="sng">
            <a:solidFill>
              <a:schemeClr val="lt1"/>
            </a:solidFill>
            <a:prstDash val="solid"/>
            <a:miter lim="800000"/>
            <a:headEnd type="none" w="sm" len="sm"/>
            <a:tailEnd type="none" w="sm" len="sm"/>
          </a:ln>
        </p:spPr>
        <p:txBody>
          <a:bodyPr spcFirstLastPara="1" wrap="square" lIns="117338" tIns="270000" rIns="117338" bIns="270000" anchor="b" anchorCtr="0">
            <a:noAutofit/>
          </a:bodyPr>
          <a:lstStyle/>
          <a:p>
            <a:pPr algn="ctr">
              <a:lnSpc>
                <a:spcPct val="90000"/>
              </a:lnSpc>
              <a:spcBef>
                <a:spcPts val="0"/>
              </a:spcBef>
              <a:spcAft>
                <a:spcPts val="0"/>
              </a:spcAft>
              <a:buClr>
                <a:srgbClr val="000000"/>
              </a:buClr>
              <a:buSzPts val="2200"/>
            </a:pPr>
            <a:r>
              <a:rPr lang="en-US" sz="1650">
                <a:solidFill>
                  <a:schemeClr val="lt1"/>
                </a:solidFill>
                <a:latin typeface="Calibri"/>
                <a:ea typeface="Calibri"/>
                <a:cs typeface="Calibri"/>
                <a:sym typeface="Calibri"/>
              </a:rPr>
              <a:t>Outcomes</a:t>
            </a:r>
            <a:endParaRPr lang="en-US" sz="1050">
              <a:solidFill>
                <a:srgbClr val="000000"/>
              </a:solidFill>
              <a:latin typeface="Arial"/>
              <a:ea typeface="Arial"/>
              <a:cs typeface="Arial"/>
              <a:sym typeface="Arial"/>
            </a:endParaRPr>
          </a:p>
          <a:p>
            <a:pPr algn="ctr">
              <a:lnSpc>
                <a:spcPct val="90000"/>
              </a:lnSpc>
              <a:spcBef>
                <a:spcPts val="578"/>
              </a:spcBef>
              <a:spcAft>
                <a:spcPts val="0"/>
              </a:spcAft>
              <a:buClr>
                <a:srgbClr val="000000"/>
              </a:buClr>
              <a:buSzPts val="2200"/>
            </a:pPr>
            <a:r>
              <a:rPr lang="en-US" sz="1650">
                <a:solidFill>
                  <a:schemeClr val="lt1"/>
                </a:solidFill>
                <a:latin typeface="Calibri"/>
                <a:ea typeface="Calibri"/>
                <a:cs typeface="Calibri"/>
                <a:sym typeface="Calibri"/>
              </a:rPr>
              <a:t>Consequential Ethics</a:t>
            </a:r>
            <a:endParaRPr lang="en-US" sz="1050">
              <a:solidFill>
                <a:srgbClr val="000000"/>
              </a:solidFill>
              <a:latin typeface="Arial"/>
              <a:ea typeface="Arial"/>
              <a:cs typeface="Arial"/>
              <a:sym typeface="Arial"/>
            </a:endParaRPr>
          </a:p>
          <a:p>
            <a:pPr algn="ctr">
              <a:lnSpc>
                <a:spcPct val="90000"/>
              </a:lnSpc>
              <a:spcBef>
                <a:spcPts val="578"/>
              </a:spcBef>
              <a:spcAft>
                <a:spcPts val="0"/>
              </a:spcAft>
              <a:buClr>
                <a:srgbClr val="000000"/>
              </a:buClr>
              <a:buSzPts val="1400"/>
            </a:pPr>
            <a:r>
              <a:rPr lang="en-US" sz="1200">
                <a:solidFill>
                  <a:schemeClr val="lt1"/>
                </a:solidFill>
                <a:latin typeface="Calibri"/>
                <a:ea typeface="Calibri"/>
                <a:cs typeface="Calibri"/>
                <a:sym typeface="Calibri"/>
              </a:rPr>
              <a:t>The end justifies the means</a:t>
            </a:r>
            <a:endParaRPr lang="en-US" sz="1200">
              <a:solidFill>
                <a:srgbClr val="000000"/>
              </a:solidFill>
              <a:latin typeface="Arial"/>
              <a:ea typeface="Arial"/>
              <a:cs typeface="Arial"/>
              <a:sym typeface="Arial"/>
            </a:endParaRPr>
          </a:p>
          <a:p>
            <a:pPr algn="ctr">
              <a:lnSpc>
                <a:spcPct val="90000"/>
              </a:lnSpc>
              <a:spcBef>
                <a:spcPts val="368"/>
              </a:spcBef>
              <a:spcAft>
                <a:spcPts val="0"/>
              </a:spcAft>
              <a:buClr>
                <a:srgbClr val="000000"/>
              </a:buClr>
              <a:buSzPts val="1400"/>
            </a:pPr>
            <a:r>
              <a:rPr lang="en-US" sz="1200">
                <a:solidFill>
                  <a:schemeClr val="lt1"/>
                </a:solidFill>
                <a:latin typeface="Calibri"/>
                <a:ea typeface="Calibri"/>
                <a:cs typeface="Calibri"/>
                <a:sym typeface="Calibri"/>
              </a:rPr>
              <a:t>All’s well that ends well</a:t>
            </a:r>
            <a:endParaRPr lang="en-US" sz="1200">
              <a:solidFill>
                <a:srgbClr val="000000"/>
              </a:solidFill>
              <a:latin typeface="Arial"/>
              <a:ea typeface="Arial"/>
              <a:cs typeface="Arial"/>
              <a:sym typeface="Arial"/>
            </a:endParaRPr>
          </a:p>
          <a:p>
            <a:pPr algn="ctr">
              <a:lnSpc>
                <a:spcPct val="90000"/>
              </a:lnSpc>
              <a:spcBef>
                <a:spcPts val="368"/>
              </a:spcBef>
              <a:spcAft>
                <a:spcPts val="0"/>
              </a:spcAft>
              <a:buClr>
                <a:srgbClr val="000000"/>
              </a:buClr>
              <a:buSzPts val="1400"/>
            </a:pPr>
            <a:r>
              <a:rPr lang="en-US" sz="1200">
                <a:solidFill>
                  <a:schemeClr val="lt1"/>
                </a:solidFill>
                <a:latin typeface="Calibri"/>
                <a:ea typeface="Calibri"/>
                <a:cs typeface="Calibri"/>
                <a:sym typeface="Calibri"/>
              </a:rPr>
              <a:t>If the consequences are good then it justifies the action taken </a:t>
            </a:r>
            <a:endParaRPr lang="en-US" sz="1200" dirty="0">
              <a:solidFill>
                <a:schemeClr val="lt1"/>
              </a:solidFill>
              <a:latin typeface="Calibri"/>
              <a:ea typeface="Calibri"/>
              <a:cs typeface="Calibri"/>
              <a:sym typeface="Calibri"/>
            </a:endParaRPr>
          </a:p>
        </p:txBody>
      </p:sp>
      <p:sp>
        <p:nvSpPr>
          <p:cNvPr id="210" name="Google Shape;210;p9"/>
          <p:cNvSpPr/>
          <p:nvPr/>
        </p:nvSpPr>
        <p:spPr>
          <a:xfrm>
            <a:off x="6767820" y="1932891"/>
            <a:ext cx="1152429" cy="1152429"/>
          </a:xfrm>
          <a:prstGeom prst="ellipse">
            <a:avLst/>
          </a:prstGeom>
          <a:blipFill rotWithShape="1">
            <a:blip r:embed="rId6">
              <a:alphaModFix/>
            </a:blip>
            <a:stretch>
              <a:fillRect/>
            </a:stretch>
          </a:blipFill>
          <a:ln w="12700" cap="flat" cmpd="sng">
            <a:solidFill>
              <a:schemeClr val="lt1"/>
            </a:solidFill>
            <a:prstDash val="solid"/>
            <a:miter lim="800000"/>
            <a:headEnd type="none" w="sm" len="sm"/>
            <a:tailEnd type="none" w="sm" len="sm"/>
          </a:ln>
        </p:spPr>
        <p:txBody>
          <a:bodyPr spcFirstLastPara="1" wrap="square" lIns="68569" tIns="68569" rIns="68569" bIns="68569" anchor="ctr" anchorCtr="0">
            <a:noAutofit/>
          </a:bodyPr>
          <a:lstStyle/>
          <a:p>
            <a:pPr>
              <a:spcBef>
                <a:spcPts val="0"/>
              </a:spcBef>
              <a:spcAft>
                <a:spcPts val="0"/>
              </a:spcAft>
              <a:buClr>
                <a:srgbClr val="000000"/>
              </a:buClr>
              <a:buSzPts val="1400"/>
            </a:pPr>
            <a:endParaRPr sz="1050">
              <a:solidFill>
                <a:srgbClr val="000000"/>
              </a:solidFill>
              <a:latin typeface="Arial"/>
              <a:ea typeface="Arial"/>
              <a:cs typeface="Arial"/>
              <a:sym typeface="Arial"/>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
          <p:cNvSpPr txBox="1">
            <a:spLocks noChangeArrowheads="1"/>
          </p:cNvSpPr>
          <p:nvPr/>
        </p:nvSpPr>
        <p:spPr bwMode="auto">
          <a:xfrm>
            <a:off x="627507" y="90016"/>
            <a:ext cx="7886700" cy="83754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1440" tIns="45720" rIns="91440" bIns="45720" rtlCol="0" anchor="ctr">
            <a:norm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ctr" defTabSz="914400" rtl="0" eaLnBrk="1" fontAlgn="base" latinLnBrk="0" hangingPunct="1">
              <a:lnSpc>
                <a:spcPct val="90000"/>
              </a:lnSpc>
              <a:spcBef>
                <a:spcPct val="0"/>
              </a:spcBef>
              <a:spcAft>
                <a:spcPts val="60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sz="4700" b="0" i="0" u="none" strike="noStrike" kern="1200" cap="none" spc="0" normalizeH="0" baseline="0" noProof="0" dirty="0">
                <a:ln>
                  <a:noFill/>
                </a:ln>
                <a:solidFill>
                  <a:prstClr val="black"/>
                </a:solidFill>
                <a:effectLst/>
                <a:uLnTx/>
                <a:uFillTx/>
                <a:latin typeface="Calibri Light" panose="020F0302020204030204"/>
                <a:ea typeface="Microsoft YaHei" panose="020B0503020204020204" pitchFamily="34" charset="-122"/>
                <a:cs typeface="+mn-cs"/>
              </a:rPr>
              <a:t> </a:t>
            </a:r>
            <a:r>
              <a:rPr lang="en-US" altLang="en-US" sz="4000" dirty="0">
                <a:solidFill>
                  <a:prstClr val="black"/>
                </a:solidFill>
                <a:latin typeface="Trebuchet MS" panose="020B0603020202020204" pitchFamily="34" charset="0"/>
                <a:cs typeface="Arial" panose="020B0604020202020204" pitchFamily="34" charset="0"/>
              </a:rPr>
              <a:t>Summing up: Ethics 101 </a:t>
            </a:r>
          </a:p>
        </p:txBody>
      </p:sp>
      <p:sp>
        <p:nvSpPr>
          <p:cNvPr id="13315" name="Text Box 2"/>
          <p:cNvSpPr txBox="1">
            <a:spLocks noChangeArrowheads="1"/>
          </p:cNvSpPr>
          <p:nvPr/>
        </p:nvSpPr>
        <p:spPr bwMode="auto">
          <a:xfrm>
            <a:off x="628649" y="1268760"/>
            <a:ext cx="8140445" cy="491258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1440" tIns="45720" rIns="91440" bIns="45720" rtlCol="0">
            <a:no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457200" marR="0" lvl="0"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400" b="1" i="1" u="none" strike="noStrike" kern="1200" cap="none" spc="0" normalizeH="0" baseline="0" noProof="0" dirty="0">
                <a:ln>
                  <a:noFill/>
                </a:ln>
                <a:solidFill>
                  <a:srgbClr val="ED7D31"/>
                </a:solidFill>
                <a:effectLst/>
                <a:uLnTx/>
                <a:uFillTx/>
                <a:latin typeface="Calibri" panose="020F0502020204030204"/>
                <a:ea typeface="Microsoft YaHei" charset="-122"/>
                <a:cs typeface="+mn-cs"/>
              </a:rPr>
              <a:t>Virtue Ethics</a:t>
            </a:r>
            <a:r>
              <a:rPr kumimoji="0" lang="en-US" sz="2400" b="1" i="0" u="none" strike="noStrike" kern="1200" cap="none" spc="0" normalizeH="0" baseline="0" noProof="0" dirty="0">
                <a:ln>
                  <a:noFill/>
                </a:ln>
                <a:solidFill>
                  <a:srgbClr val="ED7D31"/>
                </a:solidFill>
                <a:effectLst/>
                <a:uLnTx/>
                <a:uFillTx/>
                <a:latin typeface="Calibri" panose="020F0502020204030204"/>
                <a:ea typeface="Microsoft YaHei" charset="-122"/>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Moral character: Behave in a manner that exhibits certain characteristics, such as generosity, compassion, etc.</a:t>
            </a:r>
          </a:p>
          <a:p>
            <a:pPr marL="1200150" marR="0" lvl="1"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What kind of person would do this?</a:t>
            </a:r>
          </a:p>
          <a:p>
            <a:pPr marL="1200150" marR="0" lvl="1"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endParaRPr>
          </a:p>
          <a:p>
            <a:pPr marL="457200" marR="0" lvl="0"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400" b="1" i="1" u="none" strike="noStrike" kern="1200" cap="none" spc="0" normalizeH="0" baseline="0" noProof="0" dirty="0">
                <a:ln>
                  <a:noFill/>
                </a:ln>
                <a:solidFill>
                  <a:srgbClr val="FF0000"/>
                </a:solidFill>
                <a:effectLst/>
                <a:uLnTx/>
                <a:uFillTx/>
                <a:latin typeface="Calibri" panose="020F0502020204030204"/>
                <a:ea typeface="Microsoft YaHei" charset="-122"/>
                <a:cs typeface="+mn-cs"/>
              </a:rPr>
              <a:t>Deontology</a:t>
            </a:r>
            <a:r>
              <a:rPr kumimoji="0" lang="en-US" sz="24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Rule based ethics: certain acts are intrinsically right or wrong.</a:t>
            </a:r>
          </a:p>
          <a:p>
            <a:pPr marL="1200150" marR="0" lvl="1"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E.g. We must never kill another person, regardless of the consequences</a:t>
            </a:r>
          </a:p>
          <a:p>
            <a:pPr marL="1200150" marR="0" lvl="1"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endParaRPr>
          </a:p>
          <a:p>
            <a:pPr marL="457200" marR="0" lvl="0"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400" b="1" i="1" u="none" strike="noStrike" kern="1200" cap="none" spc="0" normalizeH="0" baseline="0" noProof="0" dirty="0">
                <a:ln>
                  <a:noFill/>
                </a:ln>
                <a:solidFill>
                  <a:srgbClr val="4472C4"/>
                </a:solidFill>
                <a:effectLst/>
                <a:uLnTx/>
                <a:uFillTx/>
                <a:latin typeface="Calibri" panose="020F0502020204030204"/>
                <a:ea typeface="Microsoft YaHei" charset="-122"/>
                <a:cs typeface="+mn-cs"/>
              </a:rPr>
              <a:t>Consequentialism</a:t>
            </a:r>
            <a:r>
              <a:rPr kumimoji="0" lang="en-US" sz="2400" b="0" i="0" u="none" strike="noStrike" kern="1200" cap="none" spc="0" normalizeH="0" baseline="0" noProof="0" dirty="0">
                <a:ln>
                  <a:noFill/>
                </a:ln>
                <a:solidFill>
                  <a:srgbClr val="4472C4"/>
                </a:solidFill>
                <a:effectLst/>
                <a:uLnTx/>
                <a:uFillTx/>
                <a:latin typeface="Calibri" panose="020F0502020204030204"/>
                <a:ea typeface="Microsoft YaHei" charset="-122"/>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Ethical calculations are focused on the outcome.</a:t>
            </a:r>
          </a:p>
          <a:p>
            <a:pPr marL="1200150" marR="0" lvl="1" indent="-228600" algn="l" defTabSz="914400" rtl="0" eaLnBrk="1" fontAlgn="base" latinLnBrk="0" hangingPunct="1">
              <a:lnSpc>
                <a:spcPct val="90000"/>
              </a:lnSpc>
              <a:spcBef>
                <a:spcPts val="300"/>
              </a:spcBef>
              <a:spcAft>
                <a:spcPct val="0"/>
              </a:spcAft>
              <a:buClrTx/>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Act to bring about the best consequences, to </a:t>
            </a:r>
            <a:r>
              <a:rPr kumimoji="0" lang="en-US" sz="2400" b="0" i="0" u="none" strike="noStrike" kern="1200" cap="none" spc="0" normalizeH="0" baseline="0" noProof="0" dirty="0" err="1">
                <a:ln>
                  <a:noFill/>
                </a:ln>
                <a:solidFill>
                  <a:prstClr val="black"/>
                </a:solidFill>
                <a:effectLst/>
                <a:uLnTx/>
                <a:uFillTx/>
                <a:latin typeface="Calibri" panose="020F0502020204030204"/>
                <a:ea typeface="Microsoft YaHei" charset="-122"/>
                <a:cs typeface="+mn-cs"/>
              </a:rPr>
              <a:t>maximise</a:t>
            </a:r>
            <a:r>
              <a:rPr kumimoji="0" lang="en-US" sz="24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happiness. The end justifies the means.</a:t>
            </a:r>
          </a:p>
        </p:txBody>
      </p:sp>
    </p:spTree>
    <p:custDataLst>
      <p:tags r:id="rId1"/>
    </p:custDataLst>
    <p:extLst>
      <p:ext uri="{BB962C8B-B14F-4D97-AF65-F5344CB8AC3E}">
        <p14:creationId xmlns:p14="http://schemas.microsoft.com/office/powerpoint/2010/main" val="3962071162"/>
      </p:ext>
    </p:extLst>
  </p:cSld>
  <p:clrMapOvr>
    <a:masterClrMapping/>
  </p:clrMapOvr>
  <p:transition spd="med" advTm="6390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64DF5A-034C-A07C-57AE-A65ED07C2BE5}"/>
              </a:ext>
            </a:extLst>
          </p:cNvPr>
          <p:cNvSpPr txBox="1"/>
          <p:nvPr/>
        </p:nvSpPr>
        <p:spPr>
          <a:xfrm>
            <a:off x="440055" y="0"/>
            <a:ext cx="8263890" cy="742188"/>
          </a:xfrm>
          <a:prstGeom prst="rect">
            <a:avLst/>
          </a:prstGeom>
        </p:spPr>
        <p:txBody>
          <a:bodyPr vert="horz" lIns="91440" tIns="45720" rIns="91440" bIns="45720" rtlCol="0" anchor="b">
            <a:normAutofit/>
          </a:bodyPr>
          <a:lstStyle/>
          <a:p>
            <a:pPr marL="0" marR="0" lvl="0" indent="0" algn="ctr" defTabSz="914400" rtl="0" eaLnBrk="1" fontAlgn="base" latinLnBrk="0" hangingPunct="1">
              <a:lnSpc>
                <a:spcPct val="90000"/>
              </a:lnSpc>
              <a:spcBef>
                <a:spcPct val="0"/>
              </a:spcBef>
              <a:spcAft>
                <a:spcPts val="600"/>
              </a:spcAft>
              <a:buClrTx/>
              <a:buSzTx/>
              <a:buFontTx/>
              <a:buNone/>
              <a:tabLst/>
              <a:defRPr/>
            </a:pPr>
            <a:r>
              <a:rPr kumimoji="0" lang="en-US" sz="3700" b="0" i="0" u="none" strike="noStrike" kern="1200" cap="none" spc="0" normalizeH="0" baseline="0" noProof="0" dirty="0">
                <a:ln>
                  <a:noFill/>
                </a:ln>
                <a:solidFill>
                  <a:prstClr val="black"/>
                </a:solidFill>
                <a:effectLst/>
                <a:uLnTx/>
                <a:uFillTx/>
                <a:latin typeface="Calibri Light" panose="020F0302020204030204"/>
                <a:ea typeface="Microsoft YaHei" panose="020B0503020204020204" pitchFamily="34" charset="-122"/>
                <a:cs typeface="+mn-cs"/>
              </a:rPr>
              <a:t>Doing ethics</a:t>
            </a:r>
          </a:p>
        </p:txBody>
      </p:sp>
      <p:sp>
        <p:nvSpPr>
          <p:cNvPr id="13315" name="Text Box 2"/>
          <p:cNvSpPr txBox="1">
            <a:spLocks noChangeArrowheads="1"/>
          </p:cNvSpPr>
          <p:nvPr/>
        </p:nvSpPr>
        <p:spPr bwMode="auto">
          <a:xfrm>
            <a:off x="422604" y="980728"/>
            <a:ext cx="6806928" cy="542270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1440" tIns="45720" rIns="91440" bIns="45720" rtlCol="0" anchor="t">
            <a:no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1" indent="0" algn="l" defTabSz="914400" rtl="0" eaLnBrk="1" fontAlgn="base" latinLnBrk="0" hangingPunct="1">
              <a:lnSpc>
                <a:spcPct val="9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Normative principles and applied ethics</a:t>
            </a:r>
          </a:p>
          <a:p>
            <a:pPr marL="0" marR="0" lvl="1" indent="-228600" algn="l" defTabSz="914400" rtl="0" eaLnBrk="1" fontAlgn="base" latinLnBrk="0" hangingPunct="1">
              <a:lnSpc>
                <a:spcPct val="9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endParaRPr>
          </a:p>
          <a:p>
            <a:pPr marL="342900" marR="0" lvl="0" indent="-228600" algn="l" defTabSz="914400" rtl="0" eaLnBrk="1" fontAlgn="base" latinLnBrk="0" hangingPunct="1">
              <a:lnSpc>
                <a:spcPct val="90000"/>
              </a:lnSpc>
              <a:spcBef>
                <a:spcPts val="300"/>
              </a:spcBef>
              <a:spcAft>
                <a:spcPts val="1200"/>
              </a:spcAft>
              <a:buClr>
                <a:prstClr val="black"/>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Professional code of ethics</a:t>
            </a: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An attempt to codify our moral obligations (normative), to </a:t>
            </a:r>
            <a:r>
              <a:rPr kumimoji="0" lang="en-US" sz="2200" b="0" i="0" u="none" strike="noStrike" kern="1200" cap="none" spc="0" normalizeH="0" baseline="0" noProof="0" dirty="0" err="1">
                <a:ln>
                  <a:noFill/>
                </a:ln>
                <a:solidFill>
                  <a:prstClr val="black"/>
                </a:solidFill>
                <a:effectLst/>
                <a:uLnTx/>
                <a:uFillTx/>
                <a:latin typeface="Calibri" panose="020F0502020204030204"/>
                <a:ea typeface="Microsoft YaHei" charset="-122"/>
                <a:cs typeface="+mn-cs"/>
              </a:rPr>
              <a:t>formalise</a:t>
            </a: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our ethical responsibilities in professional environments.</a:t>
            </a:r>
          </a:p>
          <a:p>
            <a:pPr marL="342900" marR="0" lvl="0" indent="-228600" algn="l" defTabSz="914400" rtl="0" eaLnBrk="1" fontAlgn="base" latinLnBrk="0" hangingPunct="1">
              <a:lnSpc>
                <a:spcPct val="90000"/>
              </a:lnSpc>
              <a:spcBef>
                <a:spcPts val="300"/>
              </a:spcBef>
              <a:spcAft>
                <a:spcPts val="1200"/>
              </a:spcAft>
              <a:buClr>
                <a:prstClr val="black"/>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Duty of care</a:t>
            </a: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take care not to act in ways which any reasonable person could foresee might harm others.  We must not act in ways that could reasonably be foreseen to create risks of </a:t>
            </a:r>
            <a:r>
              <a:rPr kumimoji="0" lang="en-US" sz="2200" b="0" i="1" u="none" strike="noStrike" kern="1200" cap="none" spc="0" normalizeH="0" baseline="0" noProof="0" dirty="0">
                <a:ln>
                  <a:noFill/>
                </a:ln>
                <a:solidFill>
                  <a:prstClr val="black"/>
                </a:solidFill>
                <a:effectLst/>
                <a:uLnTx/>
                <a:uFillTx/>
                <a:latin typeface="Calibri" panose="020F0502020204030204"/>
                <a:ea typeface="Microsoft YaHei" charset="-122"/>
                <a:cs typeface="+mn-cs"/>
              </a:rPr>
              <a:t>future harm</a:t>
            </a: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to others, and indeed to </a:t>
            </a:r>
            <a:r>
              <a:rPr kumimoji="0" lang="en-US" sz="2200" b="0" i="1" u="none" strike="noStrike" kern="1200" cap="none" spc="0" normalizeH="0" baseline="0" noProof="0" dirty="0">
                <a:ln>
                  <a:noFill/>
                </a:ln>
                <a:solidFill>
                  <a:prstClr val="black"/>
                </a:solidFill>
                <a:effectLst/>
                <a:uLnTx/>
                <a:uFillTx/>
                <a:latin typeface="Calibri" panose="020F0502020204030204"/>
                <a:ea typeface="Microsoft YaHei" charset="-122"/>
                <a:cs typeface="+mn-cs"/>
              </a:rPr>
              <a:t>eliminate those risks if we have created them</a:t>
            </a: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a:t>
            </a:r>
          </a:p>
          <a:p>
            <a:pPr marL="342900" marR="0" lvl="0" indent="-228600" algn="l" defTabSz="914400" rtl="0" eaLnBrk="1" fontAlgn="base" latinLnBrk="0" hangingPunct="1">
              <a:lnSpc>
                <a:spcPct val="90000"/>
              </a:lnSpc>
              <a:spcBef>
                <a:spcPts val="300"/>
              </a:spcBef>
              <a:spcAft>
                <a:spcPts val="1200"/>
              </a:spcAft>
              <a:buClr>
                <a:prstClr val="black"/>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200" b="1" i="0" u="none" strike="noStrike" kern="1200" cap="none" spc="0" normalizeH="0" baseline="0" noProof="0" dirty="0" err="1">
                <a:ln>
                  <a:noFill/>
                </a:ln>
                <a:solidFill>
                  <a:prstClr val="black"/>
                </a:solidFill>
                <a:effectLst/>
                <a:uLnTx/>
                <a:uFillTx/>
                <a:latin typeface="Calibri" panose="020F0502020204030204"/>
                <a:ea typeface="Microsoft YaHei" charset="-122"/>
                <a:cs typeface="+mn-cs"/>
              </a:rPr>
              <a:t>Principlism</a:t>
            </a: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 applied ethics approach based upon the application of certain ethical (normative) principles (not values).</a:t>
            </a:r>
          </a:p>
          <a:p>
            <a:pPr marL="742950" marR="0" lvl="1" indent="-228600" algn="l" defTabSz="914400" rtl="0" eaLnBrk="1" fontAlgn="base" latinLnBrk="0" hangingPunct="1">
              <a:lnSpc>
                <a:spcPct val="90000"/>
              </a:lnSpc>
              <a:spcBef>
                <a:spcPts val="300"/>
              </a:spcBef>
              <a:spcAft>
                <a:spcPts val="1200"/>
              </a:spcAft>
              <a:buClr>
                <a:prstClr val="black"/>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E.g. The foundation of medical ethics: Autonomy, Beneficence, Non-maleficence, Justice.</a:t>
            </a:r>
            <a:endPar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endParaRPr>
          </a:p>
        </p:txBody>
      </p:sp>
      <p:pic>
        <p:nvPicPr>
          <p:cNvPr id="2" name="Picture 1"/>
          <p:cNvPicPr>
            <a:picLocks noChangeAspect="1"/>
          </p:cNvPicPr>
          <p:nvPr/>
        </p:nvPicPr>
        <p:blipFill rotWithShape="1">
          <a:blip r:embed="rId3"/>
          <a:srcRect l="4276" r="3512" b="-3"/>
          <a:stretch/>
        </p:blipFill>
        <p:spPr>
          <a:xfrm>
            <a:off x="7290564" y="2887898"/>
            <a:ext cx="1793755" cy="2486008"/>
          </a:xfrm>
          <a:prstGeom prst="rect">
            <a:avLst/>
          </a:prstGeom>
        </p:spPr>
      </p:pic>
    </p:spTree>
    <p:extLst>
      <p:ext uri="{BB962C8B-B14F-4D97-AF65-F5344CB8AC3E}">
        <p14:creationId xmlns:p14="http://schemas.microsoft.com/office/powerpoint/2010/main" val="97097239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ext Box 1"/>
          <p:cNvSpPr txBox="1">
            <a:spLocks noChangeArrowheads="1"/>
          </p:cNvSpPr>
          <p:nvPr/>
        </p:nvSpPr>
        <p:spPr bwMode="auto">
          <a:xfrm>
            <a:off x="323528" y="121394"/>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The Drowning Child</a:t>
            </a:r>
          </a:p>
        </p:txBody>
      </p:sp>
      <p:sp>
        <p:nvSpPr>
          <p:cNvPr id="23555" name="Text Box 2"/>
          <p:cNvSpPr txBox="1">
            <a:spLocks noChangeArrowheads="1"/>
          </p:cNvSpPr>
          <p:nvPr/>
        </p:nvSpPr>
        <p:spPr bwMode="auto">
          <a:xfrm>
            <a:off x="323528" y="1188194"/>
            <a:ext cx="8695060" cy="512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1pPr>
            <a:lvl2pPr marL="655638" indent="-244475">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2pPr>
            <a:lvl3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3pPr>
            <a:lvl4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4pPr>
            <a:lvl5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9pPr>
          </a:lstStyle>
          <a:p>
            <a:pPr eaLnBrk="1" hangingPunct="1">
              <a:lnSpc>
                <a:spcPct val="80000"/>
              </a:lnSpc>
              <a:spcBef>
                <a:spcPts val="300"/>
              </a:spcBef>
              <a:spcAft>
                <a:spcPts val="600"/>
              </a:spcAft>
              <a:buClr>
                <a:srgbClr val="000000"/>
              </a:buClr>
              <a:buSzPct val="100000"/>
              <a:buFont typeface="Times New Roman" panose="02020603050405020304" pitchFamily="18" charset="0"/>
              <a:buNone/>
            </a:pPr>
            <a:r>
              <a:rPr lang="en-AU" altLang="en-US" sz="2200" dirty="0">
                <a:solidFill>
                  <a:srgbClr val="000000"/>
                </a:solidFill>
                <a:cs typeface="Arial" panose="020B0604020202020204" pitchFamily="34" charset="0"/>
              </a:rPr>
              <a:t>Testing our moral intuitions: Part 1</a:t>
            </a:r>
          </a:p>
          <a:p>
            <a:pPr eaLnBrk="1" hangingPunct="1">
              <a:lnSpc>
                <a:spcPct val="80000"/>
              </a:lnSpc>
              <a:spcBef>
                <a:spcPts val="300"/>
              </a:spcBef>
              <a:spcAft>
                <a:spcPts val="1200"/>
              </a:spcAft>
              <a:buClr>
                <a:srgbClr val="000000"/>
              </a:buClr>
              <a:buSzPct val="100000"/>
              <a:buFont typeface="Times New Roman" panose="02020603050405020304" pitchFamily="18" charset="0"/>
              <a:buNone/>
            </a:pPr>
            <a:r>
              <a:rPr lang="en-AU" altLang="en-US" sz="2200" dirty="0">
                <a:solidFill>
                  <a:srgbClr val="000000"/>
                </a:solidFill>
                <a:cs typeface="Arial" panose="020B0604020202020204" pitchFamily="34" charset="0"/>
              </a:rPr>
              <a:t>On the way to your University ethics class you notice a child apparently drowning in a pond. Efforts to save the child will result in ruining your new clothes and fancy shoes. It will also mean you miss class. Do you have an obligation to rescue them?</a:t>
            </a:r>
          </a:p>
          <a:p>
            <a:pPr marL="342900" indent="-342900" eaLnBrk="1" hangingPunct="1">
              <a:lnSpc>
                <a:spcPct val="80000"/>
              </a:lnSpc>
              <a:spcBef>
                <a:spcPts val="300"/>
              </a:spcBef>
              <a:spcAft>
                <a:spcPts val="1200"/>
              </a:spcAft>
              <a:buClr>
                <a:srgbClr val="000000"/>
              </a:buClr>
              <a:buSzPct val="100000"/>
              <a:buFont typeface="Arial" panose="020B0604020202020204" pitchFamily="34" charset="0"/>
              <a:buChar char="•"/>
            </a:pPr>
            <a:r>
              <a:rPr lang="en-AU" altLang="en-US" sz="2200" dirty="0">
                <a:solidFill>
                  <a:srgbClr val="000000"/>
                </a:solidFill>
                <a:cs typeface="Arial" panose="020B0604020202020204" pitchFamily="34" charset="0"/>
              </a:rPr>
              <a:t>What moral obligations do we have to others?	</a:t>
            </a:r>
          </a:p>
          <a:p>
            <a:pPr marL="342900" indent="-342900" eaLnBrk="1" hangingPunct="1">
              <a:lnSpc>
                <a:spcPct val="80000"/>
              </a:lnSpc>
              <a:spcBef>
                <a:spcPts val="300"/>
              </a:spcBef>
              <a:buClr>
                <a:srgbClr val="000000"/>
              </a:buClr>
              <a:buSzPct val="100000"/>
              <a:buFont typeface="Arial" panose="020B0604020202020204" pitchFamily="34" charset="0"/>
              <a:buChar char="•"/>
            </a:pPr>
            <a:r>
              <a:rPr lang="en-AU" altLang="en-US" sz="2200" dirty="0">
                <a:solidFill>
                  <a:srgbClr val="000000"/>
                </a:solidFill>
                <a:cs typeface="Arial" panose="020B0604020202020204" pitchFamily="34" charset="0"/>
              </a:rPr>
              <a:t>What is most important to our assessment of the ethical situation:</a:t>
            </a:r>
          </a:p>
          <a:p>
            <a:pPr eaLnBrk="1" hangingPunct="1">
              <a:lnSpc>
                <a:spcPct val="80000"/>
              </a:lnSpc>
              <a:spcBef>
                <a:spcPts val="300"/>
              </a:spcBef>
              <a:buClr>
                <a:srgbClr val="000000"/>
              </a:buClr>
              <a:buSzPct val="100000"/>
              <a:buFont typeface="Times New Roman" panose="02020603050405020304" pitchFamily="18" charset="0"/>
              <a:buNone/>
            </a:pPr>
            <a:r>
              <a:rPr lang="en-AU" altLang="en-US" sz="2200" dirty="0">
                <a:solidFill>
                  <a:srgbClr val="000000"/>
                </a:solidFill>
                <a:cs typeface="Arial" panose="020B0604020202020204" pitchFamily="34" charset="0"/>
              </a:rPr>
              <a:t>		the agent?</a:t>
            </a:r>
          </a:p>
          <a:p>
            <a:pPr eaLnBrk="1" hangingPunct="1">
              <a:lnSpc>
                <a:spcPct val="80000"/>
              </a:lnSpc>
              <a:spcBef>
                <a:spcPts val="300"/>
              </a:spcBef>
              <a:buClr>
                <a:srgbClr val="000000"/>
              </a:buClr>
              <a:buSzPct val="100000"/>
              <a:buFont typeface="Times New Roman" panose="02020603050405020304" pitchFamily="18" charset="0"/>
              <a:buNone/>
            </a:pPr>
            <a:r>
              <a:rPr lang="en-AU" altLang="en-US" sz="2200" dirty="0">
                <a:solidFill>
                  <a:srgbClr val="000000"/>
                </a:solidFill>
                <a:cs typeface="Arial" panose="020B0604020202020204" pitchFamily="34" charset="0"/>
              </a:rPr>
              <a:t>		the act?</a:t>
            </a:r>
          </a:p>
          <a:p>
            <a:pPr eaLnBrk="1" hangingPunct="1">
              <a:lnSpc>
                <a:spcPct val="80000"/>
              </a:lnSpc>
              <a:spcBef>
                <a:spcPts val="300"/>
              </a:spcBef>
              <a:spcAft>
                <a:spcPts val="1200"/>
              </a:spcAft>
              <a:buClr>
                <a:srgbClr val="000000"/>
              </a:buClr>
              <a:buSzPct val="100000"/>
              <a:buFont typeface="Times New Roman" panose="02020603050405020304" pitchFamily="18" charset="0"/>
              <a:buNone/>
            </a:pPr>
            <a:r>
              <a:rPr lang="en-AU" altLang="en-US" sz="2200" dirty="0">
                <a:solidFill>
                  <a:srgbClr val="000000"/>
                </a:solidFill>
                <a:cs typeface="Arial" panose="020B0604020202020204" pitchFamily="34" charset="0"/>
              </a:rPr>
              <a:t>		the outcome?</a:t>
            </a:r>
          </a:p>
          <a:p>
            <a:pPr marL="342900" indent="-342900" eaLnBrk="1" hangingPunct="1">
              <a:lnSpc>
                <a:spcPct val="80000"/>
              </a:lnSpc>
              <a:spcBef>
                <a:spcPts val="300"/>
              </a:spcBef>
              <a:buClr>
                <a:srgbClr val="000000"/>
              </a:buClr>
              <a:buSzPct val="100000"/>
              <a:buFont typeface="Arial" panose="020B0604020202020204" pitchFamily="34" charset="0"/>
              <a:buChar char="•"/>
            </a:pPr>
            <a:r>
              <a:rPr lang="en-AU" altLang="en-US" sz="2200" dirty="0">
                <a:solidFill>
                  <a:srgbClr val="000000"/>
                </a:solidFill>
                <a:cs typeface="Arial" panose="020B0604020202020204" pitchFamily="34" charset="0"/>
              </a:rPr>
              <a:t>Is there an “expanding circle”</a:t>
            </a:r>
          </a:p>
          <a:p>
            <a:pPr marL="365125" indent="-365125" eaLnBrk="1" hangingPunct="1">
              <a:lnSpc>
                <a:spcPct val="80000"/>
              </a:lnSpc>
              <a:spcBef>
                <a:spcPts val="300"/>
              </a:spcBef>
              <a:buClr>
                <a:srgbClr val="000000"/>
              </a:buClr>
              <a:buSzPct val="100000"/>
              <a:buFont typeface="Times New Roman" panose="02020603050405020304" pitchFamily="18" charset="0"/>
              <a:buNone/>
            </a:pPr>
            <a:r>
              <a:rPr lang="en-AU" altLang="en-US" sz="2200" dirty="0">
                <a:solidFill>
                  <a:srgbClr val="000000"/>
                </a:solidFill>
                <a:cs typeface="Arial" panose="020B0604020202020204" pitchFamily="34" charset="0"/>
              </a:rPr>
              <a:t>	of moral obligation?</a:t>
            </a:r>
          </a:p>
          <a:p>
            <a:pPr eaLnBrk="1" hangingPunct="1">
              <a:lnSpc>
                <a:spcPct val="80000"/>
              </a:lnSpc>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lnSpc>
                <a:spcPct val="80000"/>
              </a:lnSpc>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lvl="1">
              <a:spcBef>
                <a:spcPts val="300"/>
              </a:spcBef>
              <a:buClr>
                <a:srgbClr val="438086"/>
              </a:buClr>
              <a:buSzPct val="100000"/>
              <a:buFont typeface="Times New Roman" panose="02020603050405020304" pitchFamily="18" charset="0"/>
              <a:buNone/>
            </a:pPr>
            <a:r>
              <a:rPr lang="en-AU" altLang="en-US" sz="2400" dirty="0">
                <a:solidFill>
                  <a:srgbClr val="FF0000"/>
                </a:solidFill>
                <a:cs typeface="Arial" panose="020B0604020202020204" pitchFamily="34" charset="0"/>
              </a:rPr>
              <a:t>  </a:t>
            </a:r>
          </a:p>
          <a:p>
            <a:pPr lvl="1">
              <a:spcBef>
                <a:spcPts val="300"/>
              </a:spcBef>
              <a:buClr>
                <a:srgbClr val="438086"/>
              </a:buClr>
              <a:buSzPct val="100000"/>
              <a:buFont typeface="Georgia" panose="02040502050405020303" pitchFamily="18" charset="0"/>
              <a:buNone/>
            </a:pPr>
            <a:endParaRPr lang="en-AU" altLang="en-US" sz="2400" dirty="0">
              <a:solidFill>
                <a:srgbClr val="000000"/>
              </a:solidFill>
              <a:cs typeface="Arial" panose="020B060402020202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0072" y="4581128"/>
            <a:ext cx="3718543" cy="2091680"/>
          </a:xfrm>
          <a:prstGeom prst="rect">
            <a:avLst/>
          </a:prstGeom>
        </p:spPr>
      </p:pic>
    </p:spTree>
    <p:custDataLst>
      <p:tags r:id="rId1"/>
    </p:custDataLst>
  </p:cSld>
  <p:clrMapOvr>
    <a:masterClrMapping/>
  </p:clrMapOvr>
  <p:transition spd="med" advTm="463478"/>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1"/>
          <p:cNvSpPr txBox="1">
            <a:spLocks noChangeArrowheads="1"/>
          </p:cNvSpPr>
          <p:nvPr/>
        </p:nvSpPr>
        <p:spPr bwMode="auto">
          <a:xfrm>
            <a:off x="457200" y="333375"/>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a:solidFill>
                  <a:srgbClr val="424456"/>
                </a:solidFill>
                <a:latin typeface="Trebuchet MS" panose="020B0603020202020204" pitchFamily="34" charset="0"/>
                <a:cs typeface="Arial" panose="020B0604020202020204" pitchFamily="34" charset="0"/>
              </a:rPr>
              <a:t> The Trolley Problem </a:t>
            </a:r>
          </a:p>
        </p:txBody>
      </p:sp>
      <p:sp>
        <p:nvSpPr>
          <p:cNvPr id="13315" name="Text Box 2"/>
          <p:cNvSpPr txBox="1">
            <a:spLocks noChangeArrowheads="1"/>
          </p:cNvSpPr>
          <p:nvPr/>
        </p:nvSpPr>
        <p:spPr bwMode="auto">
          <a:xfrm>
            <a:off x="457200" y="1557338"/>
            <a:ext cx="8229600" cy="427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itchFamily="16" charset="0"/>
              <a:buNone/>
              <a:defRPr/>
            </a:pPr>
            <a:r>
              <a:rPr lang="en-AU" altLang="en-US" sz="2400" b="1" dirty="0">
                <a:cs typeface="Arial" charset="0"/>
              </a:rPr>
              <a:t>What’s the right thing to do here?</a:t>
            </a:r>
          </a:p>
          <a:p>
            <a:pPr eaLnBrk="1" hangingPunct="1">
              <a:buClr>
                <a:srgbClr val="000000"/>
              </a:buClr>
              <a:buSzPct val="100000"/>
              <a:buFont typeface="Times New Roman" pitchFamily="16" charset="0"/>
              <a:buNone/>
              <a:defRPr/>
            </a:pPr>
            <a:r>
              <a:rPr lang="en-AU" altLang="en-US" sz="2400" u="sng" dirty="0">
                <a:cs typeface="Arial" charset="0"/>
              </a:rPr>
              <a:t>A Utilitarian response </a:t>
            </a:r>
          </a:p>
          <a:p>
            <a:pPr marL="533400" eaLnBrk="1" hangingPunct="1">
              <a:spcAft>
                <a:spcPts val="600"/>
              </a:spcAft>
              <a:buClr>
                <a:srgbClr val="000000"/>
              </a:buClr>
              <a:buSzPct val="100000"/>
              <a:buFont typeface="Times New Roman" pitchFamily="16" charset="0"/>
              <a:buNone/>
              <a:defRPr/>
            </a:pPr>
            <a:r>
              <a:rPr lang="en-AU" altLang="en-US" sz="2400" dirty="0">
                <a:cs typeface="Arial" charset="0"/>
              </a:rPr>
              <a:t>	</a:t>
            </a:r>
            <a:r>
              <a:rPr lang="en-AU" altLang="en-US" sz="2400" i="1" dirty="0">
                <a:cs typeface="Arial" charset="0"/>
              </a:rPr>
              <a:t>Pull the lever!! </a:t>
            </a:r>
            <a:r>
              <a:rPr lang="en-AU" altLang="en-US" sz="2400" dirty="0">
                <a:cs typeface="Arial" charset="0"/>
              </a:rPr>
              <a:t>Better to sacrifice the 1 so that the 5 can live</a:t>
            </a:r>
          </a:p>
          <a:p>
            <a:pPr eaLnBrk="1" hangingPunct="1">
              <a:buClr>
                <a:srgbClr val="000000"/>
              </a:buClr>
              <a:buSzPct val="100000"/>
              <a:buFont typeface="Times New Roman" pitchFamily="16" charset="0"/>
              <a:buNone/>
              <a:defRPr/>
            </a:pPr>
            <a:r>
              <a:rPr lang="en-AU" altLang="en-US" sz="2400" u="sng" dirty="0">
                <a:cs typeface="Arial" charset="0"/>
              </a:rPr>
              <a:t>A Deontological response  </a:t>
            </a:r>
          </a:p>
          <a:p>
            <a:pPr marL="533400" eaLnBrk="1" hangingPunct="1">
              <a:spcAft>
                <a:spcPts val="600"/>
              </a:spcAft>
              <a:buClr>
                <a:srgbClr val="000000"/>
              </a:buClr>
              <a:buSzPct val="100000"/>
              <a:buFont typeface="Times New Roman" pitchFamily="16" charset="0"/>
              <a:buNone/>
              <a:defRPr/>
            </a:pPr>
            <a:r>
              <a:rPr lang="en-AU" altLang="en-US" sz="2400" dirty="0">
                <a:cs typeface="Arial" charset="0"/>
              </a:rPr>
              <a:t>	</a:t>
            </a:r>
            <a:r>
              <a:rPr lang="en-AU" altLang="en-US" sz="2400" i="1" dirty="0">
                <a:cs typeface="Arial" charset="0"/>
              </a:rPr>
              <a:t>Don’t do it!! </a:t>
            </a:r>
            <a:r>
              <a:rPr lang="en-AU" altLang="en-US" sz="2400" dirty="0">
                <a:cs typeface="Arial" charset="0"/>
              </a:rPr>
              <a:t>It’s categorically wrong to ever treat people merely as means and not ends in themselves</a:t>
            </a:r>
          </a:p>
          <a:p>
            <a:pPr eaLnBrk="1" hangingPunct="1">
              <a:buClr>
                <a:srgbClr val="000000"/>
              </a:buClr>
              <a:buSzPct val="100000"/>
              <a:buFont typeface="Times New Roman" pitchFamily="16" charset="0"/>
              <a:buNone/>
              <a:defRPr/>
            </a:pPr>
            <a:r>
              <a:rPr lang="en-AU" altLang="en-US" sz="2400" u="sng" dirty="0">
                <a:cs typeface="Arial" charset="0"/>
              </a:rPr>
              <a:t>Virtue Ethics response</a:t>
            </a:r>
          </a:p>
          <a:p>
            <a:pPr eaLnBrk="1" hangingPunct="1">
              <a:buClr>
                <a:srgbClr val="000000"/>
              </a:buClr>
              <a:buSzPct val="100000"/>
              <a:buFont typeface="Times New Roman" pitchFamily="16" charset="0"/>
              <a:buNone/>
              <a:defRPr/>
            </a:pPr>
            <a:r>
              <a:rPr lang="en-AU" altLang="en-US" sz="2400" dirty="0">
                <a:cs typeface="Arial" charset="0"/>
              </a:rPr>
              <a:t>	Do whatever the virtuous person would do!</a:t>
            </a:r>
          </a:p>
          <a:p>
            <a:pPr eaLnBrk="1" hangingPunct="1">
              <a:buClr>
                <a:srgbClr val="000000"/>
              </a:buClr>
              <a:buSzPct val="100000"/>
              <a:buFont typeface="Times New Roman" pitchFamily="16" charset="0"/>
              <a:buNone/>
              <a:defRPr/>
            </a:pPr>
            <a:endParaRPr lang="en-AU" altLang="en-US" sz="2400" dirty="0">
              <a:cs typeface="Arial" charset="0"/>
            </a:endParaRPr>
          </a:p>
          <a:p>
            <a:pPr marL="533400" eaLnBrk="1" hangingPunct="1">
              <a:buClr>
                <a:srgbClr val="000000"/>
              </a:buClr>
              <a:buSzPct val="100000"/>
              <a:buFont typeface="Times New Roman" pitchFamily="16" charset="0"/>
              <a:buNone/>
              <a:defRPr/>
            </a:pPr>
            <a:endParaRPr lang="en-AU" altLang="en-US" sz="2400" dirty="0">
              <a:cs typeface="Arial" charset="0"/>
            </a:endParaRPr>
          </a:p>
        </p:txBody>
      </p:sp>
    </p:spTree>
    <p:custDataLst>
      <p:tags r:id="rId1"/>
    </p:custDataLst>
  </p:cSld>
  <p:clrMapOvr>
    <a:masterClrMapping/>
  </p:clrMapOvr>
  <p:transition spd="med" advTm="277097"/>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1"/>
          <p:cNvSpPr txBox="1">
            <a:spLocks noChangeArrowheads="1"/>
          </p:cNvSpPr>
          <p:nvPr/>
        </p:nvSpPr>
        <p:spPr bwMode="auto">
          <a:xfrm>
            <a:off x="457200" y="404813"/>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a:solidFill>
                  <a:srgbClr val="424456"/>
                </a:solidFill>
                <a:latin typeface="Trebuchet MS" panose="020B0603020202020204" pitchFamily="34" charset="0"/>
                <a:cs typeface="Arial" panose="020B0604020202020204" pitchFamily="34" charset="0"/>
              </a:rPr>
              <a:t> The Trolley Problem </a:t>
            </a:r>
          </a:p>
        </p:txBody>
      </p:sp>
      <p:sp>
        <p:nvSpPr>
          <p:cNvPr id="12291" name="Text Box 2"/>
          <p:cNvSpPr txBox="1">
            <a:spLocks noChangeArrowheads="1"/>
          </p:cNvSpPr>
          <p:nvPr/>
        </p:nvSpPr>
        <p:spPr bwMode="auto">
          <a:xfrm>
            <a:off x="442913" y="1503363"/>
            <a:ext cx="8229600" cy="441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itchFamily="16" charset="0"/>
              <a:buNone/>
              <a:defRPr/>
            </a:pPr>
            <a:r>
              <a:rPr lang="en-AU" altLang="en-US" sz="2400" b="1" dirty="0">
                <a:cs typeface="Arial" charset="0"/>
              </a:rPr>
              <a:t>What’s the right thing to do here?</a:t>
            </a:r>
          </a:p>
          <a:p>
            <a:pPr eaLnBrk="1" hangingPunct="1">
              <a:buClr>
                <a:srgbClr val="000000"/>
              </a:buClr>
              <a:buSzPct val="100000"/>
              <a:buFont typeface="Times New Roman" pitchFamily="16" charset="0"/>
              <a:buNone/>
              <a:defRPr/>
            </a:pPr>
            <a:endParaRPr lang="en-AU" altLang="en-US" sz="2400" dirty="0">
              <a:cs typeface="Arial" charset="0"/>
            </a:endParaRPr>
          </a:p>
          <a:p>
            <a:pPr eaLnBrk="1" hangingPunct="1">
              <a:buClr>
                <a:srgbClr val="000000"/>
              </a:buClr>
              <a:buSzPct val="100000"/>
              <a:buFont typeface="Times New Roman" pitchFamily="16" charset="0"/>
              <a:buNone/>
              <a:defRPr/>
            </a:pPr>
            <a:r>
              <a:rPr lang="en-AU" altLang="en-US" sz="2400" dirty="0">
                <a:cs typeface="Arial" charset="0"/>
              </a:rPr>
              <a:t>These ethical theories are traditionally distinct in theoretical terms, but as we’ll see, in practice we often base our decisions on a combination of factors</a:t>
            </a:r>
          </a:p>
          <a:p>
            <a:pPr marL="538163" indent="-342900" eaLnBrk="1" hangingPunct="1">
              <a:buClr>
                <a:srgbClr val="000000"/>
              </a:buClr>
              <a:buSzPct val="100000"/>
              <a:buFont typeface="Arial" panose="020B0604020202020204" pitchFamily="34" charset="0"/>
              <a:buChar char="•"/>
              <a:tabLst>
                <a:tab pos="449263" algn="l"/>
                <a:tab pos="1462088" algn="l"/>
                <a:tab pos="2376488" algn="l"/>
                <a:tab pos="3290888" algn="l"/>
                <a:tab pos="4205288" algn="l"/>
                <a:tab pos="5119688" algn="l"/>
                <a:tab pos="6034088" algn="l"/>
                <a:tab pos="6948488" algn="l"/>
                <a:tab pos="7862888" algn="l"/>
                <a:tab pos="8777288" algn="l"/>
                <a:tab pos="9691688" algn="l"/>
              </a:tabLst>
              <a:defRPr/>
            </a:pPr>
            <a:r>
              <a:rPr lang="en-AU" altLang="en-US" sz="2400" dirty="0">
                <a:cs typeface="Arial" charset="0"/>
              </a:rPr>
              <a:t>Crucially, as ethical theories, they guide our actions and provide explanation for right action</a:t>
            </a:r>
          </a:p>
          <a:p>
            <a:pPr marL="538163" indent="-342900" eaLnBrk="1" hangingPunct="1">
              <a:buClr>
                <a:srgbClr val="000000"/>
              </a:buClr>
              <a:buSzPct val="100000"/>
              <a:buFont typeface="Arial" panose="020B0604020202020204" pitchFamily="34" charset="0"/>
              <a:buChar char="•"/>
              <a:tabLst>
                <a:tab pos="449263" algn="l"/>
                <a:tab pos="1462088" algn="l"/>
                <a:tab pos="2376488" algn="l"/>
                <a:tab pos="3290888" algn="l"/>
                <a:tab pos="4205288" algn="l"/>
                <a:tab pos="5119688" algn="l"/>
                <a:tab pos="6034088" algn="l"/>
                <a:tab pos="6948488" algn="l"/>
                <a:tab pos="7862888" algn="l"/>
                <a:tab pos="8777288" algn="l"/>
                <a:tab pos="9691688" algn="l"/>
              </a:tabLst>
              <a:defRPr/>
            </a:pPr>
            <a:r>
              <a:rPr lang="en-AU" altLang="en-US" sz="2400" dirty="0">
                <a:solidFill>
                  <a:schemeClr val="tx1"/>
                </a:solidFill>
                <a:cs typeface="Arial" charset="0"/>
              </a:rPr>
              <a:t>They aim to:</a:t>
            </a:r>
          </a:p>
          <a:p>
            <a:pPr marL="1281113" lvl="1" indent="-342900" eaLnBrk="1" hangingPunct="1">
              <a:buClr>
                <a:srgbClr val="000000"/>
              </a:buClr>
              <a:buSzPct val="100000"/>
              <a:buFont typeface="Arial" panose="020B0604020202020204" pitchFamily="34" charset="0"/>
              <a:buChar char="•"/>
              <a:tabLst>
                <a:tab pos="449263" algn="l"/>
                <a:tab pos="1462088" algn="l"/>
                <a:tab pos="2376488" algn="l"/>
                <a:tab pos="3290888" algn="l"/>
                <a:tab pos="4205288" algn="l"/>
                <a:tab pos="5119688" algn="l"/>
                <a:tab pos="6034088" algn="l"/>
                <a:tab pos="6948488" algn="l"/>
                <a:tab pos="7862888" algn="l"/>
                <a:tab pos="8777288" algn="l"/>
                <a:tab pos="9691688" algn="l"/>
              </a:tabLst>
              <a:defRPr/>
            </a:pPr>
            <a:r>
              <a:rPr lang="en-AU" altLang="en-US" sz="2200" dirty="0">
                <a:solidFill>
                  <a:srgbClr val="FF0000"/>
                </a:solidFill>
                <a:cs typeface="Arial" charset="0"/>
              </a:rPr>
              <a:t>be non-arbitrary, </a:t>
            </a:r>
          </a:p>
          <a:p>
            <a:pPr marL="1281113" lvl="1" indent="-342900" eaLnBrk="1" hangingPunct="1">
              <a:buClr>
                <a:srgbClr val="000000"/>
              </a:buClr>
              <a:buSzPct val="100000"/>
              <a:buFont typeface="Arial" panose="020B0604020202020204" pitchFamily="34" charset="0"/>
              <a:buChar char="•"/>
              <a:tabLst>
                <a:tab pos="449263" algn="l"/>
                <a:tab pos="1462088" algn="l"/>
                <a:tab pos="2376488" algn="l"/>
                <a:tab pos="3290888" algn="l"/>
                <a:tab pos="4205288" algn="l"/>
                <a:tab pos="5119688" algn="l"/>
                <a:tab pos="6034088" algn="l"/>
                <a:tab pos="6948488" algn="l"/>
                <a:tab pos="7862888" algn="l"/>
                <a:tab pos="8777288" algn="l"/>
                <a:tab pos="9691688" algn="l"/>
              </a:tabLst>
              <a:defRPr/>
            </a:pPr>
            <a:r>
              <a:rPr lang="en-AU" altLang="en-US" sz="2200" dirty="0">
                <a:solidFill>
                  <a:srgbClr val="FF0000"/>
                </a:solidFill>
                <a:cs typeface="Arial" charset="0"/>
              </a:rPr>
              <a:t>be properly compelling, </a:t>
            </a:r>
          </a:p>
          <a:p>
            <a:pPr marL="1281113" lvl="1" indent="-342900" eaLnBrk="1" hangingPunct="1">
              <a:buClr>
                <a:srgbClr val="000000"/>
              </a:buClr>
              <a:buSzPct val="100000"/>
              <a:buFont typeface="Arial" panose="020B0604020202020204" pitchFamily="34" charset="0"/>
              <a:buChar char="•"/>
              <a:tabLst>
                <a:tab pos="449263" algn="l"/>
                <a:tab pos="1462088" algn="l"/>
                <a:tab pos="2376488" algn="l"/>
                <a:tab pos="3290888" algn="l"/>
                <a:tab pos="4205288" algn="l"/>
                <a:tab pos="5119688" algn="l"/>
                <a:tab pos="6034088" algn="l"/>
                <a:tab pos="6948488" algn="l"/>
                <a:tab pos="7862888" algn="l"/>
                <a:tab pos="8777288" algn="l"/>
                <a:tab pos="9691688" algn="l"/>
              </a:tabLst>
              <a:defRPr/>
            </a:pPr>
            <a:r>
              <a:rPr lang="en-AU" altLang="en-US" sz="2200" dirty="0">
                <a:solidFill>
                  <a:srgbClr val="FF0000"/>
                </a:solidFill>
                <a:cs typeface="Arial" charset="0"/>
              </a:rPr>
              <a:t>add consistency and clarity to our moral reasoning</a:t>
            </a:r>
          </a:p>
        </p:txBody>
      </p:sp>
    </p:spTree>
  </p:cSld>
  <p:clrMapOvr>
    <a:masterClrMapping/>
  </p:clrMapOvr>
  <p:transition spd="med" advTm="137502"/>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 Box 1"/>
          <p:cNvSpPr txBox="1">
            <a:spLocks noChangeArrowheads="1"/>
          </p:cNvSpPr>
          <p:nvPr/>
        </p:nvSpPr>
        <p:spPr bwMode="auto">
          <a:xfrm>
            <a:off x="450850" y="0"/>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 Summing up: Ethics 101 </a:t>
            </a:r>
          </a:p>
        </p:txBody>
      </p:sp>
      <p:sp>
        <p:nvSpPr>
          <p:cNvPr id="13315" name="Text Box 2"/>
          <p:cNvSpPr txBox="1">
            <a:spLocks noChangeArrowheads="1"/>
          </p:cNvSpPr>
          <p:nvPr/>
        </p:nvSpPr>
        <p:spPr bwMode="auto">
          <a:xfrm>
            <a:off x="467033" y="1066800"/>
            <a:ext cx="8213417" cy="5098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itchFamily="16" charset="0"/>
              <a:buNone/>
              <a:defRPr/>
            </a:pPr>
            <a:r>
              <a:rPr lang="en-AU" altLang="en-US" sz="2400" b="1" dirty="0">
                <a:cs typeface="Arial" charset="0"/>
              </a:rPr>
              <a:t>Ethics is concerned with what </a:t>
            </a:r>
            <a:r>
              <a:rPr lang="en-AU" altLang="en-US" sz="2400" b="1" i="1" dirty="0">
                <a:cs typeface="Arial" charset="0"/>
              </a:rPr>
              <a:t>ought</a:t>
            </a:r>
            <a:r>
              <a:rPr lang="en-AU" altLang="en-US" sz="2400" b="1" dirty="0">
                <a:cs typeface="Arial" charset="0"/>
              </a:rPr>
              <a:t> to happen, and </a:t>
            </a:r>
            <a:r>
              <a:rPr lang="en-AU" altLang="en-US" sz="2400" b="1" i="1" dirty="0">
                <a:cs typeface="Arial" charset="0"/>
              </a:rPr>
              <a:t>why</a:t>
            </a:r>
          </a:p>
          <a:p>
            <a:pPr marL="457200" indent="-457200" eaLnBrk="1" hangingPunct="1">
              <a:buClr>
                <a:srgbClr val="000000"/>
              </a:buClr>
              <a:buSzPct val="100000"/>
              <a:buFont typeface="Arial" panose="020B0604020202020204" pitchFamily="34" charset="0"/>
              <a:buChar char="•"/>
              <a:defRPr/>
            </a:pPr>
            <a:r>
              <a:rPr lang="en-AU" sz="2400" dirty="0"/>
              <a:t>Normative ethics: Attempts to provide a general theory that tells us how we ought to live.</a:t>
            </a:r>
          </a:p>
          <a:p>
            <a:pPr marL="457200" indent="-457200" eaLnBrk="1" hangingPunct="1">
              <a:buClr>
                <a:srgbClr val="000000"/>
              </a:buClr>
              <a:buSzPct val="100000"/>
              <a:buFont typeface="Arial" panose="020B0604020202020204" pitchFamily="34" charset="0"/>
              <a:buChar char="•"/>
              <a:defRPr/>
            </a:pPr>
            <a:r>
              <a:rPr lang="en-AU" sz="2400" dirty="0">
                <a:solidFill>
                  <a:srgbClr val="FF0000"/>
                </a:solidFill>
              </a:rPr>
              <a:t>Applied ethics: Applying normative ethical theories to specific issues (practical ethics).</a:t>
            </a:r>
          </a:p>
          <a:p>
            <a:pPr marL="457200" indent="-457200" eaLnBrk="1" hangingPunct="1">
              <a:buClr>
                <a:srgbClr val="000000"/>
              </a:buClr>
              <a:buSzPct val="100000"/>
              <a:buFont typeface="Arial" panose="020B0604020202020204" pitchFamily="34" charset="0"/>
              <a:buChar char="•"/>
              <a:defRPr/>
            </a:pPr>
            <a:r>
              <a:rPr lang="en-AU" sz="2400" dirty="0">
                <a:solidFill>
                  <a:srgbClr val="000000"/>
                </a:solidFill>
              </a:rPr>
              <a:t>In normative ethics there are (broadly speaking) 3 morally interesting factors:</a:t>
            </a:r>
            <a:endParaRPr lang="en-AU" sz="2400" dirty="0"/>
          </a:p>
          <a:p>
            <a:pPr marL="1200150" lvl="1" indent="-457200" eaLnBrk="1" hangingPunct="1">
              <a:buClr>
                <a:srgbClr val="000000"/>
              </a:buClr>
              <a:buSzPct val="100000"/>
              <a:buFont typeface="Arial" panose="020B0604020202020204" pitchFamily="34" charset="0"/>
              <a:buChar char="•"/>
              <a:defRPr/>
            </a:pPr>
            <a:r>
              <a:rPr lang="en-AU" sz="2400" dirty="0">
                <a:solidFill>
                  <a:srgbClr val="000000"/>
                </a:solidFill>
              </a:rPr>
              <a:t>The agent </a:t>
            </a:r>
            <a:r>
              <a:rPr lang="en-AU" dirty="0">
                <a:solidFill>
                  <a:srgbClr val="000000"/>
                </a:solidFill>
              </a:rPr>
              <a:t>(</a:t>
            </a:r>
            <a:r>
              <a:rPr lang="en-AU" sz="2200" dirty="0">
                <a:solidFill>
                  <a:srgbClr val="000000"/>
                </a:solidFill>
              </a:rPr>
              <a:t>approx. Virtue ethics</a:t>
            </a:r>
            <a:r>
              <a:rPr lang="en-AU" dirty="0">
                <a:solidFill>
                  <a:srgbClr val="000000"/>
                </a:solidFill>
              </a:rPr>
              <a:t>)</a:t>
            </a:r>
          </a:p>
          <a:p>
            <a:pPr marL="1200150" lvl="1" indent="-457200" eaLnBrk="1" hangingPunct="1">
              <a:buClr>
                <a:srgbClr val="000000"/>
              </a:buClr>
              <a:buSzPct val="100000"/>
              <a:buFont typeface="Arial" panose="020B0604020202020204" pitchFamily="34" charset="0"/>
              <a:buChar char="•"/>
              <a:defRPr/>
            </a:pPr>
            <a:r>
              <a:rPr lang="en-AU" sz="2400" dirty="0">
                <a:solidFill>
                  <a:srgbClr val="000000"/>
                </a:solidFill>
              </a:rPr>
              <a:t>The act itself </a:t>
            </a:r>
            <a:r>
              <a:rPr lang="en-AU" dirty="0">
                <a:solidFill>
                  <a:srgbClr val="000000"/>
                </a:solidFill>
              </a:rPr>
              <a:t>(</a:t>
            </a:r>
            <a:r>
              <a:rPr lang="en-AU" sz="2200" dirty="0">
                <a:solidFill>
                  <a:srgbClr val="000000"/>
                </a:solidFill>
              </a:rPr>
              <a:t>approx. Deontology</a:t>
            </a:r>
            <a:r>
              <a:rPr lang="en-AU" dirty="0">
                <a:solidFill>
                  <a:srgbClr val="000000"/>
                </a:solidFill>
              </a:rPr>
              <a:t>)</a:t>
            </a:r>
          </a:p>
          <a:p>
            <a:pPr marL="1200150" lvl="1" indent="-457200" eaLnBrk="1" hangingPunct="1">
              <a:buClr>
                <a:srgbClr val="000000"/>
              </a:buClr>
              <a:buSzPct val="100000"/>
              <a:buFont typeface="Arial" panose="020B0604020202020204" pitchFamily="34" charset="0"/>
              <a:buChar char="•"/>
              <a:defRPr/>
            </a:pPr>
            <a:r>
              <a:rPr lang="en-AU" sz="2400" dirty="0">
                <a:solidFill>
                  <a:srgbClr val="000000"/>
                </a:solidFill>
              </a:rPr>
              <a:t>The consequences </a:t>
            </a:r>
            <a:r>
              <a:rPr lang="en-AU" dirty="0">
                <a:solidFill>
                  <a:srgbClr val="000000"/>
                </a:solidFill>
              </a:rPr>
              <a:t>(</a:t>
            </a:r>
            <a:r>
              <a:rPr lang="en-AU" sz="2200" dirty="0">
                <a:solidFill>
                  <a:srgbClr val="000000"/>
                </a:solidFill>
              </a:rPr>
              <a:t>approx. Utilitarianism/Consequentialism</a:t>
            </a:r>
            <a:r>
              <a:rPr lang="en-AU" dirty="0">
                <a:solidFill>
                  <a:srgbClr val="000000"/>
                </a:solidFill>
              </a:rPr>
              <a:t>)</a:t>
            </a:r>
            <a:endParaRPr lang="en-AU" altLang="en-US" dirty="0">
              <a:solidFill>
                <a:srgbClr val="000000"/>
              </a:solidFill>
            </a:endParaRPr>
          </a:p>
        </p:txBody>
      </p:sp>
    </p:spTree>
    <p:custDataLst>
      <p:tags r:id="rId1"/>
    </p:custDataLst>
    <p:extLst>
      <p:ext uri="{BB962C8B-B14F-4D97-AF65-F5344CB8AC3E}">
        <p14:creationId xmlns:p14="http://schemas.microsoft.com/office/powerpoint/2010/main" val="3039826616"/>
      </p:ext>
    </p:extLst>
  </p:cSld>
  <p:clrMapOvr>
    <a:masterClrMapping/>
  </p:clrMapOvr>
  <p:transition spd="med" advTm="13579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
          <p:cNvSpPr txBox="1">
            <a:spLocks noChangeArrowheads="1"/>
          </p:cNvSpPr>
          <p:nvPr/>
        </p:nvSpPr>
        <p:spPr bwMode="auto">
          <a:xfrm>
            <a:off x="457200" y="333375"/>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a:solidFill>
                  <a:srgbClr val="424456"/>
                </a:solidFill>
                <a:latin typeface="Trebuchet MS" panose="020B0603020202020204" pitchFamily="34" charset="0"/>
                <a:cs typeface="Arial" panose="020B0604020202020204" pitchFamily="34" charset="0"/>
              </a:rPr>
              <a:t>Ethics in Practice</a:t>
            </a:r>
          </a:p>
        </p:txBody>
      </p:sp>
      <p:sp>
        <p:nvSpPr>
          <p:cNvPr id="13315" name="Text Box 2"/>
          <p:cNvSpPr txBox="1">
            <a:spLocks noChangeArrowheads="1"/>
          </p:cNvSpPr>
          <p:nvPr/>
        </p:nvSpPr>
        <p:spPr bwMode="auto">
          <a:xfrm>
            <a:off x="457200" y="1628775"/>
            <a:ext cx="8229600" cy="449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itchFamily="16" charset="0"/>
              <a:buNone/>
              <a:defRPr/>
            </a:pPr>
            <a:r>
              <a:rPr lang="en-AU" altLang="en-US" sz="2400" b="1" dirty="0">
                <a:cs typeface="Arial" charset="0"/>
              </a:rPr>
              <a:t>The Case of Willy Just</a:t>
            </a:r>
          </a:p>
          <a:p>
            <a:pPr marL="457200" indent="-457200" eaLnBrk="1" hangingPunct="1">
              <a:buClr>
                <a:srgbClr val="000000"/>
              </a:buClr>
              <a:buSzPct val="100000"/>
              <a:buFont typeface="Arial" panose="020B0604020202020204" pitchFamily="34" charset="0"/>
              <a:buChar char="•"/>
              <a:defRPr/>
            </a:pPr>
            <a:r>
              <a:rPr lang="en-AU" altLang="en-US" sz="2400" dirty="0">
                <a:cs typeface="Arial" charset="0"/>
              </a:rPr>
              <a:t>Can you conceive of  an ethical defence that could be offered on behalf of Willy Just?   </a:t>
            </a:r>
          </a:p>
          <a:p>
            <a:pPr eaLnBrk="1" hangingPunct="1">
              <a:buClr>
                <a:srgbClr val="000000"/>
              </a:buClr>
              <a:buSzPct val="100000"/>
              <a:defRPr/>
            </a:pPr>
            <a:endParaRPr lang="en-AU" altLang="en-US" sz="2400" dirty="0">
              <a:cs typeface="Arial" charset="0"/>
            </a:endParaRPr>
          </a:p>
          <a:p>
            <a:pPr marL="457200" indent="-457200" eaLnBrk="1" hangingPunct="1">
              <a:buClr>
                <a:srgbClr val="000000"/>
              </a:buClr>
              <a:buSzPct val="100000"/>
              <a:buFont typeface="Arial" panose="020B0604020202020204" pitchFamily="34" charset="0"/>
              <a:buChar char="•"/>
              <a:defRPr/>
            </a:pPr>
            <a:r>
              <a:rPr lang="en-AU" altLang="en-US" sz="2400" dirty="0">
                <a:cs typeface="Arial" charset="0"/>
              </a:rPr>
              <a:t>Could his conduct be morally justified by any of the ethical frameworks we employed in the trolley car cases? </a:t>
            </a:r>
          </a:p>
          <a:p>
            <a:pPr marL="1200150" lvl="1" indent="-457200" eaLnBrk="1" hangingPunct="1">
              <a:buClr>
                <a:srgbClr val="000000"/>
              </a:buClr>
              <a:buSzPct val="100000"/>
              <a:buFont typeface="Arial" panose="020B0604020202020204" pitchFamily="34" charset="0"/>
              <a:buChar char="•"/>
              <a:defRPr/>
            </a:pPr>
            <a:r>
              <a:rPr lang="en-AU" altLang="en-US" sz="2200" dirty="0">
                <a:solidFill>
                  <a:schemeClr val="tx1"/>
                </a:solidFill>
                <a:cs typeface="Arial" charset="0"/>
              </a:rPr>
              <a:t>Virtue Ethics?</a:t>
            </a:r>
          </a:p>
          <a:p>
            <a:pPr marL="1200150" lvl="1" indent="-457200" eaLnBrk="1" hangingPunct="1">
              <a:buClr>
                <a:srgbClr val="000000"/>
              </a:buClr>
              <a:buSzPct val="100000"/>
              <a:buFont typeface="Arial" panose="020B0604020202020204" pitchFamily="34" charset="0"/>
              <a:buChar char="•"/>
              <a:defRPr/>
            </a:pPr>
            <a:r>
              <a:rPr lang="en-AU" altLang="en-US" sz="2200" dirty="0">
                <a:solidFill>
                  <a:schemeClr val="tx1"/>
                </a:solidFill>
                <a:cs typeface="Arial" charset="0"/>
              </a:rPr>
              <a:t>Deontology?</a:t>
            </a:r>
          </a:p>
          <a:p>
            <a:pPr marL="1200150" lvl="1" indent="-457200" eaLnBrk="1" hangingPunct="1">
              <a:buClr>
                <a:srgbClr val="000000"/>
              </a:buClr>
              <a:buSzPct val="100000"/>
              <a:buFont typeface="Arial" panose="020B0604020202020204" pitchFamily="34" charset="0"/>
              <a:buChar char="•"/>
              <a:defRPr/>
            </a:pPr>
            <a:r>
              <a:rPr lang="en-AU" altLang="en-US" sz="2200" dirty="0">
                <a:solidFill>
                  <a:schemeClr val="tx1"/>
                </a:solidFill>
                <a:cs typeface="Arial" charset="0"/>
              </a:rPr>
              <a:t>Utilitarianism?</a:t>
            </a:r>
          </a:p>
          <a:p>
            <a:pPr eaLnBrk="1" hangingPunct="1">
              <a:buClr>
                <a:srgbClr val="000000"/>
              </a:buClr>
              <a:buSzPct val="100000"/>
              <a:buFont typeface="Times New Roman" pitchFamily="16" charset="0"/>
              <a:buNone/>
              <a:defRPr/>
            </a:pPr>
            <a:endParaRPr lang="en-AU" altLang="en-US" sz="2400" dirty="0">
              <a:cs typeface="Arial" charset="0"/>
            </a:endParaRPr>
          </a:p>
        </p:txBody>
      </p:sp>
    </p:spTree>
    <p:extLst>
      <p:ext uri="{BB962C8B-B14F-4D97-AF65-F5344CB8AC3E}">
        <p14:creationId xmlns:p14="http://schemas.microsoft.com/office/powerpoint/2010/main" val="250978524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457200" y="260350"/>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a:solidFill>
                  <a:srgbClr val="424456"/>
                </a:solidFill>
                <a:latin typeface="Trebuchet MS" panose="020B0603020202020204" pitchFamily="34" charset="0"/>
                <a:cs typeface="Arial" panose="020B0604020202020204" pitchFamily="34" charset="0"/>
              </a:rPr>
              <a:t>Ethics in Practice</a:t>
            </a:r>
          </a:p>
        </p:txBody>
      </p:sp>
      <p:sp>
        <p:nvSpPr>
          <p:cNvPr id="13315" name="Text Box 2"/>
          <p:cNvSpPr txBox="1">
            <a:spLocks noChangeArrowheads="1"/>
          </p:cNvSpPr>
          <p:nvPr/>
        </p:nvSpPr>
        <p:spPr bwMode="auto">
          <a:xfrm>
            <a:off x="457200" y="1628775"/>
            <a:ext cx="8579296" cy="449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1pPr>
            <a:lvl2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2pPr>
            <a:lvl3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3pPr>
            <a:lvl4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4pPr>
            <a:lvl5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9pPr>
          </a:lstStyle>
          <a:p>
            <a:pPr eaLnBrk="1" hangingPunct="1">
              <a:spcBef>
                <a:spcPts val="300"/>
              </a:spcBef>
              <a:buClr>
                <a:srgbClr val="000000"/>
              </a:buClr>
              <a:buSzPct val="100000"/>
              <a:buFont typeface="Times New Roman" panose="02020603050405020304" pitchFamily="18" charset="0"/>
              <a:buNone/>
            </a:pPr>
            <a:r>
              <a:rPr lang="en-AU" altLang="en-US" sz="2400" b="1" dirty="0">
                <a:solidFill>
                  <a:srgbClr val="000000"/>
                </a:solidFill>
                <a:cs typeface="Arial" panose="020B0604020202020204" pitchFamily="34" charset="0"/>
              </a:rPr>
              <a:t>The Ford Pinto</a:t>
            </a:r>
          </a:p>
          <a:p>
            <a:pPr eaLnBrk="1" hangingPunct="1">
              <a:spcBef>
                <a:spcPts val="300"/>
              </a:spcBef>
              <a:buClr>
                <a:srgbClr val="000000"/>
              </a:buClr>
              <a:buSzPct val="100000"/>
              <a:buFont typeface="Times New Roman" panose="02020603050405020304" pitchFamily="18" charset="0"/>
              <a:buNone/>
            </a:pPr>
            <a:r>
              <a:rPr lang="en-AU" altLang="en-US" sz="2400" dirty="0">
                <a:solidFill>
                  <a:srgbClr val="000000"/>
                </a:solidFill>
                <a:cs typeface="Arial" panose="020B0604020202020204" pitchFamily="34" charset="0"/>
              </a:rPr>
              <a:t>Can you conceive of  an ethical defence that could be offered on behalf of the Ford engineers? </a:t>
            </a: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spcBef>
                <a:spcPts val="300"/>
              </a:spcBef>
              <a:buClr>
                <a:srgbClr val="000000"/>
              </a:buClr>
              <a:buSzPct val="100000"/>
              <a:buFont typeface="Times New Roman" panose="02020603050405020304" pitchFamily="18" charset="0"/>
              <a:buNone/>
            </a:pPr>
            <a:r>
              <a:rPr lang="en-AU" altLang="en-US" sz="2400" dirty="0">
                <a:solidFill>
                  <a:srgbClr val="000000"/>
                </a:solidFill>
                <a:cs typeface="Arial" panose="020B0604020202020204" pitchFamily="34" charset="0"/>
              </a:rPr>
              <a:t>What could the Ford engineers have done, when management refused to improve the safety of the Pinto? </a:t>
            </a: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spcBef>
                <a:spcPts val="300"/>
              </a:spcBef>
              <a:buClr>
                <a:srgbClr val="000000"/>
              </a:buClr>
              <a:buSzPct val="100000"/>
              <a:buFont typeface="Times New Roman" panose="02020603050405020304" pitchFamily="18" charset="0"/>
              <a:buNone/>
            </a:pPr>
            <a:r>
              <a:rPr lang="en-AU" altLang="en-US" sz="2400" dirty="0">
                <a:solidFill>
                  <a:srgbClr val="000000"/>
                </a:solidFill>
                <a:cs typeface="Arial" panose="020B0604020202020204" pitchFamily="34" charset="0"/>
              </a:rPr>
              <a:t>What were the moral responsibilities of the engineers? What was their duty of care?</a:t>
            </a:r>
          </a:p>
        </p:txBody>
      </p:sp>
    </p:spTree>
    <p:extLst>
      <p:ext uri="{BB962C8B-B14F-4D97-AF65-F5344CB8AC3E}">
        <p14:creationId xmlns:p14="http://schemas.microsoft.com/office/powerpoint/2010/main" val="308606779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457200" y="116632"/>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Ethics in Practice</a:t>
            </a:r>
          </a:p>
        </p:txBody>
      </p:sp>
      <p:sp>
        <p:nvSpPr>
          <p:cNvPr id="13315" name="Text Box 2"/>
          <p:cNvSpPr txBox="1">
            <a:spLocks noChangeArrowheads="1"/>
          </p:cNvSpPr>
          <p:nvPr/>
        </p:nvSpPr>
        <p:spPr bwMode="auto">
          <a:xfrm>
            <a:off x="1187624" y="1052736"/>
            <a:ext cx="7499176" cy="52565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fontScale="77500" lnSpcReduction="200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anose="02020603050405020304" pitchFamily="18" charset="0"/>
              <a:buNone/>
              <a:defRPr/>
            </a:pPr>
            <a:r>
              <a:rPr lang="en-AU" altLang="en-US" sz="2400" b="1" dirty="0">
                <a:solidFill>
                  <a:schemeClr val="tx1"/>
                </a:solidFill>
                <a:cs typeface="Arial" charset="0"/>
              </a:rPr>
              <a:t>Willy Just</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Professional duties and social justice (code of ethics)</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Prudence (self-interest) and morality</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Imperceptible difference</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Vicarious liability</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Moral tragedy</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Unjust harm</a:t>
            </a:r>
          </a:p>
          <a:p>
            <a:pPr eaLnBrk="1" hangingPunct="1">
              <a:buClr>
                <a:srgbClr val="000000"/>
              </a:buClr>
              <a:buSzPct val="100000"/>
              <a:buFont typeface="Times New Roman" panose="02020603050405020304" pitchFamily="18" charset="0"/>
              <a:buNone/>
              <a:defRPr/>
            </a:pPr>
            <a:endParaRPr lang="en-AU" altLang="en-US" sz="2400" b="1" dirty="0">
              <a:solidFill>
                <a:schemeClr val="tx1"/>
              </a:solidFill>
              <a:cs typeface="Arial" charset="0"/>
            </a:endParaRPr>
          </a:p>
          <a:p>
            <a:pPr eaLnBrk="1" hangingPunct="1">
              <a:buClr>
                <a:srgbClr val="000000"/>
              </a:buClr>
              <a:buSzPct val="100000"/>
              <a:buFont typeface="Times New Roman" panose="02020603050405020304" pitchFamily="18" charset="0"/>
              <a:buNone/>
              <a:defRPr/>
            </a:pPr>
            <a:r>
              <a:rPr lang="en-AU" altLang="en-US" sz="2400" b="1" dirty="0">
                <a:solidFill>
                  <a:schemeClr val="tx1"/>
                </a:solidFill>
                <a:cs typeface="Arial" charset="0"/>
              </a:rPr>
              <a:t>Ford Pinto</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Ethical design </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Safe, or safe enough? Unjust harm?</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Conflict between commercial and moral imperatives (code of ethics)</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Professional and personal duties</a:t>
            </a:r>
          </a:p>
          <a:p>
            <a:pPr marL="1085850" lvl="1" indent="-342900" eaLnBrk="1" hangingPunct="1">
              <a:buClr>
                <a:srgbClr val="000000"/>
              </a:buClr>
              <a:buSzPct val="100000"/>
              <a:buFont typeface="Arial" panose="020B0604020202020204" pitchFamily="34" charset="0"/>
              <a:buChar char="•"/>
              <a:defRPr/>
            </a:pPr>
            <a:r>
              <a:rPr lang="en-AU" altLang="en-US" sz="2300" dirty="0">
                <a:solidFill>
                  <a:schemeClr val="tx1"/>
                </a:solidFill>
                <a:cs typeface="Arial" charset="0"/>
              </a:rPr>
              <a:t>Duty of care</a:t>
            </a:r>
          </a:p>
          <a:p>
            <a:pPr eaLnBrk="1" hangingPunct="1">
              <a:buClr>
                <a:srgbClr val="000000"/>
              </a:buClr>
              <a:buSzPct val="100000"/>
              <a:defRPr/>
            </a:pPr>
            <a:endParaRPr lang="en-AU" altLang="en-US" sz="2400" dirty="0">
              <a:solidFill>
                <a:schemeClr val="tx1"/>
              </a:solidFill>
              <a:cs typeface="Arial" charset="0"/>
            </a:endParaRPr>
          </a:p>
          <a:p>
            <a:pPr eaLnBrk="1" hangingPunct="1">
              <a:buClr>
                <a:srgbClr val="000000"/>
              </a:buClr>
              <a:buSzPct val="100000"/>
              <a:defRPr/>
            </a:pPr>
            <a:r>
              <a:rPr lang="en-AU" altLang="en-US" sz="2400" b="1" dirty="0">
                <a:solidFill>
                  <a:schemeClr val="tx1"/>
                </a:solidFill>
                <a:cs typeface="Arial" charset="0"/>
              </a:rPr>
              <a:t>Space Shuttle Challenger</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Design limitations</a:t>
            </a:r>
          </a:p>
          <a:p>
            <a:pPr marL="342900" indent="-342900" eaLnBrk="1" hangingPunct="1">
              <a:buClr>
                <a:srgbClr val="000000"/>
              </a:buClr>
              <a:buSzPct val="100000"/>
              <a:buFont typeface="Arial" panose="020B0604020202020204" pitchFamily="34" charset="0"/>
              <a:buChar char="•"/>
              <a:defRPr/>
            </a:pPr>
            <a:r>
              <a:rPr lang="en-AU" altLang="en-US" sz="2400" dirty="0">
                <a:solidFill>
                  <a:schemeClr val="tx1"/>
                </a:solidFill>
                <a:cs typeface="Arial" charset="0"/>
              </a:rPr>
              <a:t>Whistleblowing (code of ethics)</a:t>
            </a:r>
          </a:p>
          <a:p>
            <a:pPr eaLnBrk="1" hangingPunct="1">
              <a:buClr>
                <a:srgbClr val="000000"/>
              </a:buClr>
              <a:buSzPct val="100000"/>
              <a:buFont typeface="Times New Roman" panose="02020603050405020304" pitchFamily="18" charset="0"/>
              <a:buNone/>
              <a:defRPr/>
            </a:pPr>
            <a:endParaRPr lang="en-AU" altLang="en-US" sz="1500" b="1" dirty="0">
              <a:cs typeface="Arial" charset="0"/>
            </a:endParaRPr>
          </a:p>
        </p:txBody>
      </p:sp>
    </p:spTree>
    <p:custDataLst>
      <p:tags r:id="rId1"/>
    </p:custDataLst>
    <p:extLst>
      <p:ext uri="{BB962C8B-B14F-4D97-AF65-F5344CB8AC3E}">
        <p14:creationId xmlns:p14="http://schemas.microsoft.com/office/powerpoint/2010/main" val="4199934349"/>
      </p:ext>
    </p:extLst>
  </p:cSld>
  <p:clrMapOvr>
    <a:masterClrMapping/>
  </p:clrMapOvr>
  <p:transition spd="med" advTm="204931"/>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
          <p:cNvSpPr txBox="1">
            <a:spLocks noChangeArrowheads="1"/>
          </p:cNvSpPr>
          <p:nvPr/>
        </p:nvSpPr>
        <p:spPr bwMode="auto">
          <a:xfrm>
            <a:off x="457200" y="476672"/>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Ethics in Practice</a:t>
            </a:r>
          </a:p>
        </p:txBody>
      </p:sp>
      <p:sp>
        <p:nvSpPr>
          <p:cNvPr id="43011" name="Text Box 2"/>
          <p:cNvSpPr txBox="1">
            <a:spLocks noChangeArrowheads="1"/>
          </p:cNvSpPr>
          <p:nvPr/>
        </p:nvSpPr>
        <p:spPr bwMode="auto">
          <a:xfrm>
            <a:off x="457200" y="1700808"/>
            <a:ext cx="8686800" cy="45365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1pPr>
            <a:lvl2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2pPr>
            <a:lvl3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3pPr>
            <a:lvl4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4pPr>
            <a:lvl5pPr>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547688" algn="l"/>
                <a:tab pos="1462088" algn="l"/>
                <a:tab pos="2376488" algn="l"/>
                <a:tab pos="3290888" algn="l"/>
                <a:tab pos="4205288" algn="l"/>
                <a:tab pos="5119688" algn="l"/>
                <a:tab pos="6034088" algn="l"/>
                <a:tab pos="6948488" algn="l"/>
                <a:tab pos="7862888" algn="l"/>
                <a:tab pos="8777288" algn="l"/>
                <a:tab pos="9691688" algn="l"/>
              </a:tabLst>
              <a:defRPr>
                <a:solidFill>
                  <a:schemeClr val="bg1"/>
                </a:solidFill>
                <a:latin typeface="Georgia" panose="02040502050405020303" pitchFamily="18" charset="0"/>
                <a:ea typeface="Microsoft YaHei" panose="020B0503020204020204" pitchFamily="34" charset="-122"/>
              </a:defRPr>
            </a:lvl9pPr>
          </a:lstStyle>
          <a:p>
            <a:pPr eaLnBrk="1" hangingPunct="1">
              <a:spcBef>
                <a:spcPts val="300"/>
              </a:spcBef>
              <a:buClr>
                <a:srgbClr val="000000"/>
              </a:buClr>
              <a:buSzPct val="100000"/>
              <a:buFont typeface="Times New Roman" panose="02020603050405020304" pitchFamily="18" charset="0"/>
              <a:buNone/>
            </a:pPr>
            <a:r>
              <a:rPr lang="en-AU" altLang="en-US" sz="2400" dirty="0">
                <a:solidFill>
                  <a:srgbClr val="000000"/>
                </a:solidFill>
                <a:cs typeface="Arial" panose="020B0604020202020204" pitchFamily="34" charset="0"/>
              </a:rPr>
              <a:t>Questions for all of us.</a:t>
            </a: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spcBef>
                <a:spcPts val="300"/>
              </a:spcBef>
              <a:buClr>
                <a:srgbClr val="000000"/>
              </a:buClr>
              <a:buSzPct val="100000"/>
              <a:buFont typeface="Times New Roman" panose="02020603050405020304" pitchFamily="18" charset="0"/>
              <a:buNone/>
            </a:pPr>
            <a:r>
              <a:rPr lang="en-AU" altLang="en-US" sz="2400" dirty="0">
                <a:solidFill>
                  <a:srgbClr val="000000"/>
                </a:solidFill>
                <a:cs typeface="Arial" panose="020B0604020202020204" pitchFamily="34" charset="0"/>
              </a:rPr>
              <a:t>When there are safety concerns, what is an engineer’s moral responsibility? </a:t>
            </a:r>
          </a:p>
          <a:p>
            <a:pPr marL="342900" indent="-342900" eaLnBrk="1" hangingPunct="1">
              <a:spcBef>
                <a:spcPts val="300"/>
              </a:spcBef>
              <a:buClr>
                <a:srgbClr val="000000"/>
              </a:buClr>
              <a:buSzPct val="100000"/>
              <a:buFont typeface="Arial" panose="020B0604020202020204" pitchFamily="34" charset="0"/>
              <a:buChar char="•"/>
            </a:pPr>
            <a:r>
              <a:rPr lang="en-AU" altLang="en-US" sz="2400" dirty="0">
                <a:solidFill>
                  <a:srgbClr val="000000"/>
                </a:solidFill>
                <a:cs typeface="Arial" panose="020B0604020202020204" pitchFamily="34" charset="0"/>
              </a:rPr>
              <a:t>How are we to weigh moral and prudential reasons when they are in conflict?</a:t>
            </a:r>
          </a:p>
          <a:p>
            <a:pPr marL="342900" indent="-342900" eaLnBrk="1" hangingPunct="1">
              <a:spcBef>
                <a:spcPts val="300"/>
              </a:spcBef>
              <a:spcAft>
                <a:spcPts val="600"/>
              </a:spcAft>
              <a:buClr>
                <a:srgbClr val="000000"/>
              </a:buClr>
              <a:buSzPct val="100000"/>
              <a:buFont typeface="Arial" panose="020B0604020202020204" pitchFamily="34" charset="0"/>
              <a:buChar char="•"/>
            </a:pPr>
            <a:r>
              <a:rPr lang="en-AU" altLang="en-US" sz="2400" dirty="0">
                <a:solidFill>
                  <a:srgbClr val="000000"/>
                </a:solidFill>
                <a:cs typeface="Arial" panose="020B0604020202020204" pitchFamily="34" charset="0"/>
              </a:rPr>
              <a:t>How are we to resolve conflicts between personal and professional ethics? And, between sectional interests and public interests? </a:t>
            </a:r>
          </a:p>
          <a:p>
            <a:pPr eaLnBrk="1" hangingPunct="1">
              <a:spcBef>
                <a:spcPts val="300"/>
              </a:spcBef>
              <a:buClr>
                <a:srgbClr val="000000"/>
              </a:buClr>
              <a:buSzPct val="100000"/>
            </a:pPr>
            <a:r>
              <a:rPr lang="en-AU" altLang="en-US" sz="2400" dirty="0">
                <a:solidFill>
                  <a:srgbClr val="000000"/>
                </a:solidFill>
                <a:cs typeface="Arial" panose="020B0604020202020204" pitchFamily="34" charset="0"/>
              </a:rPr>
              <a:t>Is ethics endlessly demanding?</a:t>
            </a: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spcBef>
                <a:spcPts val="300"/>
              </a:spcBef>
              <a:buClr>
                <a:srgbClr val="000000"/>
              </a:buClr>
              <a:buSzPct val="100000"/>
              <a:buFont typeface="Times New Roman" panose="02020603050405020304" pitchFamily="18" charset="0"/>
              <a:buNone/>
            </a:pPr>
            <a:r>
              <a:rPr lang="en-AU" altLang="en-US" sz="2400" dirty="0">
                <a:solidFill>
                  <a:srgbClr val="000000"/>
                </a:solidFill>
                <a:cs typeface="Arial" panose="020B0604020202020204" pitchFamily="34" charset="0"/>
              </a:rPr>
              <a:t>	</a:t>
            </a: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a:p>
            <a:pPr eaLnBrk="1" hangingPunct="1">
              <a:spcBef>
                <a:spcPts val="300"/>
              </a:spcBef>
              <a:buClr>
                <a:srgbClr val="000000"/>
              </a:buClr>
              <a:buSzPct val="100000"/>
              <a:buFont typeface="Times New Roman" panose="02020603050405020304" pitchFamily="18" charset="0"/>
              <a:buNone/>
            </a:pPr>
            <a:endParaRPr lang="en-AU" altLang="en-US" sz="2400" dirty="0">
              <a:solidFill>
                <a:srgbClr val="000000"/>
              </a:solidFill>
              <a:cs typeface="Arial" panose="020B0604020202020204" pitchFamily="34" charset="0"/>
            </a:endParaRPr>
          </a:p>
        </p:txBody>
      </p:sp>
    </p:spTree>
    <p:extLst>
      <p:ext uri="{BB962C8B-B14F-4D97-AF65-F5344CB8AC3E}">
        <p14:creationId xmlns:p14="http://schemas.microsoft.com/office/powerpoint/2010/main" val="341470394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p:cNvSpPr txBox="1">
            <a:spLocks noChangeArrowheads="1"/>
          </p:cNvSpPr>
          <p:nvPr/>
        </p:nvSpPr>
        <p:spPr bwMode="auto">
          <a:xfrm>
            <a:off x="323528" y="0"/>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rgbClr val="424456"/>
                </a:solidFill>
                <a:latin typeface="Trebuchet MS" panose="020B0603020202020204" pitchFamily="34" charset="0"/>
                <a:cs typeface="Arial" panose="020B0604020202020204" pitchFamily="34" charset="0"/>
              </a:rPr>
              <a:t>Ethics in Practice</a:t>
            </a:r>
          </a:p>
        </p:txBody>
      </p:sp>
      <p:sp>
        <p:nvSpPr>
          <p:cNvPr id="13315" name="Text Box 2"/>
          <p:cNvSpPr txBox="1">
            <a:spLocks noChangeArrowheads="1"/>
          </p:cNvSpPr>
          <p:nvPr/>
        </p:nvSpPr>
        <p:spPr bwMode="auto">
          <a:xfrm>
            <a:off x="451551" y="1049822"/>
            <a:ext cx="8440929" cy="5475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itchFamily="16" charset="0"/>
              <a:buNone/>
              <a:defRPr/>
            </a:pPr>
            <a:r>
              <a:rPr lang="en-AU" altLang="en-US" sz="2400" b="1" dirty="0">
                <a:cs typeface="Arial" charset="0"/>
              </a:rPr>
              <a:t>Whistleblowing</a:t>
            </a:r>
          </a:p>
          <a:p>
            <a:pPr marL="342900" indent="-342900" eaLnBrk="1" hangingPunct="1">
              <a:spcAft>
                <a:spcPts val="600"/>
              </a:spcAft>
              <a:buClr>
                <a:srgbClr val="000000"/>
              </a:buClr>
              <a:buSzPct val="100000"/>
              <a:buFont typeface="Arial" panose="020B0604020202020204" pitchFamily="34" charset="0"/>
              <a:buChar char="•"/>
              <a:defRPr/>
            </a:pPr>
            <a:r>
              <a:rPr lang="en-AU" altLang="en-US" sz="2000" dirty="0">
                <a:cs typeface="Arial" charset="0"/>
              </a:rPr>
              <a:t>Someone who reveals wrongdoing within an organisation to the public or to those in positions of authority</a:t>
            </a:r>
          </a:p>
          <a:p>
            <a:pPr marL="342900" indent="-342900" eaLnBrk="1" hangingPunct="1">
              <a:spcAft>
                <a:spcPts val="600"/>
              </a:spcAft>
              <a:buClr>
                <a:srgbClr val="000000"/>
              </a:buClr>
              <a:buSzPct val="100000"/>
              <a:buFont typeface="Arial" panose="020B0604020202020204" pitchFamily="34" charset="0"/>
              <a:buChar char="•"/>
              <a:defRPr/>
            </a:pPr>
            <a:r>
              <a:rPr lang="en-AU" altLang="en-US" sz="2000" dirty="0">
                <a:cs typeface="Arial" charset="0"/>
              </a:rPr>
              <a:t>Should managers expect their engineers to be </a:t>
            </a:r>
            <a:r>
              <a:rPr lang="en-AU" altLang="en-US" sz="2000" i="1" dirty="0">
                <a:cs typeface="Arial" charset="0"/>
              </a:rPr>
              <a:t>loyal</a:t>
            </a:r>
            <a:r>
              <a:rPr lang="en-AU" altLang="en-US" sz="2000" dirty="0">
                <a:cs typeface="Arial" charset="0"/>
              </a:rPr>
              <a:t>? </a:t>
            </a:r>
          </a:p>
          <a:p>
            <a:pPr marL="1085850" lvl="1" indent="-342900" eaLnBrk="1" hangingPunct="1">
              <a:spcAft>
                <a:spcPts val="600"/>
              </a:spcAft>
              <a:buClr>
                <a:srgbClr val="000000"/>
              </a:buClr>
              <a:buSzPct val="100000"/>
              <a:buFont typeface="Arial" panose="020B0604020202020204" pitchFamily="34" charset="0"/>
              <a:buChar char="•"/>
              <a:defRPr/>
            </a:pPr>
            <a:r>
              <a:rPr lang="en-AU" altLang="en-US" sz="2000" dirty="0">
                <a:solidFill>
                  <a:schemeClr val="tx1"/>
                </a:solidFill>
                <a:cs typeface="Arial" charset="0"/>
              </a:rPr>
              <a:t>No: Not right kind of relationship for loyalty to exist. </a:t>
            </a:r>
          </a:p>
          <a:p>
            <a:pPr eaLnBrk="1" hangingPunct="1">
              <a:spcAft>
                <a:spcPts val="600"/>
              </a:spcAft>
              <a:buClr>
                <a:srgbClr val="000000"/>
              </a:buClr>
              <a:buSzPct val="100000"/>
              <a:buFont typeface="Times New Roman" panose="02020603050405020304" pitchFamily="18" charset="0"/>
              <a:buNone/>
              <a:defRPr/>
            </a:pPr>
            <a:r>
              <a:rPr lang="en-AU" altLang="en-US" sz="2400" b="1" dirty="0">
                <a:cs typeface="Arial" charset="0"/>
              </a:rPr>
              <a:t>Consult Australia</a:t>
            </a:r>
          </a:p>
          <a:p>
            <a:pPr marL="342900" indent="-342900" eaLnBrk="1" hangingPunct="1">
              <a:spcAft>
                <a:spcPts val="600"/>
              </a:spcAft>
              <a:buClr>
                <a:srgbClr val="000000"/>
              </a:buClr>
              <a:buSzPct val="100000"/>
              <a:buFont typeface="+mj-lt"/>
              <a:buAutoNum type="arabicPeriod"/>
              <a:defRPr/>
            </a:pPr>
            <a:r>
              <a:rPr lang="en-AU" altLang="en-US" sz="2000" dirty="0">
                <a:cs typeface="Arial" charset="0"/>
              </a:rPr>
              <a:t>Members shall at all times place their responsibility for the welfare, health and safety of the community before their responsibility to sectional or private interests, or to other members</a:t>
            </a:r>
          </a:p>
          <a:p>
            <a:pPr marL="342900" indent="-342900" eaLnBrk="1" hangingPunct="1">
              <a:spcAft>
                <a:spcPts val="600"/>
              </a:spcAft>
              <a:buClr>
                <a:srgbClr val="000000"/>
              </a:buClr>
              <a:buSzPct val="100000"/>
              <a:buFont typeface="+mj-lt"/>
              <a:buAutoNum type="arabicPeriod" startAt="9"/>
              <a:defRPr/>
            </a:pPr>
            <a:r>
              <a:rPr lang="en-AU" altLang="en-US" sz="2000" dirty="0">
                <a:cs typeface="Arial" charset="0"/>
              </a:rPr>
              <a:t>Members shall not assist, induce or be involved in a breach of these Tenets and shall support those who seek to uphold them</a:t>
            </a:r>
          </a:p>
          <a:p>
            <a:pPr eaLnBrk="1" hangingPunct="1">
              <a:buClr>
                <a:srgbClr val="000000"/>
              </a:buClr>
              <a:buSzPct val="100000"/>
              <a:defRPr/>
            </a:pPr>
            <a:r>
              <a:rPr lang="en-AU" altLang="en-US" sz="2400" b="1" dirty="0">
                <a:cs typeface="Arial" charset="0"/>
              </a:rPr>
              <a:t>Engineers Australia</a:t>
            </a:r>
          </a:p>
          <a:p>
            <a:pPr eaLnBrk="1" hangingPunct="1">
              <a:buClr>
                <a:srgbClr val="000000"/>
              </a:buClr>
              <a:buSzPct val="100000"/>
              <a:defRPr/>
            </a:pPr>
            <a:r>
              <a:rPr lang="en-AU" sz="2000" dirty="0">
                <a:cs typeface="Arial" charset="0"/>
              </a:rPr>
              <a:t>4.2 Practise engineering to foster the health, safety and wellbeing of the community and the environment</a:t>
            </a:r>
            <a:endParaRPr lang="en-AU" altLang="en-US" sz="2000" dirty="0">
              <a:cs typeface="Arial" charset="0"/>
            </a:endParaRPr>
          </a:p>
          <a:p>
            <a:pPr marL="342900" indent="-342900" eaLnBrk="1" hangingPunct="1">
              <a:buClr>
                <a:srgbClr val="000000"/>
              </a:buClr>
              <a:buSzPct val="100000"/>
              <a:buFont typeface="Arial" panose="020B0604020202020204" pitchFamily="34" charset="0"/>
              <a:buChar char="•"/>
              <a:defRPr/>
            </a:pPr>
            <a:endParaRPr lang="en-AU" altLang="en-US" sz="2400" dirty="0">
              <a:cs typeface="Arial"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4288" y="0"/>
            <a:ext cx="1979712" cy="1463925"/>
          </a:xfrm>
          <a:prstGeom prst="rect">
            <a:avLst/>
          </a:prstGeom>
          <a:ln>
            <a:noFill/>
          </a:ln>
          <a:effectLst>
            <a:softEdge rad="112500"/>
          </a:effectLst>
        </p:spPr>
      </p:pic>
    </p:spTree>
    <p:custDataLst>
      <p:tags r:id="rId1"/>
    </p:custDataLst>
  </p:cSld>
  <p:clrMapOvr>
    <a:masterClrMapping/>
  </p:clrMapOvr>
  <p:transition spd="med" advTm="201464"/>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512C99-82A3-2BF1-D7DD-9B827D4F0EE8}"/>
              </a:ext>
            </a:extLst>
          </p:cNvPr>
          <p:cNvSpPr txBox="1"/>
          <p:nvPr/>
        </p:nvSpPr>
        <p:spPr>
          <a:xfrm>
            <a:off x="628650" y="365125"/>
            <a:ext cx="7886700" cy="1078525"/>
          </a:xfrm>
          <a:prstGeom prst="rect">
            <a:avLst/>
          </a:prstGeom>
        </p:spPr>
        <p:txBody>
          <a:bodyPr vert="horz" lIns="91440" tIns="45720" rIns="91440" bIns="45720" rtlCol="0" anchor="ctr">
            <a:normAutofit/>
          </a:bodyPr>
          <a:lstStyle/>
          <a:p>
            <a:pPr marL="0" marR="0" lvl="0" indent="0" algn="ctr" defTabSz="449263" rtl="0" eaLnBrk="1" fontAlgn="base" latinLnBrk="0" hangingPunct="1">
              <a:lnSpc>
                <a:spcPct val="100000"/>
              </a:lnSpc>
              <a:spcBef>
                <a:spcPct val="0"/>
              </a:spcBef>
              <a:spcAft>
                <a:spcPct val="0"/>
              </a:spcAft>
              <a:buClrTx/>
              <a:buSzPct val="100000"/>
              <a:buFontTx/>
              <a:buNone/>
              <a:tabLst/>
              <a:defRPr/>
            </a:pPr>
            <a:r>
              <a:rPr kumimoji="0" lang="en-AU" altLang="en-US" sz="3600" b="0" i="0" u="none" strike="noStrike" kern="1200" cap="none" spc="0" normalizeH="0" baseline="0" noProof="0" dirty="0">
                <a:ln>
                  <a:noFill/>
                </a:ln>
                <a:solidFill>
                  <a:prstClr val="black"/>
                </a:solidFill>
                <a:effectLst/>
                <a:uLnTx/>
                <a:uFillTx/>
                <a:latin typeface="Trebuchet MS" panose="020B0603020202020204" pitchFamily="34" charset="0"/>
                <a:ea typeface="Microsoft YaHei" panose="020B0503020204020204" pitchFamily="34" charset="-122"/>
                <a:cs typeface="Arial" panose="020B0604020202020204" pitchFamily="34" charset="0"/>
              </a:rPr>
              <a:t>Responsibility</a:t>
            </a:r>
          </a:p>
        </p:txBody>
      </p:sp>
      <p:sp>
        <p:nvSpPr>
          <p:cNvPr id="13315" name="Text Box 2"/>
          <p:cNvSpPr txBox="1">
            <a:spLocks noChangeArrowheads="1"/>
          </p:cNvSpPr>
          <p:nvPr/>
        </p:nvSpPr>
        <p:spPr bwMode="auto">
          <a:xfrm>
            <a:off x="702002" y="1808775"/>
            <a:ext cx="7886700" cy="459272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1440" tIns="45720" rIns="91440" bIns="45720" rtlCol="0">
            <a:norm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defRPr/>
            </a:pPr>
            <a:r>
              <a:rPr kumimoji="0" lang="en-US" altLang="en-US" sz="2200" b="0" i="0" u="none" strike="noStrike" kern="1200" cap="none" spc="0" normalizeH="0" baseline="0" noProof="0" dirty="0">
                <a:ln>
                  <a:noFill/>
                </a:ln>
                <a:solidFill>
                  <a:prstClr val="black"/>
                </a:solidFill>
                <a:effectLst/>
                <a:uLnTx/>
                <a:uFillTx/>
                <a:latin typeface="Georgia" panose="02040502050405020303" pitchFamily="18" charset="0"/>
                <a:ea typeface="Microsoft YaHei" panose="020B0503020204020204" pitchFamily="34" charset="-122"/>
                <a:cs typeface="Arial" panose="020B0604020202020204" pitchFamily="34" charset="0"/>
              </a:rPr>
              <a:t>Positive responsibility acknowledges there is a moral dimension to engineering and indicates a more professional approach.</a:t>
            </a: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defRPr/>
            </a:pPr>
            <a:endParaRPr kumimoji="0" lang="en-US" altLang="en-US" sz="2200" b="0" i="0" u="none" strike="noStrike" kern="1200" cap="none" spc="0" normalizeH="0" baseline="0" noProof="0" dirty="0">
              <a:ln>
                <a:noFill/>
              </a:ln>
              <a:solidFill>
                <a:prstClr val="black"/>
              </a:solidFill>
              <a:effectLst/>
              <a:uLnTx/>
              <a:uFillTx/>
              <a:latin typeface="Georgia" panose="02040502050405020303" pitchFamily="18" charset="0"/>
              <a:ea typeface="Microsoft YaHei" panose="020B0503020204020204" pitchFamily="34" charset="-122"/>
              <a:cs typeface="Arial" panose="020B0604020202020204" pitchFamily="34" charset="0"/>
            </a:endParaRPr>
          </a:p>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defRPr/>
            </a:pPr>
            <a:r>
              <a:rPr kumimoji="0" lang="en-US" altLang="en-US" sz="2200" b="0" i="0" u="none" strike="noStrike" kern="1200" cap="none" spc="0" normalizeH="0" baseline="0" noProof="0" dirty="0">
                <a:ln>
                  <a:noFill/>
                </a:ln>
                <a:solidFill>
                  <a:prstClr val="black"/>
                </a:solidFill>
                <a:effectLst/>
                <a:uLnTx/>
                <a:uFillTx/>
                <a:latin typeface="Georgia" panose="02040502050405020303" pitchFamily="18" charset="0"/>
                <a:ea typeface="Microsoft YaHei" panose="020B0503020204020204" pitchFamily="34" charset="-122"/>
                <a:cs typeface="Arial" panose="020B0604020202020204" pitchFamily="34" charset="0"/>
              </a:rPr>
              <a:t>This requires acknowledging our (positive) responsibility where we consider how our actions impact others. This requires us to fulfill 4 conditions: </a:t>
            </a:r>
          </a:p>
          <a:p>
            <a:pPr marL="0" marR="0" lvl="0" indent="0" algn="l" defTabSz="914400" rtl="0" eaLnBrk="1" fontAlgn="base" latinLnBrk="0" hangingPunct="1">
              <a:lnSpc>
                <a:spcPct val="9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US" altLang="en-US" sz="2200" b="0" i="0" u="none" strike="noStrike" kern="1200" cap="none" spc="0" normalizeH="0" baseline="0" noProof="0" dirty="0">
              <a:ln>
                <a:noFill/>
              </a:ln>
              <a:solidFill>
                <a:prstClr val="black"/>
              </a:solidFill>
              <a:effectLst/>
              <a:uLnTx/>
              <a:uFillTx/>
              <a:latin typeface="Georgia" panose="02040502050405020303" pitchFamily="18" charset="0"/>
              <a:ea typeface="Microsoft YaHei" panose="020B0503020204020204" pitchFamily="34" charset="-122"/>
              <a:cs typeface="Arial" panose="020B0604020202020204" pitchFamily="34" charset="0"/>
            </a:endParaRPr>
          </a:p>
          <a:p>
            <a:pPr marL="0" marR="0" lvl="0" indent="0" algn="l" defTabSz="914400" rtl="0" eaLnBrk="1" fontAlgn="base" latinLnBrk="0" hangingPunct="1">
              <a:lnSpc>
                <a:spcPct val="9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altLang="en-US" sz="22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1) </a:t>
            </a: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Do we understand the potential consequences of our actions?</a:t>
            </a:r>
          </a:p>
          <a:p>
            <a:pPr marL="0" marR="0" lvl="0" indent="0" algn="l" defTabSz="914400" rtl="0" eaLnBrk="1" fontAlgn="base" latinLnBrk="0" hangingPunct="1">
              <a:lnSpc>
                <a:spcPct val="9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altLang="en-US" sz="22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2) </a:t>
            </a: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Do we know (can we reasonably predict) what will be the result of our actions (foreseeable, intended and unintended)?</a:t>
            </a:r>
          </a:p>
          <a:p>
            <a:pPr marL="0" marR="0" lvl="0" indent="0" algn="l" defTabSz="914400" rtl="0" eaLnBrk="1" fontAlgn="base" latinLnBrk="0" hangingPunct="1">
              <a:lnSpc>
                <a:spcPct val="9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altLang="en-US" sz="22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3) </a:t>
            </a: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Are we acting voluntarily?</a:t>
            </a:r>
          </a:p>
          <a:p>
            <a:pPr marL="0" marR="0" lvl="0" indent="0" algn="l" defTabSz="914400" rtl="0" eaLnBrk="1" fontAlgn="base" latinLnBrk="0" hangingPunct="1">
              <a:lnSpc>
                <a:spcPct val="90000"/>
              </a:lnSpc>
              <a:spcBef>
                <a:spcPts val="300"/>
              </a:spcBef>
              <a:spcAft>
                <a:spcPct val="0"/>
              </a:spcAft>
              <a:buClr>
                <a:srgbClr val="000000"/>
              </a:buClr>
              <a:buSzPct val="100000"/>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US" altLang="en-US" sz="2200" b="1"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4) </a:t>
            </a: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rPr>
              <a:t>Will our actions influence outcomes?</a:t>
            </a:r>
          </a:p>
          <a:p>
            <a:pPr marL="0" marR="0" lvl="0" indent="-228600" algn="l" defTabSz="914400" rtl="0" eaLnBrk="1" fontAlgn="base" latinLnBrk="0" hangingPunct="1">
              <a:lnSpc>
                <a:spcPct val="90000"/>
              </a:lnSpc>
              <a:spcBef>
                <a:spcPts val="300"/>
              </a:spcBef>
              <a:spcAft>
                <a:spcPct val="0"/>
              </a:spcAft>
              <a:buClr>
                <a:srgbClr val="000000"/>
              </a:buClr>
              <a:buSzPct val="100000"/>
              <a:buFont typeface="Arial" panose="020B0604020202020204" pitchFamily="34" charset="0"/>
              <a:buChar char="•"/>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US" altLang="en-US" sz="1900" b="0" i="0" u="none" strike="noStrike" kern="1200" cap="none" spc="0" normalizeH="0" baseline="0" noProof="0" dirty="0">
              <a:ln>
                <a:noFill/>
              </a:ln>
              <a:solidFill>
                <a:prstClr val="black"/>
              </a:solidFill>
              <a:effectLst/>
              <a:uLnTx/>
              <a:uFillTx/>
              <a:latin typeface="Calibri" panose="020F0502020204030204"/>
              <a:ea typeface="Microsoft YaHei" charset="-122"/>
              <a:cs typeface="+mn-cs"/>
            </a:endParaRPr>
          </a:p>
        </p:txBody>
      </p:sp>
    </p:spTree>
    <p:extLst>
      <p:ext uri="{BB962C8B-B14F-4D97-AF65-F5344CB8AC3E}">
        <p14:creationId xmlns:p14="http://schemas.microsoft.com/office/powerpoint/2010/main" val="285036617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23"/>
          <p:cNvPicPr preferRelativeResize="0"/>
          <p:nvPr/>
        </p:nvPicPr>
        <p:blipFill rotWithShape="1">
          <a:blip r:embed="rId3">
            <a:alphaModFix/>
          </a:blip>
          <a:srcRect/>
          <a:stretch/>
        </p:blipFill>
        <p:spPr>
          <a:xfrm>
            <a:off x="6300192" y="260648"/>
            <a:ext cx="2690566" cy="2143999"/>
          </a:xfrm>
          <a:prstGeom prst="rect">
            <a:avLst/>
          </a:prstGeom>
          <a:ln>
            <a:noFill/>
          </a:ln>
          <a:effectLst>
            <a:softEdge rad="112500"/>
          </a:effectLst>
        </p:spPr>
      </p:pic>
      <p:pic>
        <p:nvPicPr>
          <p:cNvPr id="444" name="Google Shape;444;p23"/>
          <p:cNvPicPr preferRelativeResize="0"/>
          <p:nvPr/>
        </p:nvPicPr>
        <p:blipFill rotWithShape="1">
          <a:blip r:embed="rId4">
            <a:alphaModFix/>
          </a:blip>
          <a:srcRect/>
          <a:stretch/>
        </p:blipFill>
        <p:spPr>
          <a:xfrm>
            <a:off x="6300192" y="2352093"/>
            <a:ext cx="2681637" cy="2036433"/>
          </a:xfrm>
          <a:prstGeom prst="rect">
            <a:avLst/>
          </a:prstGeom>
          <a:ln>
            <a:noFill/>
          </a:ln>
          <a:effectLst>
            <a:softEdge rad="112500"/>
          </a:effectLst>
        </p:spPr>
      </p:pic>
      <p:pic>
        <p:nvPicPr>
          <p:cNvPr id="445" name="Google Shape;445;p23"/>
          <p:cNvPicPr preferRelativeResize="0"/>
          <p:nvPr/>
        </p:nvPicPr>
        <p:blipFill rotWithShape="1">
          <a:blip r:embed="rId5">
            <a:alphaModFix/>
          </a:blip>
          <a:srcRect/>
          <a:stretch/>
        </p:blipFill>
        <p:spPr>
          <a:xfrm>
            <a:off x="6309121" y="4420871"/>
            <a:ext cx="2681637" cy="2176481"/>
          </a:xfrm>
          <a:prstGeom prst="rect">
            <a:avLst/>
          </a:prstGeom>
          <a:ln>
            <a:noFill/>
          </a:ln>
          <a:effectLst>
            <a:softEdge rad="112500"/>
          </a:effectLst>
        </p:spPr>
      </p:pic>
      <p:sp>
        <p:nvSpPr>
          <p:cNvPr id="447" name="Google Shape;447;p23"/>
          <p:cNvSpPr txBox="1"/>
          <p:nvPr/>
        </p:nvSpPr>
        <p:spPr>
          <a:xfrm>
            <a:off x="539552" y="620688"/>
            <a:ext cx="5472608" cy="5201394"/>
          </a:xfrm>
          <a:prstGeom prst="rect">
            <a:avLst/>
          </a:prstGeom>
          <a:noFill/>
          <a:ln>
            <a:noFill/>
          </a:ln>
        </p:spPr>
        <p:txBody>
          <a:bodyPr spcFirstLastPara="1" wrap="square" lIns="68569" tIns="34275" rIns="68569" bIns="34275" anchor="t" anchorCtr="0">
            <a:spAutoFit/>
          </a:bodyPr>
          <a:lstStyle/>
          <a:p>
            <a:pPr marL="0" marR="0" lvl="0" indent="0" algn="l" defTabSz="449263" rtl="0" eaLnBrk="0" fontAlgn="base" latinLnBrk="0" hangingPunct="0">
              <a:lnSpc>
                <a:spcPct val="100000"/>
              </a:lnSpc>
              <a:spcBef>
                <a:spcPts val="0"/>
              </a:spcBef>
              <a:spcAft>
                <a:spcPts val="0"/>
              </a:spcAft>
              <a:buClr>
                <a:srgbClr val="000000"/>
              </a:buClr>
              <a:buSzPts val="3200"/>
              <a:buFontTx/>
              <a:buNone/>
              <a:tabLst/>
              <a:defRPr/>
            </a:pPr>
            <a:r>
              <a:rPr kumimoji="0" lang="en-US" sz="4000" b="0" i="0" u="none" strike="noStrike" kern="1200" cap="none" spc="0" normalizeH="0" baseline="0" noProof="0" dirty="0">
                <a:ln>
                  <a:noFill/>
                </a:ln>
                <a:solidFill>
                  <a:srgbClr val="000000"/>
                </a:solidFill>
                <a:effectLst/>
                <a:uLnTx/>
                <a:uFillTx/>
                <a:latin typeface="Trebuchet MS" panose="020B0603020202020204" pitchFamily="34" charset="0"/>
                <a:ea typeface="Calibri"/>
                <a:cs typeface="Calibri"/>
                <a:sym typeface="Calibri"/>
              </a:rPr>
              <a:t>Ethical Framework</a:t>
            </a:r>
            <a:endParaRPr kumimoji="0" lang="en-US" sz="2400" b="0" i="0" u="none" strike="noStrike" kern="1200" cap="none" spc="0" normalizeH="0" baseline="0" noProof="0" dirty="0">
              <a:ln>
                <a:noFill/>
              </a:ln>
              <a:solidFill>
                <a:srgbClr val="000000"/>
              </a:solidFill>
              <a:effectLst/>
              <a:uLnTx/>
              <a:uFillTx/>
              <a:latin typeface="Calibri"/>
              <a:ea typeface="Arial"/>
              <a:cs typeface="Calibri"/>
              <a:sym typeface="Calibri"/>
            </a:endParaRPr>
          </a:p>
          <a:p>
            <a:pPr marL="0" marR="0" lvl="0" indent="0" algn="l" defTabSz="449263" rtl="0" eaLnBrk="0" fontAlgn="base" latinLnBrk="0" hangingPunct="0">
              <a:lnSpc>
                <a:spcPct val="100000"/>
              </a:lnSpc>
              <a:spcBef>
                <a:spcPts val="0"/>
              </a:spcBef>
              <a:spcAft>
                <a:spcPts val="0"/>
              </a:spcAft>
              <a:buClr>
                <a:srgbClr val="000000"/>
              </a:buClr>
              <a:buSzPts val="3200"/>
              <a:buFontTx/>
              <a:buNone/>
              <a:tabLst/>
              <a:defRPr/>
            </a:pPr>
            <a:endParaRPr kumimoji="0" lang="en-US" sz="2400" b="0" i="0" u="none" strike="noStrike" kern="1200" cap="none" spc="0" normalizeH="0" baseline="0" noProof="0" dirty="0">
              <a:ln>
                <a:noFill/>
              </a:ln>
              <a:solidFill>
                <a:srgbClr val="000000"/>
              </a:solidFill>
              <a:effectLst/>
              <a:uLnTx/>
              <a:uFillTx/>
              <a:latin typeface="Calibri"/>
              <a:ea typeface="Arial"/>
              <a:cs typeface="Calibri"/>
              <a:sym typeface="Calibri"/>
            </a:endParaRPr>
          </a:p>
          <a:p>
            <a:pPr marL="0" marR="0" lvl="0" indent="0" algn="l" defTabSz="449263" rtl="0" eaLnBrk="0" fontAlgn="base" latinLnBrk="0" hangingPunct="0">
              <a:lnSpc>
                <a:spcPct val="100000"/>
              </a:lnSpc>
              <a:spcBef>
                <a:spcPts val="0"/>
              </a:spcBef>
              <a:spcAft>
                <a:spcPts val="0"/>
              </a:spcAft>
              <a:buClr>
                <a:srgbClr val="000000"/>
              </a:buClr>
              <a:buSzPts val="3200"/>
              <a:buFontTx/>
              <a:buNone/>
              <a:tabLst/>
              <a:defRPr/>
            </a:pPr>
            <a:endParaRPr kumimoji="0" lang="en-US" sz="2400" b="0" i="0" u="none" strike="noStrike" kern="1200" cap="none" spc="0" normalizeH="0" baseline="0" noProof="0" dirty="0">
              <a:ln>
                <a:noFill/>
              </a:ln>
              <a:solidFill>
                <a:srgbClr val="000000"/>
              </a:solidFill>
              <a:effectLst/>
              <a:uLnTx/>
              <a:uFillTx/>
              <a:latin typeface="Calibri"/>
              <a:ea typeface="Arial"/>
              <a:cs typeface="Calibri"/>
              <a:sym typeface="Calibri"/>
            </a:endParaRPr>
          </a:p>
          <a:p>
            <a:pPr marL="0" marR="0" lvl="0" indent="0" algn="l" defTabSz="449263" rtl="0" eaLnBrk="0" fontAlgn="base" latinLnBrk="0" hangingPunct="0">
              <a:lnSpc>
                <a:spcPct val="100000"/>
              </a:lnSpc>
              <a:spcBef>
                <a:spcPts val="0"/>
              </a:spcBef>
              <a:spcAft>
                <a:spcPts val="0"/>
              </a:spcAft>
              <a:buClr>
                <a:srgbClr val="000000"/>
              </a:buClr>
              <a:buSzPts val="3200"/>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49263" rtl="0" eaLnBrk="0" fontAlgn="base" latinLnBrk="0" hangingPunct="0">
              <a:lnSpc>
                <a:spcPct val="100000"/>
              </a:lnSpc>
              <a:spcBef>
                <a:spcPts val="0"/>
              </a:spcBef>
              <a:spcAft>
                <a:spcPts val="0"/>
              </a:spcAft>
              <a:buClr>
                <a:srgbClr val="000000"/>
              </a:buClr>
              <a:buSzPts val="2000"/>
              <a:buFontTx/>
              <a:buNone/>
              <a:tabLst/>
              <a:defRPr/>
            </a:pPr>
            <a:endParaRPr kumimoji="0" sz="1500" b="0" i="0" u="none" strike="noStrike" kern="120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449263" rtl="0" eaLnBrk="0" fontAlgn="base" latinLnBrk="0" hangingPunct="0">
              <a:lnSpc>
                <a:spcPct val="100000"/>
              </a:lnSpc>
              <a:spcBef>
                <a:spcPts val="0"/>
              </a:spcBef>
              <a:spcAft>
                <a:spcPts val="0"/>
              </a:spcAft>
              <a:buClr>
                <a:srgbClr val="000000"/>
              </a:buClr>
              <a:buSzPts val="2000"/>
              <a:buFontTx/>
              <a:buNone/>
              <a:tabLst/>
              <a:defRPr/>
            </a:pPr>
            <a:r>
              <a:rPr kumimoji="0" lang="en-US" sz="2200" b="0" i="0" u="none" strike="noStrike" kern="1200" cap="none" spc="0" normalizeH="0" baseline="0" noProof="0" dirty="0">
                <a:ln>
                  <a:noFill/>
                </a:ln>
                <a:solidFill>
                  <a:srgbClr val="000000"/>
                </a:solidFill>
                <a:effectLst/>
                <a:uLnTx/>
                <a:uFillTx/>
                <a:latin typeface="Georgia" panose="02040502050405020303" pitchFamily="18" charset="0"/>
                <a:ea typeface="Calibri"/>
                <a:cs typeface="Calibri"/>
                <a:sym typeface="Calibri"/>
              </a:rPr>
              <a:t>“An ethical framework allows us to pursue excellence. By basing our thoughts, decisions and actions in a clear statement of why we’re here, what we stand for and where we draw a line in the sand, we go far beyond a ‘do no harm’ approach to ethics. Instead, we’re able to imagine the best version of something – in this case, the best kind of technology.” (Beard and Longstaff p. 40)</a:t>
            </a:r>
            <a:endParaRPr kumimoji="0" sz="2200" b="0" i="0" u="none" strike="noStrike" kern="1200" cap="none" spc="0" normalizeH="0" baseline="0" noProof="0" dirty="0">
              <a:ln>
                <a:noFill/>
              </a:ln>
              <a:solidFill>
                <a:srgbClr val="000000"/>
              </a:solidFill>
              <a:effectLst/>
              <a:uLnTx/>
              <a:uFillTx/>
              <a:latin typeface="Georgia" panose="02040502050405020303" pitchFamily="18" charset="0"/>
              <a:ea typeface="Calibri"/>
              <a:cs typeface="Calibri"/>
              <a:sym typeface="Calibri"/>
            </a:endParaRPr>
          </a:p>
        </p:txBody>
      </p:sp>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
          <p:cNvSpPr txBox="1">
            <a:spLocks noGrp="1"/>
          </p:cNvSpPr>
          <p:nvPr>
            <p:ph type="title"/>
          </p:nvPr>
        </p:nvSpPr>
        <p:spPr>
          <a:xfrm>
            <a:off x="0" y="299612"/>
            <a:ext cx="9144000" cy="800484"/>
          </a:xfrm>
          <a:prstGeom prst="rect">
            <a:avLst/>
          </a:prstGeom>
          <a:noFill/>
          <a:ln>
            <a:noFill/>
          </a:ln>
        </p:spPr>
        <p:txBody>
          <a:bodyPr spcFirstLastPara="1" wrap="square" lIns="91425" tIns="45700" rIns="91425" bIns="45700" anchor="ctr" anchorCtr="0">
            <a:noAutofit/>
          </a:bodyPr>
          <a:lstStyle/>
          <a:p>
            <a:pPr marL="152400" marR="370840" lvl="0" indent="0" algn="ctr" rtl="0">
              <a:spcBef>
                <a:spcPts val="0"/>
              </a:spcBef>
              <a:spcAft>
                <a:spcPts val="0"/>
              </a:spcAft>
              <a:buClr>
                <a:srgbClr val="262626"/>
              </a:buClr>
              <a:buSzPts val="3200"/>
              <a:buFont typeface="Georgia"/>
              <a:buNone/>
            </a:pPr>
            <a:r>
              <a:rPr lang="en-US" sz="3600" dirty="0">
                <a:latin typeface="Trebuchet MS" panose="020B0603020202020204" pitchFamily="34" charset="0"/>
              </a:rPr>
              <a:t>Professionalism</a:t>
            </a:r>
            <a:endParaRPr sz="3600" dirty="0">
              <a:latin typeface="Trebuchet MS" panose="020B0603020202020204" pitchFamily="34" charset="0"/>
            </a:endParaRPr>
          </a:p>
        </p:txBody>
      </p:sp>
      <p:pic>
        <p:nvPicPr>
          <p:cNvPr id="297" name="Google Shape;297;p3"/>
          <p:cNvPicPr preferRelativeResize="0"/>
          <p:nvPr/>
        </p:nvPicPr>
        <p:blipFill rotWithShape="1">
          <a:blip r:embed="rId3">
            <a:alphaModFix/>
          </a:blip>
          <a:srcRect/>
          <a:stretch/>
        </p:blipFill>
        <p:spPr>
          <a:xfrm>
            <a:off x="2249742" y="1700808"/>
            <a:ext cx="4644516" cy="4032448"/>
          </a:xfrm>
          <a:prstGeom prst="rect">
            <a:avLst/>
          </a:prstGeom>
          <a:ln>
            <a:noFill/>
          </a:ln>
          <a:effectLst>
            <a:softEdge rad="112500"/>
          </a:effectLst>
        </p:spPr>
      </p:pic>
      <p:sp>
        <p:nvSpPr>
          <p:cNvPr id="298" name="Google Shape;298;p3"/>
          <p:cNvSpPr txBox="1"/>
          <p:nvPr/>
        </p:nvSpPr>
        <p:spPr>
          <a:xfrm>
            <a:off x="3267048" y="6149302"/>
            <a:ext cx="2609903"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base" latinLnBrk="0" hangingPunct="1">
              <a:lnSpc>
                <a:spcPct val="100000"/>
              </a:lnSpc>
              <a:spcBef>
                <a:spcPts val="0"/>
              </a:spcBef>
              <a:spcAft>
                <a:spcPts val="0"/>
              </a:spcAft>
              <a:buClr>
                <a:srgbClr val="000000"/>
              </a:buClr>
              <a:buSzPts val="1800"/>
              <a:buFont typeface="Arial"/>
              <a:buNone/>
              <a:tabLst/>
              <a:defRPr/>
            </a:pPr>
            <a:r>
              <a:rPr kumimoji="0" lang="en-AU" sz="1800" b="0" i="0" u="none" strike="noStrike" kern="1200" cap="none" spc="0" normalizeH="0" baseline="0" noProof="0" dirty="0">
                <a:ln>
                  <a:noFill/>
                </a:ln>
                <a:solidFill>
                  <a:srgbClr val="000000"/>
                </a:solidFill>
                <a:effectLst/>
                <a:uLnTx/>
                <a:uFillTx/>
                <a:latin typeface="Calibri"/>
                <a:ea typeface="Calibri"/>
                <a:cs typeface="Calibri"/>
                <a:sym typeface="Calibri"/>
              </a:rPr>
              <a:t>Beard &amp; Longstaff, 2018</a:t>
            </a:r>
            <a:endParaRPr kumimoji="0" sz="1400" b="0" i="0" u="none" strike="noStrike" kern="1200" cap="none" spc="0" normalizeH="0" baseline="0" noProof="0" dirty="0">
              <a:ln>
                <a:noFill/>
              </a:ln>
              <a:solidFill>
                <a:prstClr val="black"/>
              </a:solidFill>
              <a:effectLst/>
              <a:uLnTx/>
              <a:uFillTx/>
              <a:latin typeface="Arial" charset="0"/>
              <a:ea typeface="ＭＳ Ｐゴシック" charset="0"/>
              <a:cs typeface="Arial" charset="0"/>
            </a:endParaRPr>
          </a:p>
        </p:txBody>
      </p:sp>
    </p:spTree>
    <p:extLst>
      <p:ext uri="{BB962C8B-B14F-4D97-AF65-F5344CB8AC3E}">
        <p14:creationId xmlns:p14="http://schemas.microsoft.com/office/powerpoint/2010/main" val="1687450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4"/>
          <p:cNvSpPr txBox="1">
            <a:spLocks noGrp="1"/>
          </p:cNvSpPr>
          <p:nvPr>
            <p:ph type="title"/>
          </p:nvPr>
        </p:nvSpPr>
        <p:spPr>
          <a:xfrm>
            <a:off x="332472" y="404664"/>
            <a:ext cx="7534583" cy="822692"/>
          </a:xfrm>
          <a:prstGeom prst="rect">
            <a:avLst/>
          </a:prstGeom>
          <a:noFill/>
          <a:ln>
            <a:noFill/>
          </a:ln>
        </p:spPr>
        <p:txBody>
          <a:bodyPr spcFirstLastPara="1" vert="horz" wrap="square" lIns="68569" tIns="34275" rIns="68569" bIns="34275" rtlCol="0" anchor="ctr" anchorCtr="0">
            <a:normAutofit fontScale="90000"/>
          </a:bodyPr>
          <a:lstStyle/>
          <a:p>
            <a:pPr marL="0" marR="0" lvl="0" indent="0" algn="l" defTabSz="449263" rtl="0" eaLnBrk="0" fontAlgn="base" latinLnBrk="0" hangingPunct="0">
              <a:lnSpc>
                <a:spcPct val="100000"/>
              </a:lnSpc>
              <a:spcBef>
                <a:spcPts val="0"/>
              </a:spcBef>
              <a:spcAft>
                <a:spcPts val="0"/>
              </a:spcAft>
              <a:buClr>
                <a:srgbClr val="000000"/>
              </a:buClr>
              <a:buSzPts val="3200"/>
              <a:buFontTx/>
              <a:buNone/>
              <a:tabLst/>
              <a:defRPr/>
            </a:pPr>
            <a:br>
              <a:rPr lang="en-US" sz="2000" dirty="0">
                <a:latin typeface="Calibri"/>
                <a:ea typeface="Arial"/>
                <a:cs typeface="Calibri"/>
                <a:sym typeface="Calibri"/>
              </a:rPr>
            </a:br>
            <a:r>
              <a:rPr kumimoji="0" lang="en-US" sz="4000" b="0" i="0" u="none" strike="noStrike" kern="1200" cap="none" spc="0" normalizeH="0" baseline="0" noProof="0" dirty="0">
                <a:ln>
                  <a:noFill/>
                </a:ln>
                <a:solidFill>
                  <a:prstClr val="black"/>
                </a:solidFill>
                <a:effectLst/>
                <a:uLnTx/>
                <a:uFillTx/>
                <a:latin typeface="Trebuchet MS" panose="020B0603020202020204" pitchFamily="34" charset="0"/>
                <a:ea typeface="Calibri"/>
                <a:cs typeface="Calibri"/>
                <a:sym typeface="Calibri"/>
              </a:rPr>
              <a:t>Ethical by Design</a:t>
            </a:r>
            <a:br>
              <a:rPr kumimoji="0" lang="en-US" sz="4000" b="0" i="0" u="none" strike="noStrike" kern="1200" cap="none" spc="0" normalizeH="0" baseline="0" noProof="0" dirty="0">
                <a:ln>
                  <a:noFill/>
                </a:ln>
                <a:solidFill>
                  <a:prstClr val="black"/>
                </a:solidFill>
                <a:effectLst/>
                <a:uLnTx/>
                <a:uFillTx/>
                <a:latin typeface="Trebuchet MS" panose="020B0603020202020204" pitchFamily="34" charset="0"/>
                <a:ea typeface="Calibri"/>
                <a:cs typeface="Calibri"/>
                <a:sym typeface="Calibri"/>
              </a:rPr>
            </a:br>
            <a:endParaRPr dirty="0"/>
          </a:p>
        </p:txBody>
      </p:sp>
      <p:sp>
        <p:nvSpPr>
          <p:cNvPr id="296" name="Google Shape;296;p14"/>
          <p:cNvSpPr/>
          <p:nvPr/>
        </p:nvSpPr>
        <p:spPr>
          <a:xfrm>
            <a:off x="332472" y="1662558"/>
            <a:ext cx="4094749" cy="4011324"/>
          </a:xfrm>
          <a:prstGeom prst="rect">
            <a:avLst/>
          </a:prstGeom>
          <a:noFill/>
          <a:ln>
            <a:noFill/>
          </a:ln>
        </p:spPr>
        <p:txBody>
          <a:bodyPr spcFirstLastPara="1" wrap="square" lIns="68569" tIns="34275" rIns="68569" bIns="34275" anchor="t" anchorCtr="0">
            <a:spAutoFit/>
          </a:bodyPr>
          <a:lstStyle/>
          <a:p>
            <a:pPr marL="0" marR="0" lvl="1" indent="0" algn="l" defTabSz="449263" rtl="0" eaLnBrk="0" fontAlgn="base" latinLnBrk="0" hangingPunct="0">
              <a:lnSpc>
                <a:spcPct val="100000"/>
              </a:lnSpc>
              <a:spcBef>
                <a:spcPts val="0"/>
              </a:spcBef>
              <a:spcAft>
                <a:spcPts val="0"/>
              </a:spcAft>
              <a:buClr>
                <a:srgbClr val="000000"/>
              </a:buClr>
              <a:buSzPts val="2800"/>
              <a:buFontTx/>
              <a:buNone/>
              <a:tabLst/>
              <a:defRPr/>
            </a:pPr>
            <a:r>
              <a:rPr kumimoji="0" lang="en-US" sz="2100" b="0" i="0" u="none" strike="noStrike" kern="1200" cap="none" spc="0" normalizeH="0" baseline="0" noProof="0" dirty="0">
                <a:ln>
                  <a:noFill/>
                </a:ln>
                <a:solidFill>
                  <a:srgbClr val="000000"/>
                </a:solidFill>
                <a:effectLst/>
                <a:uLnTx/>
                <a:uFillTx/>
                <a:latin typeface="Calibri"/>
                <a:ea typeface="Calibri"/>
                <a:cs typeface="Calibri"/>
                <a:sym typeface="Calibri"/>
              </a:rPr>
              <a:t>“FIRST, the fact someone has to make a technological artefact means they bear initial ethical responsibility for those artefacts – what they do and how they do it.</a:t>
            </a: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1" indent="0" algn="l" defTabSz="449263" rtl="0" eaLnBrk="0" fontAlgn="base" latinLnBrk="0" hangingPunct="0">
              <a:lnSpc>
                <a:spcPct val="100000"/>
              </a:lnSpc>
              <a:spcBef>
                <a:spcPts val="450"/>
              </a:spcBef>
              <a:spcAft>
                <a:spcPts val="0"/>
              </a:spcAft>
              <a:buClr>
                <a:srgbClr val="000000"/>
              </a:buClr>
              <a:buSzPts val="2800"/>
              <a:buFontTx/>
              <a:buNone/>
              <a:tabLst/>
              <a:defRPr/>
            </a:pPr>
            <a:r>
              <a:rPr kumimoji="0" lang="en-US" sz="2100" b="0" i="0" u="none" strike="noStrike" kern="1200" cap="none" spc="0" normalizeH="0" baseline="0" noProof="0" dirty="0">
                <a:ln>
                  <a:noFill/>
                </a:ln>
                <a:solidFill>
                  <a:srgbClr val="000000"/>
                </a:solidFill>
                <a:effectLst/>
                <a:uLnTx/>
                <a:uFillTx/>
                <a:latin typeface="Calibri"/>
                <a:ea typeface="Calibri"/>
                <a:cs typeface="Calibri"/>
                <a:sym typeface="Calibri"/>
              </a:rPr>
              <a:t>SECOND, we use artefacts to engage with the world. Understanding this means part of the ethics of technological artefacts concerns how they engage with the world and what effects they have.” (Beard and Longstaff p. 25)</a:t>
            </a: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297" name="Google Shape;297;p14"/>
          <p:cNvPicPr preferRelativeResize="0"/>
          <p:nvPr/>
        </p:nvPicPr>
        <p:blipFill rotWithShape="1">
          <a:blip r:embed="rId3">
            <a:alphaModFix/>
          </a:blip>
          <a:srcRect/>
          <a:stretch/>
        </p:blipFill>
        <p:spPr>
          <a:xfrm>
            <a:off x="4572001" y="1738366"/>
            <a:ext cx="4403406" cy="3418826"/>
          </a:xfrm>
          <a:prstGeom prst="rect">
            <a:avLst/>
          </a:prstGeom>
          <a:noFill/>
          <a:ln>
            <a:noFill/>
          </a:ln>
        </p:spPr>
      </p:pic>
      <p:sp>
        <p:nvSpPr>
          <p:cNvPr id="298" name="Google Shape;298;p14"/>
          <p:cNvSpPr/>
          <p:nvPr/>
        </p:nvSpPr>
        <p:spPr>
          <a:xfrm>
            <a:off x="4542713" y="5308162"/>
            <a:ext cx="4181138" cy="1038716"/>
          </a:xfrm>
          <a:prstGeom prst="rect">
            <a:avLst/>
          </a:prstGeom>
          <a:noFill/>
          <a:ln>
            <a:noFill/>
          </a:ln>
        </p:spPr>
        <p:txBody>
          <a:bodyPr spcFirstLastPara="1" wrap="square" lIns="68569" tIns="34275" rIns="68569" bIns="34275" anchor="t" anchorCtr="0">
            <a:spAutoFit/>
          </a:bodyPr>
          <a:lstStyle/>
          <a:p>
            <a:pPr marL="0" marR="0" lvl="1" indent="0" algn="ctr" defTabSz="449263" rtl="0" eaLnBrk="0" fontAlgn="base" latinLnBrk="0" hangingPunct="0">
              <a:lnSpc>
                <a:spcPct val="100000"/>
              </a:lnSpc>
              <a:spcBef>
                <a:spcPts val="0"/>
              </a:spcBef>
              <a:spcAft>
                <a:spcPts val="0"/>
              </a:spcAft>
              <a:buClr>
                <a:srgbClr val="000000"/>
              </a:buClr>
              <a:buSzPts val="2800"/>
              <a:buFontTx/>
              <a:buNone/>
              <a:tabLst/>
              <a:defRPr/>
            </a:pPr>
            <a:r>
              <a:rPr kumimoji="0" lang="en-US" sz="2100" b="0" i="0" u="none" strike="noStrike" kern="1200" cap="none" spc="0" normalizeH="0" baseline="0" noProof="0" dirty="0">
                <a:ln>
                  <a:noFill/>
                </a:ln>
                <a:solidFill>
                  <a:srgbClr val="000000"/>
                </a:solidFill>
                <a:effectLst/>
                <a:uLnTx/>
                <a:uFillTx/>
                <a:latin typeface="Calibri"/>
                <a:ea typeface="Calibri"/>
                <a:cs typeface="Calibri"/>
                <a:sym typeface="Calibri"/>
              </a:rPr>
              <a:t>“Artefacts that serve just goals through acceptable means are ethical pieces of technology.”</a:t>
            </a:r>
            <a:endParaRPr kumimoji="0" sz="2100" b="0"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5"/>
          <p:cNvSpPr txBox="1">
            <a:spLocks noGrp="1"/>
          </p:cNvSpPr>
          <p:nvPr>
            <p:ph type="title"/>
          </p:nvPr>
        </p:nvSpPr>
        <p:spPr>
          <a:xfrm>
            <a:off x="328781" y="210390"/>
            <a:ext cx="7534583" cy="911840"/>
          </a:xfrm>
          <a:prstGeom prst="rect">
            <a:avLst/>
          </a:prstGeom>
          <a:noFill/>
          <a:ln>
            <a:noFill/>
          </a:ln>
        </p:spPr>
        <p:txBody>
          <a:bodyPr spcFirstLastPara="1" vert="horz" wrap="square" lIns="68569" tIns="34275" rIns="68569" bIns="34275" rtlCol="0" anchor="ctr" anchorCtr="0">
            <a:normAutofit/>
          </a:bodyPr>
          <a:lstStyle/>
          <a:p>
            <a:pPr algn="l">
              <a:spcBef>
                <a:spcPts val="0"/>
              </a:spcBef>
              <a:buClr>
                <a:srgbClr val="7030A0"/>
              </a:buClr>
              <a:buSzPts val="3000"/>
            </a:pPr>
            <a:r>
              <a:rPr lang="en-US" sz="3600" dirty="0">
                <a:ln>
                  <a:noFill/>
                </a:ln>
                <a:solidFill>
                  <a:prstClr val="black"/>
                </a:solidFill>
                <a:latin typeface="Trebuchet MS" panose="020B0603020202020204" pitchFamily="34" charset="0"/>
                <a:cs typeface="Calibri"/>
              </a:rPr>
              <a:t>Ethical by Design</a:t>
            </a:r>
            <a:endParaRPr sz="3600" dirty="0">
              <a:ln>
                <a:noFill/>
              </a:ln>
              <a:solidFill>
                <a:prstClr val="black"/>
              </a:solidFill>
              <a:latin typeface="Trebuchet MS" panose="020B0603020202020204" pitchFamily="34" charset="0"/>
              <a:cs typeface="Calibri"/>
            </a:endParaRPr>
          </a:p>
        </p:txBody>
      </p:sp>
      <p:sp>
        <p:nvSpPr>
          <p:cNvPr id="312" name="Google Shape;312;p15"/>
          <p:cNvSpPr/>
          <p:nvPr/>
        </p:nvSpPr>
        <p:spPr>
          <a:xfrm>
            <a:off x="328781" y="1988840"/>
            <a:ext cx="3631840" cy="3170068"/>
          </a:xfrm>
          <a:prstGeom prst="rect">
            <a:avLst/>
          </a:prstGeom>
          <a:noFill/>
          <a:ln>
            <a:noFill/>
          </a:ln>
        </p:spPr>
        <p:txBody>
          <a:bodyPr spcFirstLastPara="1" wrap="square" lIns="68569" tIns="34275" rIns="68569" bIns="34275" anchor="t" anchorCtr="0">
            <a:spAutoFit/>
          </a:bodyPr>
          <a:lstStyle/>
          <a:p>
            <a:pPr marL="0" marR="0" lvl="1" indent="0" algn="l" defTabSz="449263" rtl="0" eaLnBrk="0" fontAlgn="base" latinLnBrk="0" hangingPunct="0">
              <a:lnSpc>
                <a:spcPct val="100000"/>
              </a:lnSpc>
              <a:spcBef>
                <a:spcPts val="0"/>
              </a:spcBef>
              <a:spcAft>
                <a:spcPts val="0"/>
              </a:spcAft>
              <a:buClr>
                <a:srgbClr val="000000"/>
              </a:buClr>
              <a:buSzPts val="2800"/>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342900" marR="0" lvl="1" indent="-342900" algn="l" defTabSz="449263" rtl="0" eaLnBrk="0" fontAlgn="base" latinLnBrk="0" hangingPunct="0">
              <a:lnSpc>
                <a:spcPct val="100000"/>
              </a:lnSpc>
              <a:spcBef>
                <a:spcPts val="450"/>
              </a:spcBef>
              <a:spcAft>
                <a:spcPts val="0"/>
              </a:spcAft>
              <a:buClr>
                <a:srgbClr val="000000"/>
              </a:buClr>
              <a:buSzPts val="2800"/>
              <a:buFont typeface="Arial"/>
              <a:buChar char="•"/>
              <a:tabLst/>
              <a:defRPr/>
            </a:pPr>
            <a:r>
              <a:rPr kumimoji="0" lang="en-US" sz="2100" b="0" i="0" u="none" strike="noStrike" kern="1200" cap="none" spc="0" normalizeH="0" baseline="0" noProof="0" dirty="0">
                <a:ln>
                  <a:noFill/>
                </a:ln>
                <a:solidFill>
                  <a:srgbClr val="000000"/>
                </a:solidFill>
                <a:effectLst/>
                <a:uLnTx/>
                <a:uFillTx/>
                <a:latin typeface="Calibri"/>
                <a:ea typeface="Calibri"/>
                <a:cs typeface="Calibri"/>
                <a:sym typeface="Calibri"/>
              </a:rPr>
              <a:t>The failure to foresee alternate uses of an artefact – both for good and for ill</a:t>
            </a:r>
          </a:p>
          <a:p>
            <a:pPr marL="0" marR="0" lvl="1" indent="0" algn="l" defTabSz="449263" rtl="0" eaLnBrk="0" fontAlgn="base" latinLnBrk="0" hangingPunct="0">
              <a:lnSpc>
                <a:spcPct val="100000"/>
              </a:lnSpc>
              <a:spcBef>
                <a:spcPts val="450"/>
              </a:spcBef>
              <a:spcAft>
                <a:spcPts val="0"/>
              </a:spcAft>
              <a:buClr>
                <a:srgbClr val="000000"/>
              </a:buClr>
              <a:buSzPts val="2800"/>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342900" marR="0" lvl="1" indent="-342900" algn="l" defTabSz="449263" rtl="0" eaLnBrk="0" fontAlgn="base" latinLnBrk="0" hangingPunct="0">
              <a:lnSpc>
                <a:spcPct val="100000"/>
              </a:lnSpc>
              <a:spcBef>
                <a:spcPts val="450"/>
              </a:spcBef>
              <a:spcAft>
                <a:spcPts val="0"/>
              </a:spcAft>
              <a:buClr>
                <a:srgbClr val="000000"/>
              </a:buClr>
              <a:buSzPts val="2800"/>
              <a:buFont typeface="Arial"/>
              <a:buChar char="•"/>
              <a:tabLst/>
              <a:defRPr/>
            </a:pPr>
            <a:r>
              <a:rPr kumimoji="0" lang="en-US" sz="2100" b="0" i="0" u="none" strike="noStrike" kern="1200" cap="none" spc="0" normalizeH="0" baseline="0" noProof="0" dirty="0">
                <a:ln>
                  <a:noFill/>
                </a:ln>
                <a:solidFill>
                  <a:srgbClr val="000000"/>
                </a:solidFill>
                <a:effectLst/>
                <a:uLnTx/>
                <a:uFillTx/>
                <a:latin typeface="Calibri"/>
                <a:ea typeface="Calibri"/>
                <a:cs typeface="Calibri"/>
                <a:sym typeface="Calibri"/>
              </a:rPr>
              <a:t>Uncertainty around the effects of new technologies or new uses for existing technologies.” (Beard and Longstaff p. 25)</a:t>
            </a: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314" name="Google Shape;314;p15"/>
          <p:cNvPicPr preferRelativeResize="0"/>
          <p:nvPr/>
        </p:nvPicPr>
        <p:blipFill rotWithShape="1">
          <a:blip r:embed="rId3">
            <a:alphaModFix/>
          </a:blip>
          <a:srcRect/>
          <a:stretch/>
        </p:blipFill>
        <p:spPr>
          <a:xfrm>
            <a:off x="4583285" y="2159048"/>
            <a:ext cx="4303703" cy="1557983"/>
          </a:xfrm>
          <a:prstGeom prst="rect">
            <a:avLst/>
          </a:prstGeom>
          <a:noFill/>
          <a:ln>
            <a:noFill/>
          </a:ln>
        </p:spPr>
      </p:pic>
      <p:grpSp>
        <p:nvGrpSpPr>
          <p:cNvPr id="315" name="Google Shape;315;p15"/>
          <p:cNvGrpSpPr/>
          <p:nvPr/>
        </p:nvGrpSpPr>
        <p:grpSpPr>
          <a:xfrm>
            <a:off x="4669939" y="5157192"/>
            <a:ext cx="4182904" cy="1490418"/>
            <a:chOff x="6065520" y="3811445"/>
            <a:chExt cx="5577205" cy="1578106"/>
          </a:xfrm>
        </p:grpSpPr>
        <p:pic>
          <p:nvPicPr>
            <p:cNvPr id="316" name="Google Shape;316;p15"/>
            <p:cNvPicPr preferRelativeResize="0"/>
            <p:nvPr/>
          </p:nvPicPr>
          <p:blipFill rotWithShape="1">
            <a:blip r:embed="rId4">
              <a:alphaModFix/>
            </a:blip>
            <a:srcRect/>
            <a:stretch/>
          </p:blipFill>
          <p:spPr>
            <a:xfrm>
              <a:off x="6065520" y="3811445"/>
              <a:ext cx="5404485" cy="1215787"/>
            </a:xfrm>
            <a:prstGeom prst="rect">
              <a:avLst/>
            </a:prstGeom>
            <a:noFill/>
            <a:ln>
              <a:noFill/>
            </a:ln>
          </p:spPr>
        </p:pic>
        <p:sp>
          <p:nvSpPr>
            <p:cNvPr id="317" name="Google Shape;317;p15"/>
            <p:cNvSpPr txBox="1"/>
            <p:nvPr/>
          </p:nvSpPr>
          <p:spPr>
            <a:xfrm>
              <a:off x="6238240" y="5020259"/>
              <a:ext cx="1158240" cy="369292"/>
            </a:xfrm>
            <a:prstGeom prst="rect">
              <a:avLst/>
            </a:prstGeom>
            <a:noFill/>
            <a:ln>
              <a:noFill/>
            </a:ln>
          </p:spPr>
          <p:txBody>
            <a:bodyPr spcFirstLastPara="1" wrap="square" lIns="68569" tIns="34275" rIns="68569" bIns="34275" anchor="t" anchorCtr="0">
              <a:spAutoFit/>
            </a:bodyPr>
            <a:lstStyle/>
            <a:p>
              <a:pPr marL="0" marR="0" lvl="0" indent="0" algn="l" defTabSz="449263" rtl="0" eaLnBrk="0" fontAlgn="base" latinLnBrk="0" hangingPunct="0">
                <a:lnSpc>
                  <a:spcPct val="100000"/>
                </a:lnSpc>
                <a:spcBef>
                  <a:spcPts val="0"/>
                </a:spcBef>
                <a:spcAft>
                  <a:spcPts val="0"/>
                </a:spcAft>
                <a:buClr>
                  <a:srgbClr val="000000"/>
                </a:buClr>
                <a:buSzPts val="1800"/>
                <a:buFontTx/>
                <a:buNone/>
                <a:tabLst/>
                <a:defRPr/>
              </a:pPr>
              <a:r>
                <a:rPr kumimoji="0" lang="en-US" sz="1350" b="0" i="0" u="none" strike="noStrike" kern="1200" cap="none" spc="0" normalizeH="0" baseline="0" noProof="0">
                  <a:ln>
                    <a:noFill/>
                  </a:ln>
                  <a:solidFill>
                    <a:srgbClr val="000000"/>
                  </a:solidFill>
                  <a:effectLst/>
                  <a:uLnTx/>
                  <a:uFillTx/>
                  <a:latin typeface="Calibri"/>
                  <a:ea typeface="Calibri"/>
                  <a:cs typeface="Calibri"/>
                  <a:sym typeface="Calibri"/>
                </a:rPr>
                <a:t>Goals</a:t>
              </a:r>
              <a:endParaRPr kumimoji="0" sz="105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8" name="Google Shape;318;p15"/>
            <p:cNvSpPr txBox="1"/>
            <p:nvPr/>
          </p:nvSpPr>
          <p:spPr>
            <a:xfrm>
              <a:off x="8471567" y="5020258"/>
              <a:ext cx="1158240" cy="369292"/>
            </a:xfrm>
            <a:prstGeom prst="rect">
              <a:avLst/>
            </a:prstGeom>
            <a:noFill/>
            <a:ln>
              <a:noFill/>
            </a:ln>
          </p:spPr>
          <p:txBody>
            <a:bodyPr spcFirstLastPara="1" wrap="square" lIns="68569" tIns="34275" rIns="68569" bIns="34275" anchor="t" anchorCtr="0">
              <a:spAutoFit/>
            </a:bodyPr>
            <a:lstStyle/>
            <a:p>
              <a:pPr marL="0" marR="0" lvl="0" indent="0" algn="l" defTabSz="449263" rtl="0" eaLnBrk="0" fontAlgn="base" latinLnBrk="0" hangingPunct="0">
                <a:lnSpc>
                  <a:spcPct val="100000"/>
                </a:lnSpc>
                <a:spcBef>
                  <a:spcPts val="0"/>
                </a:spcBef>
                <a:spcAft>
                  <a:spcPts val="0"/>
                </a:spcAft>
                <a:buClr>
                  <a:srgbClr val="000000"/>
                </a:buClr>
                <a:buSzPts val="1800"/>
                <a:buFontTx/>
                <a:buNone/>
                <a:tabLst/>
                <a:defRPr/>
              </a:pPr>
              <a:r>
                <a:rPr kumimoji="0" lang="en-US" sz="1350" b="0" i="0" u="none" strike="noStrike" kern="1200" cap="none" spc="0" normalizeH="0" baseline="0" noProof="0">
                  <a:ln>
                    <a:noFill/>
                  </a:ln>
                  <a:solidFill>
                    <a:srgbClr val="000000"/>
                  </a:solidFill>
                  <a:effectLst/>
                  <a:uLnTx/>
                  <a:uFillTx/>
                  <a:latin typeface="Calibri"/>
                  <a:ea typeface="Calibri"/>
                  <a:cs typeface="Calibri"/>
                  <a:sym typeface="Calibri"/>
                </a:rPr>
                <a:t>Means</a:t>
              </a:r>
              <a:endParaRPr kumimoji="0" sz="105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9" name="Google Shape;319;p15"/>
            <p:cNvSpPr txBox="1"/>
            <p:nvPr/>
          </p:nvSpPr>
          <p:spPr>
            <a:xfrm>
              <a:off x="10484485" y="5020258"/>
              <a:ext cx="1158240" cy="369292"/>
            </a:xfrm>
            <a:prstGeom prst="rect">
              <a:avLst/>
            </a:prstGeom>
            <a:noFill/>
            <a:ln>
              <a:noFill/>
            </a:ln>
          </p:spPr>
          <p:txBody>
            <a:bodyPr spcFirstLastPara="1" wrap="square" lIns="68569" tIns="34275" rIns="68569" bIns="34275" anchor="t" anchorCtr="0">
              <a:spAutoFit/>
            </a:bodyPr>
            <a:lstStyle/>
            <a:p>
              <a:pPr marL="0" marR="0" lvl="0" indent="0" algn="l" defTabSz="449263" rtl="0" eaLnBrk="0" fontAlgn="base" latinLnBrk="0" hangingPunct="0">
                <a:lnSpc>
                  <a:spcPct val="100000"/>
                </a:lnSpc>
                <a:spcBef>
                  <a:spcPts val="0"/>
                </a:spcBef>
                <a:spcAft>
                  <a:spcPts val="0"/>
                </a:spcAft>
                <a:buClr>
                  <a:srgbClr val="000000"/>
                </a:buClr>
                <a:buSzPts val="1800"/>
                <a:buFontTx/>
                <a:buNone/>
                <a:tabLst/>
                <a:defRPr/>
              </a:pPr>
              <a:r>
                <a:rPr kumimoji="0" lang="en-US" sz="1350" b="0" i="0" u="none" strike="noStrike" kern="1200" cap="none" spc="0" normalizeH="0" baseline="0" noProof="0">
                  <a:ln>
                    <a:noFill/>
                  </a:ln>
                  <a:solidFill>
                    <a:srgbClr val="000000"/>
                  </a:solidFill>
                  <a:effectLst/>
                  <a:uLnTx/>
                  <a:uFillTx/>
                  <a:latin typeface="Calibri"/>
                  <a:ea typeface="Calibri"/>
                  <a:cs typeface="Calibri"/>
                  <a:sym typeface="Calibri"/>
                </a:rPr>
                <a:t>Ends</a:t>
              </a:r>
              <a:endParaRPr kumimoji="0" sz="1050" b="0" i="0" u="none" strike="noStrike" kern="1200" cap="none" spc="0" normalizeH="0" baseline="0" noProof="0">
                <a:ln>
                  <a:noFill/>
                </a:ln>
                <a:solidFill>
                  <a:srgbClr val="000000"/>
                </a:solidFill>
                <a:effectLst/>
                <a:uLnTx/>
                <a:uFillTx/>
                <a:latin typeface="Arial"/>
                <a:ea typeface="Arial"/>
                <a:cs typeface="Arial"/>
                <a:sym typeface="Arial"/>
              </a:endParaRPr>
            </a:p>
          </p:txBody>
        </p:sp>
      </p:gr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457200" y="22225"/>
            <a:ext cx="8229600" cy="88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srgbClr val="424456"/>
                </a:solidFill>
                <a:effectLst/>
                <a:uLnTx/>
                <a:uFillTx/>
                <a:latin typeface="Trebuchet MS" panose="020B0603020202020204" pitchFamily="34" charset="0"/>
                <a:ea typeface="Microsoft YaHei" panose="020B0503020204020204" pitchFamily="34" charset="-122"/>
                <a:cs typeface="Arial" panose="020B0604020202020204" pitchFamily="34" charset="0"/>
              </a:rPr>
              <a:t>Codes of Ethics</a:t>
            </a:r>
          </a:p>
        </p:txBody>
      </p:sp>
      <p:sp>
        <p:nvSpPr>
          <p:cNvPr id="13315" name="Text Box 2"/>
          <p:cNvSpPr txBox="1">
            <a:spLocks noChangeArrowheads="1"/>
          </p:cNvSpPr>
          <p:nvPr/>
        </p:nvSpPr>
        <p:spPr bwMode="auto">
          <a:xfrm>
            <a:off x="107504" y="908721"/>
            <a:ext cx="9036496" cy="56886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449263" rtl="0" eaLnBrk="1" fontAlgn="base" latinLnBrk="0" hangingPunct="1">
              <a:lnSpc>
                <a:spcPct val="100000"/>
              </a:lnSpc>
              <a:spcBef>
                <a:spcPts val="300"/>
              </a:spcBef>
              <a:spcAft>
                <a:spcPct val="0"/>
              </a:spcAft>
              <a:buClr>
                <a:srgbClr val="000000"/>
              </a:buClr>
              <a:buSzPct val="100000"/>
              <a:buFont typeface="Times New Roman" panose="02020603050405020304" pitchFamily="18" charset="0"/>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800" b="1" i="0" u="none" strike="noStrike" kern="1200" cap="none" spc="0" normalizeH="0" baseline="0" noProof="0" dirty="0">
                <a:ln>
                  <a:noFill/>
                </a:ln>
                <a:solidFill>
                  <a:srgbClr val="7030A0"/>
                </a:solidFill>
                <a:effectLst/>
                <a:uLnTx/>
                <a:uFillTx/>
                <a:latin typeface="Georgia" pitchFamily="18" charset="0"/>
                <a:ea typeface="Microsoft YaHei" charset="-122"/>
                <a:cs typeface="Arial" charset="0"/>
              </a:rPr>
              <a:t>Consult Australia </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at all times place their responsibility for the welfare, health and safety of the community before their responsibility to sectional or private interests, or to other members;</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act with honour, integrity and dignity in order to merit the trust of the community;</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act only in areas of their competence and shall practice in a careful and diligent manner;</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act with honesty, good faith and without discrimination towards all in the community, including clients, employers and colleagues;</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apply their skill and knowledge in the interest of their employer or client for whom they shall act with integrity, without compromising any other obligation to these Tenets;</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take all reasonable steps to inform themselves, their clients and employers and the community of the social and environmental consequences of the actions and projects in which they are involved;</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express opinions, make statements or give evidence with fairness and honesty and only on the basis of adequate knowledge;</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continue to develop relevant knowledge, skill and expertise throughout their careers and shall actively assist and encourage those under their direction to do likewise; and</a:t>
            </a:r>
          </a:p>
          <a:p>
            <a:pPr marL="342900" marR="0" lvl="0" indent="-342900" algn="l" defTabSz="449263" rtl="0" eaLnBrk="1" fontAlgn="base" latinLnBrk="0" hangingPunct="1">
              <a:lnSpc>
                <a:spcPct val="100000"/>
              </a:lnSpc>
              <a:spcBef>
                <a:spcPts val="300"/>
              </a:spcBef>
              <a:spcAft>
                <a:spcPct val="0"/>
              </a:spcAft>
              <a:buClr>
                <a:srgbClr val="000000"/>
              </a:buClr>
              <a:buSzPct val="100000"/>
              <a:buFont typeface="+mj-lt"/>
              <a:buAutoNum type="arabicPeriod"/>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altLang="en-US" sz="1600" b="0"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rPr>
              <a:t>Members shall not assist, induce or be involved in a breach of these Tenets and shall support those who seek to uphold them.</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457200" y="22225"/>
            <a:ext cx="8229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marL="0" marR="0" lvl="0" indent="0" algn="l" defTabSz="449263"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AU" altLang="en-US" sz="4000" b="0" i="0" u="none" strike="noStrike" kern="1200" cap="none" spc="0" normalizeH="0" baseline="0" noProof="0" dirty="0">
                <a:ln>
                  <a:noFill/>
                </a:ln>
                <a:solidFill>
                  <a:srgbClr val="424456"/>
                </a:solidFill>
                <a:effectLst/>
                <a:uLnTx/>
                <a:uFillTx/>
                <a:latin typeface="Trebuchet MS" panose="020B0603020202020204" pitchFamily="34" charset="0"/>
                <a:ea typeface="Microsoft YaHei" panose="020B0503020204020204" pitchFamily="34" charset="-122"/>
                <a:cs typeface="Arial" panose="020B0604020202020204" pitchFamily="34" charset="0"/>
              </a:rPr>
              <a:t>Codes of Ethics</a:t>
            </a:r>
          </a:p>
        </p:txBody>
      </p:sp>
      <p:sp>
        <p:nvSpPr>
          <p:cNvPr id="13315" name="Text Box 2"/>
          <p:cNvSpPr txBox="1">
            <a:spLocks noChangeArrowheads="1"/>
          </p:cNvSpPr>
          <p:nvPr/>
        </p:nvSpPr>
        <p:spPr bwMode="auto">
          <a:xfrm>
            <a:off x="179512" y="1089025"/>
            <a:ext cx="8784976" cy="5436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lnSpcReduction="100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2000" b="1" i="0" u="none" strike="noStrike" kern="1200" cap="none" spc="0" normalizeH="0" baseline="0" noProof="0" dirty="0">
                <a:ln>
                  <a:noFill/>
                </a:ln>
                <a:solidFill>
                  <a:srgbClr val="7030A0"/>
                </a:solidFill>
                <a:effectLst/>
                <a:uLnTx/>
                <a:uFillTx/>
                <a:latin typeface="Georgia" pitchFamily="18" charset="0"/>
                <a:ea typeface="Microsoft YaHei" charset="-122"/>
                <a:cs typeface="+mn-cs"/>
              </a:rPr>
              <a:t>Engineers Australia</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endPar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endParaRP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1.1 Act on the basis of a well-informed conscience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(a) be discerning and do what you think is right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(b) act impartially and objectively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4.1 Engage responsibly with the community and other stakeholders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(a) be sensitive to public concerns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(b) inform employers or clients of the likely consequences of proposed activities on the 	community and the environment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(c) promote the involvement of all stakeholders and the community in decisions and 	processes that may impact upon them and the environment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4.2 Practise engineering to foster the health, safety and wellbeing of the community and the 	environment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(a) incorporate social, cultural, health, safety, environmental and economic 	considerations into the engineering task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4.3 Balance the needs of the present with the needs of future generations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(a) in identifying sustainable outcomes consider all options in terms of their economic, 	environmental and social consequences </a:t>
            </a:r>
          </a:p>
          <a:p>
            <a:pPr marL="0" marR="0" lvl="0" indent="0" algn="l" defTabSz="449263" rtl="0" eaLnBrk="0" fontAlgn="base" latinLnBrk="0" hangingPunct="0">
              <a:lnSpc>
                <a:spcPct val="100000"/>
              </a:lnSpc>
              <a:spcBef>
                <a:spcPts val="300"/>
              </a:spcBef>
              <a:spcAft>
                <a:spcPct val="0"/>
              </a:spcAft>
              <a:buClrTx/>
              <a:buSzTx/>
              <a:buFontTx/>
              <a:buNone/>
              <a:tabLst>
                <a:tab pos="547688" algn="l"/>
                <a:tab pos="1462088" algn="l"/>
                <a:tab pos="2376488" algn="l"/>
                <a:tab pos="3290888" algn="l"/>
                <a:tab pos="4205288" algn="l"/>
                <a:tab pos="5119688" algn="l"/>
                <a:tab pos="6034088" algn="l"/>
                <a:tab pos="6948488" algn="l"/>
                <a:tab pos="7862888" algn="l"/>
                <a:tab pos="8777288" algn="l"/>
                <a:tab pos="9691688" algn="l"/>
              </a:tabLst>
              <a:defRPr/>
            </a:pPr>
            <a:r>
              <a:rPr kumimoji="0" lang="en-AU" sz="1600" b="0" i="0" u="none" strike="noStrike" kern="1200" cap="none" spc="0" normalizeH="0" baseline="0" noProof="0" dirty="0">
                <a:ln>
                  <a:noFill/>
                </a:ln>
                <a:solidFill>
                  <a:srgbClr val="000000"/>
                </a:solidFill>
                <a:effectLst/>
                <a:uLnTx/>
                <a:uFillTx/>
                <a:latin typeface="Georgia" pitchFamily="18" charset="0"/>
                <a:ea typeface="Microsoft YaHei" charset="-122"/>
                <a:cs typeface="+mn-cs"/>
              </a:rPr>
              <a:t>	(b) aim to deliver outcomes that do not compromise the ability of future life to enjoy the 	same or better environment, health, wellbeing and safety as currently enjoyed.</a:t>
            </a:r>
            <a:endParaRPr kumimoji="0" lang="en-AU" altLang="en-US" sz="1500" b="1" i="0" u="none" strike="noStrike" kern="1200" cap="none" spc="0" normalizeH="0" baseline="0" noProof="0" dirty="0">
              <a:ln>
                <a:noFill/>
              </a:ln>
              <a:solidFill>
                <a:srgbClr val="000000"/>
              </a:solidFill>
              <a:effectLst/>
              <a:uLnTx/>
              <a:uFillTx/>
              <a:latin typeface="Georgia" pitchFamily="18" charset="0"/>
              <a:ea typeface="Microsoft YaHei" charset="-122"/>
              <a:cs typeface="Arial" charset="0"/>
            </a:endParaRPr>
          </a:p>
        </p:txBody>
      </p:sp>
    </p:spTree>
    <p:extLst>
      <p:ext uri="{BB962C8B-B14F-4D97-AF65-F5344CB8AC3E}">
        <p14:creationId xmlns:p14="http://schemas.microsoft.com/office/powerpoint/2010/main" val="365153558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457200" y="56253"/>
            <a:ext cx="4690864"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chemeClr val="tx1"/>
                </a:solidFill>
                <a:latin typeface="Trebuchet MS" panose="020B0603020202020204" pitchFamily="34" charset="0"/>
                <a:cs typeface="Arial" panose="020B0604020202020204" pitchFamily="34" charset="0"/>
              </a:rPr>
              <a:t>Automated Vehicles</a:t>
            </a:r>
          </a:p>
        </p:txBody>
      </p:sp>
      <p:sp>
        <p:nvSpPr>
          <p:cNvPr id="13315" name="Text Box 2"/>
          <p:cNvSpPr txBox="1">
            <a:spLocks noChangeArrowheads="1"/>
          </p:cNvSpPr>
          <p:nvPr/>
        </p:nvSpPr>
        <p:spPr bwMode="auto">
          <a:xfrm>
            <a:off x="457200" y="1052736"/>
            <a:ext cx="6347048" cy="5472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fontScale="92500" lnSpcReduction="100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buFont typeface="Times New Roman" panose="02020603050405020304" pitchFamily="18" charset="0"/>
              <a:buNone/>
              <a:defRPr/>
            </a:pPr>
            <a:r>
              <a:rPr lang="en-AU" altLang="en-US" sz="2400" b="1" dirty="0">
                <a:cs typeface="Arial" charset="0"/>
              </a:rPr>
              <a:t>Road traffic accidents (2017)</a:t>
            </a:r>
          </a:p>
          <a:p>
            <a:pPr marL="342900" indent="-342900" eaLnBrk="1" hangingPunct="1">
              <a:buClr>
                <a:srgbClr val="000000"/>
              </a:buClr>
              <a:buSzPct val="100000"/>
              <a:buFont typeface="Arial" panose="020B0604020202020204" pitchFamily="34" charset="0"/>
              <a:buChar char="•"/>
              <a:defRPr/>
            </a:pPr>
            <a:r>
              <a:rPr lang="en-AU" altLang="en-US" sz="2400" dirty="0">
                <a:cs typeface="Arial" charset="0"/>
              </a:rPr>
              <a:t>1.25 million people killed every year in road traffic accidents</a:t>
            </a:r>
          </a:p>
          <a:p>
            <a:pPr marL="342900" indent="-342900" eaLnBrk="1" hangingPunct="1">
              <a:buClr>
                <a:srgbClr val="000000"/>
              </a:buClr>
              <a:buSzPct val="100000"/>
              <a:buFont typeface="Arial" panose="020B0604020202020204" pitchFamily="34" charset="0"/>
              <a:buChar char="•"/>
              <a:defRPr/>
            </a:pPr>
            <a:r>
              <a:rPr lang="en-AU" altLang="en-US" sz="2400" dirty="0">
                <a:cs typeface="Arial" charset="0"/>
              </a:rPr>
              <a:t>The leading cause of death among people aged 15-29 years</a:t>
            </a:r>
          </a:p>
          <a:p>
            <a:pPr marL="342900" indent="-342900" eaLnBrk="1" hangingPunct="1">
              <a:buClr>
                <a:srgbClr val="000000"/>
              </a:buClr>
              <a:buSzPct val="100000"/>
              <a:buFont typeface="Arial" panose="020B0604020202020204" pitchFamily="34" charset="0"/>
              <a:buChar char="•"/>
              <a:defRPr/>
            </a:pPr>
            <a:r>
              <a:rPr lang="en-AU" altLang="en-US" sz="2400" dirty="0">
                <a:cs typeface="Arial" charset="0"/>
              </a:rPr>
              <a:t>Costs governments approximately 3% of GDP</a:t>
            </a:r>
          </a:p>
          <a:p>
            <a:pPr marL="342900" indent="-342900" eaLnBrk="1" hangingPunct="1">
              <a:buClr>
                <a:srgbClr val="000000"/>
              </a:buClr>
              <a:buSzPct val="100000"/>
              <a:buFont typeface="Arial" panose="020B0604020202020204" pitchFamily="34" charset="0"/>
              <a:buChar char="•"/>
              <a:defRPr/>
            </a:pPr>
            <a:r>
              <a:rPr lang="en-AU" altLang="en-US" sz="2400" dirty="0">
                <a:cs typeface="Arial" charset="0"/>
              </a:rPr>
              <a:t>Over 90% of all road traffic accidents are caused by human error and behaviour</a:t>
            </a:r>
          </a:p>
          <a:p>
            <a:pPr marL="1085850" lvl="1" indent="-342900" eaLnBrk="1" hangingPunct="1">
              <a:spcAft>
                <a:spcPts val="600"/>
              </a:spcAft>
              <a:buClr>
                <a:srgbClr val="000000"/>
              </a:buClr>
              <a:buSzPct val="100000"/>
              <a:buFont typeface="Arial" panose="020B0604020202020204" pitchFamily="34" charset="0"/>
              <a:buChar char="•"/>
              <a:defRPr/>
            </a:pPr>
            <a:r>
              <a:rPr lang="en-AU" altLang="en-US" sz="2400" dirty="0">
                <a:solidFill>
                  <a:srgbClr val="000000"/>
                </a:solidFill>
                <a:cs typeface="Arial" charset="0"/>
              </a:rPr>
              <a:t>Drink driving, inattention, speeding, drug use…</a:t>
            </a:r>
          </a:p>
          <a:p>
            <a:pPr eaLnBrk="1" hangingPunct="1">
              <a:buClr>
                <a:srgbClr val="000000"/>
              </a:buClr>
              <a:buSzPct val="100000"/>
              <a:defRPr/>
            </a:pPr>
            <a:r>
              <a:rPr lang="en-AU" altLang="en-US" sz="2400" b="1" dirty="0">
                <a:cs typeface="Arial" charset="0"/>
              </a:rPr>
              <a:t>Autonomous vehicles (the future)</a:t>
            </a:r>
          </a:p>
          <a:p>
            <a:pPr marL="342900" indent="-342900" eaLnBrk="1" hangingPunct="1">
              <a:buClr>
                <a:srgbClr val="000000"/>
              </a:buClr>
              <a:buSzPct val="100000"/>
              <a:buFont typeface="Arial" panose="020B0604020202020204" pitchFamily="34" charset="0"/>
              <a:buChar char="•"/>
              <a:defRPr/>
            </a:pPr>
            <a:r>
              <a:rPr lang="en-AU" altLang="en-US" sz="2400" dirty="0">
                <a:cs typeface="Arial" charset="0"/>
              </a:rPr>
              <a:t>Engineers tell us autonomous vehicles can do better, they will save lives</a:t>
            </a:r>
          </a:p>
          <a:p>
            <a:pPr marL="342900" indent="-342900" eaLnBrk="1" hangingPunct="1">
              <a:buClr>
                <a:srgbClr val="000000"/>
              </a:buClr>
              <a:buSzPct val="100000"/>
              <a:buFont typeface="Arial" panose="020B0604020202020204" pitchFamily="34" charset="0"/>
              <a:buChar char="•"/>
              <a:defRPr/>
            </a:pPr>
            <a:r>
              <a:rPr lang="en-AU" altLang="en-US" sz="2400" dirty="0">
                <a:cs typeface="Arial" charset="0"/>
              </a:rPr>
              <a:t>At some point, they will become safer than human drivers</a:t>
            </a:r>
          </a:p>
          <a:p>
            <a:pPr eaLnBrk="1" hangingPunct="1">
              <a:buClr>
                <a:srgbClr val="000000"/>
              </a:buClr>
              <a:buSzPct val="100000"/>
              <a:defRPr/>
            </a:pPr>
            <a:endParaRPr lang="en-AU" altLang="en-US" sz="2400" dirty="0">
              <a:cs typeface="Arial" charset="0"/>
            </a:endParaRPr>
          </a:p>
          <a:p>
            <a:pPr eaLnBrk="1" hangingPunct="1">
              <a:buClr>
                <a:srgbClr val="000000"/>
              </a:buClr>
              <a:buSzPct val="100000"/>
              <a:buFont typeface="Times New Roman" panose="02020603050405020304" pitchFamily="18" charset="0"/>
              <a:buNone/>
              <a:defRPr/>
            </a:pPr>
            <a:endParaRPr lang="en-AU" altLang="en-US" sz="2400" b="1" dirty="0">
              <a:cs typeface="Arial" charset="0"/>
            </a:endParaRPr>
          </a:p>
          <a:p>
            <a:pPr eaLnBrk="1" hangingPunct="1">
              <a:buClr>
                <a:srgbClr val="000000"/>
              </a:buClr>
              <a:buSzPct val="100000"/>
              <a:buFont typeface="Times New Roman" panose="02020603050405020304" pitchFamily="18" charset="0"/>
              <a:buNone/>
              <a:defRPr/>
            </a:pPr>
            <a:endParaRPr lang="en-AU" altLang="en-US" sz="2400" dirty="0">
              <a:cs typeface="Arial" charset="0"/>
            </a:endParaRPr>
          </a:p>
          <a:p>
            <a:pPr eaLnBrk="1" hangingPunct="1">
              <a:buClr>
                <a:srgbClr val="000000"/>
              </a:buClr>
              <a:buSzPct val="100000"/>
              <a:buFont typeface="Times New Roman" panose="02020603050405020304" pitchFamily="18" charset="0"/>
              <a:buNone/>
              <a:defRPr/>
            </a:pPr>
            <a:endParaRPr lang="en-AU" altLang="en-US" sz="1500" b="1" dirty="0">
              <a:cs typeface="Arial"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48" y="126570"/>
            <a:ext cx="2256680" cy="1502229"/>
          </a:xfrm>
          <a:prstGeom prst="rect">
            <a:avLst/>
          </a:prstGeom>
          <a:effectLst>
            <a:softEdge rad="88900"/>
          </a:effectLst>
        </p:spPr>
      </p:pic>
    </p:spTree>
    <p:extLst>
      <p:ext uri="{BB962C8B-B14F-4D97-AF65-F5344CB8AC3E}">
        <p14:creationId xmlns:p14="http://schemas.microsoft.com/office/powerpoint/2010/main" val="3704607433"/>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683568" y="-14064"/>
            <a:ext cx="684076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Georgia" panose="02040502050405020303" pitchFamily="18" charset="0"/>
                <a:ea typeface="Microsoft YaHei" panose="020B0503020204020204" pitchFamily="34" charset="-122"/>
              </a:defRPr>
            </a:lvl9pPr>
          </a:lstStyle>
          <a:p>
            <a:pPr eaLnBrk="1" hangingPunct="1">
              <a:buSzPct val="100000"/>
            </a:pPr>
            <a:r>
              <a:rPr lang="en-AU" altLang="en-US" sz="4000" dirty="0">
                <a:solidFill>
                  <a:schemeClr val="tx1"/>
                </a:solidFill>
                <a:latin typeface="Trebuchet MS" panose="020B0603020202020204" pitchFamily="34" charset="0"/>
                <a:cs typeface="Arial" panose="020B0604020202020204" pitchFamily="34" charset="0"/>
              </a:rPr>
              <a:t>Boeing Max 737</a:t>
            </a:r>
          </a:p>
        </p:txBody>
      </p:sp>
      <p:sp>
        <p:nvSpPr>
          <p:cNvPr id="13315" name="Text Box 2"/>
          <p:cNvSpPr txBox="1">
            <a:spLocks noChangeArrowheads="1"/>
          </p:cNvSpPr>
          <p:nvPr/>
        </p:nvSpPr>
        <p:spPr bwMode="auto">
          <a:xfrm>
            <a:off x="683568" y="1052736"/>
            <a:ext cx="8064896" cy="5472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lnSpcReduction="10000"/>
          </a:bodyPr>
          <a:lstStyle>
            <a:lvl1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800">
                <a:solidFill>
                  <a:srgbClr val="000000"/>
                </a:solidFill>
                <a:latin typeface="Georgia" pitchFamily="18" charset="0"/>
                <a:ea typeface="Microsoft YaHei" charset="-122"/>
              </a:defRPr>
            </a:lvl1pPr>
            <a:lvl2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600">
                <a:solidFill>
                  <a:srgbClr val="438086"/>
                </a:solidFill>
                <a:latin typeface="Georgia" pitchFamily="18" charset="0"/>
                <a:ea typeface="Microsoft YaHei" charset="-122"/>
              </a:defRPr>
            </a:lvl2pPr>
            <a:lvl3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400">
                <a:solidFill>
                  <a:srgbClr val="53548A"/>
                </a:solidFill>
                <a:latin typeface="Georgia" pitchFamily="18" charset="0"/>
                <a:ea typeface="Microsoft YaHei" charset="-122"/>
              </a:defRPr>
            </a:lvl3pPr>
            <a:lvl4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200">
                <a:solidFill>
                  <a:srgbClr val="53548A"/>
                </a:solidFill>
                <a:latin typeface="Georgia" pitchFamily="18" charset="0"/>
                <a:ea typeface="Microsoft YaHei" charset="-122"/>
              </a:defRPr>
            </a:lvl4pPr>
            <a:lvl5pPr eaLnBrk="0" hangingPunct="0">
              <a:spcBef>
                <a:spcPts val="300"/>
              </a:spcBef>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5pPr>
            <a:lvl6pPr marL="25146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6pPr>
            <a:lvl7pPr marL="29718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7pPr>
            <a:lvl8pPr marL="34290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8pPr>
            <a:lvl9pPr marL="3886200" indent="-228600" defTabSz="449263" eaLnBrk="0" fontAlgn="base" hangingPunct="0">
              <a:spcBef>
                <a:spcPts val="300"/>
              </a:spcBef>
              <a:spcAft>
                <a:spcPct val="0"/>
              </a:spcAft>
              <a:buClr>
                <a:srgbClr val="000000"/>
              </a:buClr>
              <a:buSzPct val="100000"/>
              <a:buFont typeface="Times New Roman" pitchFamily="16" charset="0"/>
              <a:tabLst>
                <a:tab pos="547688" algn="l"/>
                <a:tab pos="1462088" algn="l"/>
                <a:tab pos="2376488" algn="l"/>
                <a:tab pos="3290888" algn="l"/>
                <a:tab pos="4205288" algn="l"/>
                <a:tab pos="5119688" algn="l"/>
                <a:tab pos="6034088" algn="l"/>
                <a:tab pos="6948488" algn="l"/>
                <a:tab pos="7862888" algn="l"/>
                <a:tab pos="8777288" algn="l"/>
                <a:tab pos="9691688" algn="l"/>
              </a:tabLst>
              <a:defRPr sz="2000">
                <a:solidFill>
                  <a:srgbClr val="A04DA3"/>
                </a:solidFill>
                <a:latin typeface="Georgia" pitchFamily="18" charset="0"/>
                <a:ea typeface="Microsoft YaHei" charset="-122"/>
              </a:defRPr>
            </a:lvl9pPr>
          </a:lstStyle>
          <a:p>
            <a:pPr eaLnBrk="1" hangingPunct="1">
              <a:buClr>
                <a:srgbClr val="000000"/>
              </a:buClr>
              <a:buSzPct val="100000"/>
              <a:defRPr/>
            </a:pPr>
            <a:r>
              <a:rPr lang="en-AU" altLang="en-US" sz="2400" b="1" dirty="0">
                <a:cs typeface="Arial" charset="0"/>
              </a:rPr>
              <a:t>Commercial interest and good design</a:t>
            </a:r>
          </a:p>
          <a:p>
            <a:pPr marL="827088" lvl="1" eaLnBrk="1" hangingPunct="1">
              <a:spcAft>
                <a:spcPts val="900"/>
              </a:spcAft>
              <a:buClr>
                <a:srgbClr val="000000"/>
              </a:buClr>
              <a:buSzPct val="100000"/>
              <a:buFont typeface="Arial" panose="020B0604020202020204" pitchFamily="34" charset="0"/>
              <a:buChar char="•"/>
              <a:defRPr/>
            </a:pPr>
            <a:endParaRPr lang="en-AU" altLang="en-US" sz="1800" dirty="0">
              <a:solidFill>
                <a:schemeClr val="tx1"/>
              </a:solidFill>
              <a:cs typeface="Arial" charset="0"/>
            </a:endParaRPr>
          </a:p>
          <a:p>
            <a:pPr marL="827088" lvl="1" eaLnBrk="1" hangingPunct="1">
              <a:spcAft>
                <a:spcPts val="900"/>
              </a:spcAft>
              <a:buClr>
                <a:srgbClr val="000000"/>
              </a:buClr>
              <a:buSzPct val="100000"/>
              <a:buFont typeface="Arial" panose="020B0604020202020204" pitchFamily="34" charset="0"/>
              <a:buChar char="•"/>
              <a:defRPr/>
            </a:pPr>
            <a:r>
              <a:rPr lang="en-AU" altLang="en-US" sz="1800" dirty="0">
                <a:solidFill>
                  <a:schemeClr val="tx1"/>
                </a:solidFill>
                <a:cs typeface="Arial" charset="0"/>
              </a:rPr>
              <a:t>Boeing needed a fuel efficient and cost-effective alternative to maintain market share.</a:t>
            </a:r>
          </a:p>
          <a:p>
            <a:pPr marL="827088" lvl="1" eaLnBrk="1" hangingPunct="1">
              <a:spcAft>
                <a:spcPts val="900"/>
              </a:spcAft>
              <a:buClr>
                <a:srgbClr val="000000"/>
              </a:buClr>
              <a:buSzPct val="100000"/>
              <a:buFont typeface="Arial" panose="020B0604020202020204" pitchFamily="34" charset="0"/>
              <a:buChar char="•"/>
              <a:defRPr/>
            </a:pPr>
            <a:r>
              <a:rPr lang="en-AU" altLang="en-US" sz="1800" dirty="0">
                <a:solidFill>
                  <a:schemeClr val="tx1"/>
                </a:solidFill>
                <a:cs typeface="Arial" charset="0"/>
              </a:rPr>
              <a:t>Limited design changes to avoid upgrades to assembly lines</a:t>
            </a:r>
          </a:p>
          <a:p>
            <a:pPr marL="827088" lvl="1" eaLnBrk="1" hangingPunct="1">
              <a:spcAft>
                <a:spcPts val="900"/>
              </a:spcAft>
              <a:buClr>
                <a:srgbClr val="000000"/>
              </a:buClr>
              <a:buSzPct val="100000"/>
              <a:buFont typeface="Arial" panose="020B0604020202020204" pitchFamily="34" charset="0"/>
              <a:buChar char="•"/>
              <a:defRPr/>
            </a:pPr>
            <a:r>
              <a:rPr lang="en-AU" altLang="en-US" sz="1800" dirty="0">
                <a:solidFill>
                  <a:schemeClr val="tx1"/>
                </a:solidFill>
                <a:cs typeface="Arial" charset="0"/>
              </a:rPr>
              <a:t>New engine location risked causing the plane to tilt upwards and stall the plane. This risk was offset by installing the </a:t>
            </a:r>
            <a:r>
              <a:rPr lang="en-US" sz="1800" dirty="0">
                <a:solidFill>
                  <a:schemeClr val="tx1"/>
                </a:solidFill>
                <a:cs typeface="Arial" charset="0"/>
              </a:rPr>
              <a:t>Maneuvering Characteristics Augmentation System (MCAS). However, if the angle-of-attack sensor was faulty, the MCAS would cause the plane to nosedive.</a:t>
            </a:r>
            <a:endParaRPr lang="en-AU" altLang="en-US" sz="1800" dirty="0">
              <a:solidFill>
                <a:schemeClr val="tx1"/>
              </a:solidFill>
              <a:cs typeface="Arial" charset="0"/>
            </a:endParaRPr>
          </a:p>
          <a:p>
            <a:pPr marL="827088" lvl="1" eaLnBrk="1" hangingPunct="1">
              <a:spcAft>
                <a:spcPts val="900"/>
              </a:spcAft>
              <a:buClr>
                <a:srgbClr val="000000"/>
              </a:buClr>
              <a:buSzPct val="100000"/>
              <a:buFont typeface="Arial" panose="020B0604020202020204" pitchFamily="34" charset="0"/>
              <a:buChar char="•"/>
              <a:defRPr/>
            </a:pPr>
            <a:r>
              <a:rPr lang="en-AU" altLang="en-US" sz="1800" dirty="0">
                <a:solidFill>
                  <a:schemeClr val="tx1"/>
                </a:solidFill>
                <a:cs typeface="Arial" charset="0"/>
              </a:rPr>
              <a:t>Outsourced software design to save money </a:t>
            </a:r>
          </a:p>
          <a:p>
            <a:pPr marL="827088" lvl="1" eaLnBrk="1" hangingPunct="1">
              <a:spcAft>
                <a:spcPts val="900"/>
              </a:spcAft>
              <a:buClr>
                <a:srgbClr val="000000"/>
              </a:buClr>
              <a:buSzPct val="100000"/>
              <a:buFont typeface="Arial" panose="020B0604020202020204" pitchFamily="34" charset="0"/>
              <a:buChar char="•"/>
              <a:defRPr/>
            </a:pPr>
            <a:r>
              <a:rPr lang="en-AU" altLang="en-US" sz="1800" dirty="0">
                <a:solidFill>
                  <a:schemeClr val="tx1"/>
                </a:solidFill>
                <a:cs typeface="Arial" charset="0"/>
              </a:rPr>
              <a:t>“workarounds” to avoid delaying flight testing</a:t>
            </a:r>
          </a:p>
          <a:p>
            <a:pPr marL="827088" lvl="1" eaLnBrk="1" hangingPunct="1">
              <a:spcAft>
                <a:spcPts val="900"/>
              </a:spcAft>
              <a:buClr>
                <a:srgbClr val="000000"/>
              </a:buClr>
              <a:buSzPct val="100000"/>
              <a:buFont typeface="Arial" panose="020B0604020202020204" pitchFamily="34" charset="0"/>
              <a:buChar char="•"/>
              <a:defRPr/>
            </a:pPr>
            <a:r>
              <a:rPr lang="en-AU" altLang="en-US" sz="1800" dirty="0">
                <a:solidFill>
                  <a:schemeClr val="tx1"/>
                </a:solidFill>
                <a:cs typeface="Arial" charset="0"/>
              </a:rPr>
              <a:t>Violated the principle of redundancy in design</a:t>
            </a:r>
          </a:p>
          <a:p>
            <a:pPr marL="827088" lvl="1" eaLnBrk="1" hangingPunct="1">
              <a:spcAft>
                <a:spcPts val="900"/>
              </a:spcAft>
              <a:buClr>
                <a:srgbClr val="000000"/>
              </a:buClr>
              <a:buSzPct val="100000"/>
              <a:buFont typeface="Arial" panose="020B0604020202020204" pitchFamily="34" charset="0"/>
              <a:buChar char="•"/>
              <a:defRPr/>
            </a:pPr>
            <a:endParaRPr lang="en-AU" altLang="en-US" sz="1800" dirty="0">
              <a:solidFill>
                <a:schemeClr val="bg1"/>
              </a:solidFill>
              <a:cs typeface="Arial" charset="0"/>
            </a:endParaRPr>
          </a:p>
          <a:p>
            <a:pPr marL="827088" lvl="1" eaLnBrk="1" hangingPunct="1">
              <a:spcAft>
                <a:spcPts val="900"/>
              </a:spcAft>
              <a:buClr>
                <a:srgbClr val="000000"/>
              </a:buClr>
              <a:buSzPct val="100000"/>
              <a:buFont typeface="Arial" panose="020B0604020202020204" pitchFamily="34" charset="0"/>
              <a:buChar char="•"/>
              <a:defRPr/>
            </a:pPr>
            <a:r>
              <a:rPr lang="en-AU" altLang="en-US" sz="1800" b="1" dirty="0">
                <a:solidFill>
                  <a:srgbClr val="C00000"/>
                </a:solidFill>
                <a:cs typeface="Arial" charset="0"/>
              </a:rPr>
              <a:t>The Ford Pinto with wings?? Or a low flying Challenger??</a:t>
            </a:r>
          </a:p>
          <a:p>
            <a:pPr eaLnBrk="1" hangingPunct="1">
              <a:buClr>
                <a:srgbClr val="000000"/>
              </a:buClr>
              <a:buSzPct val="100000"/>
              <a:buFont typeface="Times New Roman" panose="02020603050405020304" pitchFamily="18" charset="0"/>
              <a:buNone/>
              <a:defRPr/>
            </a:pPr>
            <a:endParaRPr lang="en-AU" altLang="en-US" sz="2400" dirty="0">
              <a:cs typeface="Arial" charset="0"/>
            </a:endParaRPr>
          </a:p>
          <a:p>
            <a:pPr eaLnBrk="1" hangingPunct="1">
              <a:buClr>
                <a:srgbClr val="000000"/>
              </a:buClr>
              <a:buSzPct val="100000"/>
              <a:buFont typeface="Times New Roman" panose="02020603050405020304" pitchFamily="18" charset="0"/>
              <a:buNone/>
              <a:defRPr/>
            </a:pPr>
            <a:endParaRPr lang="en-AU" altLang="en-US" sz="1500" b="1" dirty="0">
              <a:cs typeface="Arial" charset="0"/>
            </a:endParaRP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1849" b="9586"/>
          <a:stretch/>
        </p:blipFill>
        <p:spPr>
          <a:xfrm>
            <a:off x="6776411" y="0"/>
            <a:ext cx="2367589" cy="1772816"/>
          </a:xfrm>
          <a:prstGeom prst="rect">
            <a:avLst/>
          </a:prstGeom>
          <a:effectLst>
            <a:softEdge rad="88900"/>
          </a:effectLst>
        </p:spPr>
      </p:pic>
    </p:spTree>
    <p:extLst>
      <p:ext uri="{BB962C8B-B14F-4D97-AF65-F5344CB8AC3E}">
        <p14:creationId xmlns:p14="http://schemas.microsoft.com/office/powerpoint/2010/main" val="1335883385"/>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IMING" val="|106.8|18.8|25.3|49.9"/>
</p:tagLst>
</file>

<file path=ppt/tags/tag2.xml><?xml version="1.0" encoding="utf-8"?>
<p:tagLst xmlns:a="http://schemas.openxmlformats.org/drawingml/2006/main" xmlns:r="http://schemas.openxmlformats.org/officeDocument/2006/relationships" xmlns:p="http://schemas.openxmlformats.org/presentationml/2006/main">
  <p:tag name="TIMING" val="|36.6|1.4|0.3|0.3|0.8|0.6|0.5"/>
</p:tagLst>
</file>

<file path=ppt/tags/tag3.xml><?xml version="1.0" encoding="utf-8"?>
<p:tagLst xmlns:a="http://schemas.openxmlformats.org/drawingml/2006/main" xmlns:r="http://schemas.openxmlformats.org/officeDocument/2006/relationships" xmlns:p="http://schemas.openxmlformats.org/presentationml/2006/main">
  <p:tag name="TIMING" val="|8.9|11|5.9"/>
</p:tagLst>
</file>

<file path=ppt/tags/tag4.xml><?xml version="1.0" encoding="utf-8"?>
<p:tagLst xmlns:a="http://schemas.openxmlformats.org/drawingml/2006/main" xmlns:r="http://schemas.openxmlformats.org/officeDocument/2006/relationships" xmlns:p="http://schemas.openxmlformats.org/presentationml/2006/main">
  <p:tag name="TIMING" val="|192.8|190.9"/>
</p:tagLst>
</file>

<file path=ppt/tags/tag5.xml><?xml version="1.0" encoding="utf-8"?>
<p:tagLst xmlns:a="http://schemas.openxmlformats.org/drawingml/2006/main" xmlns:r="http://schemas.openxmlformats.org/officeDocument/2006/relationships" xmlns:p="http://schemas.openxmlformats.org/presentationml/2006/main">
  <p:tag name="TIMING" val="|60.8|43.8|92.5"/>
</p:tagLst>
</file>

<file path=ppt/tags/tag6.xml><?xml version="1.0" encoding="utf-8"?>
<p:tagLst xmlns:a="http://schemas.openxmlformats.org/drawingml/2006/main" xmlns:r="http://schemas.openxmlformats.org/officeDocument/2006/relationships" xmlns:p="http://schemas.openxmlformats.org/presentationml/2006/main">
  <p:tag name="TIMING" val="|52.5|16.1|25.3|9.4|9.7|10.9"/>
</p:tagLst>
</file>

<file path=ppt/tags/tag7.xml><?xml version="1.0" encoding="utf-8"?>
<p:tagLst xmlns:a="http://schemas.openxmlformats.org/drawingml/2006/main" xmlns:r="http://schemas.openxmlformats.org/officeDocument/2006/relationships" xmlns:p="http://schemas.openxmlformats.org/presentationml/2006/main">
  <p:tag name="TIMING" val="|27.7|0.3"/>
</p:tagLst>
</file>

<file path=ppt/tags/tag8.xml><?xml version="1.0" encoding="utf-8"?>
<p:tagLst xmlns:a="http://schemas.openxmlformats.org/drawingml/2006/main" xmlns:r="http://schemas.openxmlformats.org/officeDocument/2006/relationships" xmlns:p="http://schemas.openxmlformats.org/presentationml/2006/main">
  <p:tag name="TIMING" val="|28|6.9|21.5|2|65.4|53.3|0.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2332</TotalTime>
  <Words>5440</Words>
  <Application>Microsoft Office PowerPoint</Application>
  <PresentationFormat>On-screen Show (4:3)</PresentationFormat>
  <Paragraphs>530</Paragraphs>
  <Slides>43</Slides>
  <Notes>43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43</vt:i4>
      </vt:variant>
    </vt:vector>
  </HeadingPairs>
  <TitlesOfParts>
    <vt:vector size="52" baseType="lpstr">
      <vt:lpstr>Arial</vt:lpstr>
      <vt:lpstr>Calibri</vt:lpstr>
      <vt:lpstr>Calibri Light</vt:lpstr>
      <vt:lpstr>Georgia</vt:lpstr>
      <vt:lpstr>Symbol</vt:lpstr>
      <vt:lpstr>Times New Roman</vt:lpstr>
      <vt:lpstr>Trebuchet MS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it is your turn</vt:lpstr>
      <vt:lpstr>PowerPoint Presentation</vt:lpstr>
      <vt:lpstr>PowerPoint Presentation</vt:lpstr>
      <vt:lpstr>PowerPoint Presentation</vt:lpstr>
      <vt:lpstr>PowerPoint Presentation</vt:lpstr>
      <vt:lpstr>PowerPoint Presentation</vt:lpstr>
      <vt:lpstr>What we will explore</vt:lpstr>
      <vt:lpstr>We want you to:</vt:lpstr>
      <vt:lpstr>What you should understand</vt:lpstr>
      <vt:lpstr>Ethical Impact Threshold Assessment</vt:lpstr>
      <vt:lpstr>Technology Ethics</vt:lpstr>
      <vt:lpstr>Societal responsibilities as a challenge</vt:lpstr>
      <vt:lpstr>PowerPoint Presentation</vt:lpstr>
      <vt:lpstr>PowerPoint Presentation</vt:lpstr>
      <vt:lpstr>PowerPoint Presentation</vt:lpstr>
      <vt:lpstr>Overview of ethical theories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Professionalism</vt:lpstr>
      <vt:lpstr> Ethical by Design </vt:lpstr>
      <vt:lpstr>Ethical by Design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Unimelb PE lectures</dc:title>
  <dc:creator>.</dc:creator>
  <cp:lastModifiedBy>Mark Howard</cp:lastModifiedBy>
  <cp:revision>242</cp:revision>
  <cp:lastPrinted>2018-03-09T01:42:13Z</cp:lastPrinted>
  <dcterms:created xsi:type="dcterms:W3CDTF">2013-02-01T00:22:15Z</dcterms:created>
  <dcterms:modified xsi:type="dcterms:W3CDTF">2026-09-14T23:16:50Z</dcterms:modified>
</cp:coreProperties>
</file>